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2fc0c837394662" /><Relationship Type="http://schemas.openxmlformats.org/officeDocument/2006/relationships/extended-properties" Target="/docProps/app.xml" Id="R10ab3da75d84408d" /><Relationship Type="http://schemas.openxmlformats.org/officeDocument/2006/relationships/officeDocument" Target="/ppt/presentation.xml" Id="R51d59f0fcc68402e" /></Relationships>
</file>

<file path=ppt/presentation.xml><?xml version="1.0" encoding="utf-8"?>
<p:presentation xmlns:p="http://schemas.openxmlformats.org/presentationml/2006/main">
  <p:sldMasterIdLst>
    <p:sldMasterId xmlns:r="http://schemas.openxmlformats.org/officeDocument/2006/relationships" id="2147483648" r:id="R7fbe0bcd64584b9a"/>
  </p:sldMasterIdLst>
  <p:notesMasterIdLst>
    <p:notesMasterId xmlns:r="http://schemas.openxmlformats.org/officeDocument/2006/relationships" r:id="R4705ffd55a894808"/>
  </p:notesMasterIdLst>
  <p:sldIdLst>
    <p:sldId xmlns:r="http://schemas.openxmlformats.org/officeDocument/2006/relationships" id="256" r:id="Rfb5505df945441d7"/>
    <p:sldId xmlns:r="http://schemas.openxmlformats.org/officeDocument/2006/relationships" id="257" r:id="R554c6580fd3c404e"/>
    <p:sldId xmlns:r="http://schemas.openxmlformats.org/officeDocument/2006/relationships" id="258" r:id="Rfaeac8bc3b284849"/>
    <p:sldId xmlns:r="http://schemas.openxmlformats.org/officeDocument/2006/relationships" id="259" r:id="R019c8ec3bac14bda"/>
    <p:sldId xmlns:r="http://schemas.openxmlformats.org/officeDocument/2006/relationships" id="260" r:id="Re838f140e0c24021"/>
    <p:sldId xmlns:r="http://schemas.openxmlformats.org/officeDocument/2006/relationships" id="261" r:id="Rf33222fefd39422a"/>
    <p:sldId xmlns:r="http://schemas.openxmlformats.org/officeDocument/2006/relationships" id="262" r:id="R2f9493a1df79423a"/>
    <p:sldId xmlns:r="http://schemas.openxmlformats.org/officeDocument/2006/relationships" id="263" r:id="R0d9357ab561a42b2"/>
    <p:sldId xmlns:r="http://schemas.openxmlformats.org/officeDocument/2006/relationships" id="264" r:id="R34f5a153c3ce4c98"/>
    <p:sldId xmlns:r="http://schemas.openxmlformats.org/officeDocument/2006/relationships" id="265" r:id="R5f834dc18c024f70"/>
    <p:sldId xmlns:r="http://schemas.openxmlformats.org/officeDocument/2006/relationships" id="266" r:id="R7b72eb85bf1f43be"/>
    <p:sldId xmlns:r="http://schemas.openxmlformats.org/officeDocument/2006/relationships" id="267" r:id="Rf24a7ea9db394e30"/>
    <p:sldId xmlns:r="http://schemas.openxmlformats.org/officeDocument/2006/relationships" id="268" r:id="R0df5cd16e7b14cff"/>
    <p:sldId xmlns:r="http://schemas.openxmlformats.org/officeDocument/2006/relationships" id="269" r:id="Re1143c50c3764486"/>
    <p:sldId xmlns:r="http://schemas.openxmlformats.org/officeDocument/2006/relationships" id="270" r:id="R0a69f300ed6c4ae1"/>
    <p:sldId xmlns:r="http://schemas.openxmlformats.org/officeDocument/2006/relationships" id="271" r:id="R3e01a253814340bd"/>
    <p:sldId xmlns:r="http://schemas.openxmlformats.org/officeDocument/2006/relationships" id="272" r:id="R9a6cbfd4318f4ad5"/>
    <p:sldId xmlns:r="http://schemas.openxmlformats.org/officeDocument/2006/relationships" id="273" r:id="Re1ebaf74b95f4e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1b458bc4ff4b0d" /><Relationship Type="http://schemas.openxmlformats.org/officeDocument/2006/relationships/slideMaster" Target="/ppt/slideMasters/slideMaster1.xml" Id="R7fbe0bcd64584b9a" /><Relationship Type="http://schemas.openxmlformats.org/officeDocument/2006/relationships/notesMaster" Target="/ppt/notesMasters/notesMaster1.xml" Id="R4705ffd55a894808" /><Relationship Type="http://schemas.openxmlformats.org/officeDocument/2006/relationships/presProps" Target="/ppt/presProps.xml" Id="Rdc9b083935e84e2c" /><Relationship Type="http://schemas.openxmlformats.org/officeDocument/2006/relationships/tableStyles" Target="/ppt/tableStyles.xml" Id="R29107733c3ce424e" /><Relationship Type="http://schemas.openxmlformats.org/officeDocument/2006/relationships/slide" Target="/ppt/slides/slide1.xml" Id="Rfb5505df945441d7" /><Relationship Type="http://schemas.openxmlformats.org/officeDocument/2006/relationships/slide" Target="/ppt/slides/slide2.xml" Id="R554c6580fd3c404e" /><Relationship Type="http://schemas.openxmlformats.org/officeDocument/2006/relationships/slide" Target="/ppt/slides/slide3.xml" Id="Rfaeac8bc3b284849" /><Relationship Type="http://schemas.openxmlformats.org/officeDocument/2006/relationships/slide" Target="/ppt/slides/slide4.xml" Id="R019c8ec3bac14bda" /><Relationship Type="http://schemas.openxmlformats.org/officeDocument/2006/relationships/slide" Target="/ppt/slides/slide5.xml" Id="Re838f140e0c24021" /><Relationship Type="http://schemas.openxmlformats.org/officeDocument/2006/relationships/slide" Target="/ppt/slides/slide6.xml" Id="Rf33222fefd39422a" /><Relationship Type="http://schemas.openxmlformats.org/officeDocument/2006/relationships/slide" Target="/ppt/slides/slide7.xml" Id="R2f9493a1df79423a" /><Relationship Type="http://schemas.openxmlformats.org/officeDocument/2006/relationships/slide" Target="/ppt/slides/slide8.xml" Id="R0d9357ab561a42b2" /><Relationship Type="http://schemas.openxmlformats.org/officeDocument/2006/relationships/slide" Target="/ppt/slides/slide9.xml" Id="R34f5a153c3ce4c98" /><Relationship Type="http://schemas.openxmlformats.org/officeDocument/2006/relationships/slide" Target="/ppt/slides/slide10.xml" Id="R5f834dc18c024f70" /><Relationship Type="http://schemas.openxmlformats.org/officeDocument/2006/relationships/slide" Target="/ppt/slides/slide11.xml" Id="R7b72eb85bf1f43be" /><Relationship Type="http://schemas.openxmlformats.org/officeDocument/2006/relationships/slide" Target="/ppt/slides/slide12.xml" Id="Rf24a7ea9db394e30" /><Relationship Type="http://schemas.openxmlformats.org/officeDocument/2006/relationships/slide" Target="/ppt/slides/slide13.xml" Id="R0df5cd16e7b14cff" /><Relationship Type="http://schemas.openxmlformats.org/officeDocument/2006/relationships/slide" Target="/ppt/slides/slide14.xml" Id="Re1143c50c3764486" /><Relationship Type="http://schemas.openxmlformats.org/officeDocument/2006/relationships/slide" Target="/ppt/slides/slide15.xml" Id="R0a69f300ed6c4ae1" /><Relationship Type="http://schemas.openxmlformats.org/officeDocument/2006/relationships/slide" Target="/ppt/slides/slide16.xml" Id="R3e01a253814340bd" /><Relationship Type="http://schemas.openxmlformats.org/officeDocument/2006/relationships/slide" Target="/ppt/slides/slide17.xml" Id="R9a6cbfd4318f4ad5" /><Relationship Type="http://schemas.openxmlformats.org/officeDocument/2006/relationships/slide" Target="/ppt/slides/slide18.xml" Id="Re1ebaf74b95f4e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832cee320a44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1afc5e2dd34e4a" /><Relationship Type="http://schemas.openxmlformats.org/officeDocument/2006/relationships/notesMaster" Target="/ppt/notesMasters/notesMaster1.xml" Id="R227ea7ef76bd43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2594b8ee164501" /><Relationship Type="http://schemas.openxmlformats.org/officeDocument/2006/relationships/notesMaster" Target="/ppt/notesMasters/notesMaster1.xml" Id="Rc8b9b6441fa645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04fce7c6dd45e9" /><Relationship Type="http://schemas.openxmlformats.org/officeDocument/2006/relationships/notesMaster" Target="/ppt/notesMasters/notesMaster1.xml" Id="R4609cfd94d9442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063f00c22a4e62" /><Relationship Type="http://schemas.openxmlformats.org/officeDocument/2006/relationships/notesMaster" Target="/ppt/notesMasters/notesMaster1.xml" Id="R4b2373649b6b42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8f71ca9f234e54" /><Relationship Type="http://schemas.openxmlformats.org/officeDocument/2006/relationships/notesMaster" Target="/ppt/notesMasters/notesMaster1.xml" Id="R192fcf0e164443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ca681ac65b40c9" /><Relationship Type="http://schemas.openxmlformats.org/officeDocument/2006/relationships/notesMaster" Target="/ppt/notesMasters/notesMaster1.xml" Id="Reb7da863b4e148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383c9f5cce4018" /><Relationship Type="http://schemas.openxmlformats.org/officeDocument/2006/relationships/notesMaster" Target="/ppt/notesMasters/notesMaster1.xml" Id="R9e5d8fd7ac2c41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807254c45f472f" /><Relationship Type="http://schemas.openxmlformats.org/officeDocument/2006/relationships/notesMaster" Target="/ppt/notesMasters/notesMaster1.xml" Id="R6f5e156313d24e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02fa54205b40b3" /><Relationship Type="http://schemas.openxmlformats.org/officeDocument/2006/relationships/notesMaster" Target="/ppt/notesMasters/notesMaster1.xml" Id="R021cc5fedde443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f94d2548074fe1" /><Relationship Type="http://schemas.openxmlformats.org/officeDocument/2006/relationships/notesMaster" Target="/ppt/notesMasters/notesMaster1.xml" Id="Ra7b70630b22e4d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534b1734674cdf" /><Relationship Type="http://schemas.openxmlformats.org/officeDocument/2006/relationships/notesMaster" Target="/ppt/notesMasters/notesMaster1.xml" Id="R6c9acfb37b6849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4bf12df3434490" /><Relationship Type="http://schemas.openxmlformats.org/officeDocument/2006/relationships/notesMaster" Target="/ppt/notesMasters/notesMaster1.xml" Id="R95fdad28f355439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f1b054c4d040e8" /><Relationship Type="http://schemas.openxmlformats.org/officeDocument/2006/relationships/notesMaster" Target="/ppt/notesMasters/notesMaster1.xml" Id="Rec6e41ecab734c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9d812301234ad7" /><Relationship Type="http://schemas.openxmlformats.org/officeDocument/2006/relationships/notesMaster" Target="/ppt/notesMasters/notesMaster1.xml" Id="R88d932d4c7db47b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b2a75aec87a4adb" /><Relationship Type="http://schemas.openxmlformats.org/officeDocument/2006/relationships/notesMaster" Target="/ppt/notesMasters/notesMaster1.xml" Id="R81c4554fe5c541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7105ccdb664cd6" /><Relationship Type="http://schemas.openxmlformats.org/officeDocument/2006/relationships/notesMaster" Target="/ppt/notesMasters/notesMaster1.xml" Id="R78864319f9fc4e4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f07e386aca2444d" /><Relationship Type="http://schemas.openxmlformats.org/officeDocument/2006/relationships/notesMaster" Target="/ppt/notesMasters/notesMaster1.xml" Id="R00473b898487474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cdb10b975c74c16" /><Relationship Type="http://schemas.openxmlformats.org/officeDocument/2006/relationships/notesMaster" Target="/ppt/notesMasters/notesMaster1.xml" Id="Rd2ae03f19c3749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decision problem: analysts need flexible questions, but every answer must remain reproducible and safe. State that the presentation distinguishes verified local evidence from final external verification gates.</a:t>
            </a:r>
          </a:p>
          <a:p xmlns:a="http://schemas.openxmlformats.org/drawingml/2006/main">
            <a:r>
              <a:t/>
            </a:r>
          </a:p>
          <a:p xmlns:a="http://schemas.openxmlformats.org/drawingml/2006/main">
            <a:r>
              <a:t>[Sources]</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project as a controlled evidence pipeline rather than a chatbot. The objective is to combine flexibility with auditable computation, safe execution, and clear communication.</a:t>
            </a:r>
          </a:p>
          <a:p xmlns:a="http://schemas.openxmlformats.org/drawingml/2006/main">
            <a:r>
              <a:t/>
            </a:r>
          </a:p>
          <a:p xmlns:a="http://schemas.openxmlformats.org/drawingml/2006/main">
            <a:r>
              <a:t>[Sources]</a:t>
            </a:r>
          </a:p>
          <a:p xmlns:a="http://schemas.openxmlformats.org/drawingml/2006/main">
            <a:r>
              <a:t>- Official capstone assignment brief,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map the demonstration to the assessment structure. Explain that the production layer is cross-cutting: data controls, tests, deployment files, documentation, and release packaging support every rubric task.</a:t>
            </a:r>
          </a:p>
          <a:p xmlns:a="http://schemas.openxmlformats.org/drawingml/2006/main">
            <a:r>
              <a:t/>
            </a:r>
          </a:p>
          <a:p xmlns:a="http://schemas.openxmlformats.org/drawingml/2006/main">
            <a:r>
              <a:t>[Sources]</a:t>
            </a:r>
          </a:p>
          <a:p xmlns:a="http://schemas.openxmlformats.org/drawingml/2006/main">
            <a:r>
              <a:t>- Official capstone assignment brief, 2026</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incremental method. Contracts and deterministic services came first, followed by UI integration, negative security tests, measured evaluation, and delivery packaging. Each phase had an evidence-based exit condition.</a:t>
            </a:r>
          </a:p>
          <a:p xmlns:a="http://schemas.openxmlformats.org/drawingml/2006/main">
            <a:r>
              <a:t/>
            </a:r>
          </a:p>
          <a:p xmlns:a="http://schemas.openxmlformats.org/drawingml/2006/main">
            <a:r>
              <a:t>[Sources]</a:t>
            </a:r>
          </a:p>
          <a:p xmlns:a="http://schemas.openxmlformats.org/drawingml/2006/main">
            <a:r>
              <a:t>- Project repository and measured local evidence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top direct-analytics path and the lower AI-assisted path. Emphasize that both use the same data contracts and evidence surfaces. The AI route must pass the security gate before anything executes.</a:t>
            </a:r>
          </a:p>
          <a:p xmlns:a="http://schemas.openxmlformats.org/drawingml/2006/main">
            <a:r>
              <a:t/>
            </a:r>
          </a:p>
          <a:p xmlns:a="http://schemas.openxmlformats.org/drawingml/2006/main">
            <a:r>
              <a:t>[Sources]</a:t>
            </a:r>
          </a:p>
          <a:p xmlns:a="http://schemas.openxmlformats.org/drawingml/2006/main">
            <a:r>
              <a:t>- https://duckdb.org/docs/stable/clients/python/overview</a:t>
            </a:r>
          </a:p>
          <a:p xmlns:a="http://schemas.openxmlformats.org/drawingml/2006/main">
            <a:r>
              <a:t>- https://docs.streamlit.io/develop/api-reference/caching-and-state/st.session_state</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raw and cleaned views are preserved. The cleaner records every action, rejects ambiguous aliases, and marks outliers instead of removing potentially meaningful records. The official-ready badge requires at least 5,000 rows.</a:t>
            </a:r>
          </a:p>
          <a:p xmlns:a="http://schemas.openxmlformats.org/drawingml/2006/main">
            <a:r>
              <a:t/>
            </a:r>
          </a:p>
          <a:p xmlns:a="http://schemas.openxmlformats.org/drawingml/2006/main">
            <a:r>
              <a:t>[Sources]</a:t>
            </a:r>
          </a:p>
          <a:p xmlns:a="http://schemas.openxmlformats.org/drawingml/2006/main">
            <a:r>
              <a:t>- https://pandas.pydata.org/docs/</a:t>
            </a:r>
          </a:p>
          <a:p xmlns:a="http://schemas.openxmlformats.org/drawingml/2006/main">
            <a:r>
              <a:t>- https://duckdb.org/docs/stable/clients/python/overview</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metrics are measured from the deterministic synthetic development data. Use them to demonstrate that dashboard KPIs, charts, and advanced analysis are grounded in one consistent cleaned frame. Do not describe this as the official dataset result.</a:t>
            </a:r>
          </a:p>
          <a:p xmlns:a="http://schemas.openxmlformats.org/drawingml/2006/main">
            <a:r>
              <a:t/>
            </a:r>
          </a:p>
          <a:p xmlns:a="http://schemas.openxmlformats.org/drawingml/2006/main">
            <a:r>
              <a:t>[Sources]</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provider-neutral decision. The default hosted configuration uses structured output, but the system remains fully functional without a key. Fast, Balanced, and Deep modes trade latency for planning effort. Model output always enters the same validation path.</a:t>
            </a:r>
          </a:p>
          <a:p xmlns:a="http://schemas.openxmlformats.org/drawingml/2006/main">
            <a:r>
              <a:t/>
            </a:r>
          </a:p>
          <a:p xmlns:a="http://schemas.openxmlformats.org/drawingml/2006/main">
            <a:r>
              <a:t>[Sources]</a:t>
            </a:r>
          </a:p>
          <a:p xmlns:a="http://schemas.openxmlformats.org/drawingml/2006/main">
            <a:r>
              <a:t>- https://ai.google.dev/gemini-api/docs/structured-output</a:t>
            </a:r>
          </a:p>
          <a:p xmlns:a="http://schemas.openxmlformats.org/drawingml/2006/main">
            <a:r>
              <a:t>- https://platform.openai.com/docs/api-reference/responses</a:t>
            </a:r>
          </a:p>
          <a:p xmlns:a="http://schemas.openxmlformats.org/drawingml/2006/main">
            <a:r>
              <a:t>- https://docs.ollama.com/capabilities/structured-outputs</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five stages. The generated query is visible, but hidden reasoning is not. A sanitized execution error may trigger exactly one corrected plan, followed by full revalidation. Explain that the pandas fallback is a custom interpreter and never uses eval or exec.</a:t>
            </a:r>
          </a:p>
          <a:p xmlns:a="http://schemas.openxmlformats.org/drawingml/2006/main">
            <a:r>
              <a:t/>
            </a:r>
          </a:p>
          <a:p xmlns:a="http://schemas.openxmlformats.org/drawingml/2006/main">
            <a:r>
              <a:t>[Sources]</a:t>
            </a:r>
          </a:p>
          <a:p xmlns:a="http://schemas.openxmlformats.org/drawingml/2006/main">
            <a:r>
              <a:t>- https://github.com/tobymao/sqlglot</a:t>
            </a:r>
          </a:p>
          <a:p xmlns:a="http://schemas.openxmlformats.org/drawingml/2006/main">
            <a:r>
              <a:t>- https://cheatsheetseries.owasp.org/cheatsheets/LLM_Prompt_Injection_Prevention_Cheat_Sheet.html</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consistent sidebar filters, explicit synthetic-data banner, current AI/fallback status, accessible contrast, and responsive layout. Current filters override conversation context. Reset controls clear state without changing the source dataset.</a:t>
            </a:r>
          </a:p>
          <a:p xmlns:a="http://schemas.openxmlformats.org/drawingml/2006/main">
            <a:r>
              <a:t/>
            </a:r>
          </a:p>
          <a:p xmlns:a="http://schemas.openxmlformats.org/drawingml/2006/main">
            <a:r>
              <a:t>[Sources]</a:t>
            </a:r>
          </a:p>
          <a:p xmlns:a="http://schemas.openxmlformats.org/drawingml/2006/main">
            <a:r>
              <a:t>- https://docs.streamlit.io/develop/api-reference/caching-and-state/st.session_state</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the visualization portfolio and selection rules. Dates prioritize trends, geography prefers maps with a bar fallback, two numeric columns suggest scatter, and categorical aggregations suggest bars or hierarchy. All charts inherit the same number formatting, filter context, and accessible theme.</a:t>
            </a:r>
          </a:p>
          <a:p xmlns:a="http://schemas.openxmlformats.org/drawingml/2006/main">
            <a:r>
              <a:t/>
            </a:r>
          </a:p>
          <a:p xmlns:a="http://schemas.openxmlformats.org/drawingml/2006/main">
            <a:r>
              <a:t>[Sources]</a:t>
            </a:r>
          </a:p>
          <a:p xmlns:a="http://schemas.openxmlformats.org/drawingml/2006/main">
            <a:r>
              <a:t>- https://plotly.com/python/</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methods rather than declaring a winner. IQR detects distributional extremes; Isolation Forest ranks unusual values and returns an approximate proportion based on contamination. With no labelled ground truth, precision, recall, ROC, and confusion matrices are not valid.</a:t>
            </a:r>
          </a:p>
          <a:p xmlns:a="http://schemas.openxmlformats.org/drawingml/2006/main">
            <a:r>
              <a:t/>
            </a:r>
          </a:p>
          <a:p xmlns:a="http://schemas.openxmlformats.org/drawingml/2006/main">
            <a:r>
              <a:t>[Sources]</a:t>
            </a:r>
          </a:p>
          <a:p xmlns:a="http://schemas.openxmlformats.org/drawingml/2006/main">
            <a:r>
              <a:t>- https://scikit-learn.org/stable/modules/generated/sklearn.ensemble.IsolationForest.html</a:t>
            </a:r>
          </a:p>
          <a:p xmlns:a="http://schemas.openxmlformats.org/drawingml/2006/main">
            <a:r>
              <a:t>- https://doi.org/10.1109/ICDM.2008.17</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measured findings: West sales are 15.23% higher and profit is 50.39% higher despite 2.19% fewer orders. AOV and margin are higher, while average discount is lower. Similar sample sizes reduce—but do not eliminate—composition bias.</a:t>
            </a:r>
          </a:p>
          <a:p xmlns:a="http://schemas.openxmlformats.org/drawingml/2006/main">
            <a:r>
              <a:t/>
            </a:r>
          </a:p>
          <a:p xmlns:a="http://schemas.openxmlformats.org/drawingml/2006/main">
            <a:r>
              <a:t>[Sources]</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the verification matrix. The health endpoint returned HTTP 200, the secret scan was clean, and export smoke tests produced valid artifacts. Be explicit that Docker runtime validation remains a documented gate.</a:t>
            </a:r>
          </a:p>
          <a:p xmlns:a="http://schemas.openxmlformats.org/drawingml/2006/main">
            <a:r>
              <a:t/>
            </a:r>
          </a:p>
          <a:p xmlns:a="http://schemas.openxmlformats.org/drawingml/2006/main">
            <a:r>
              <a:t>[Sources]</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median and p95, not a single run. The three medians are 14.85–15.80 ms across 21 measured runs. Load time was 304.9 ms and profiling took 71.7 ms. These results apply only to the stated synthetic dataset and workstation; hosted-model latency was not measured.</a:t>
            </a:r>
          </a:p>
          <a:p xmlns:a="http://schemas.openxmlformats.org/drawingml/2006/main">
            <a:r>
              <a:t/>
            </a:r>
          </a:p>
          <a:p xmlns:a="http://schemas.openxmlformats.org/drawingml/2006/main">
            <a:r>
              <a:t>[Sources]</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rush this slide. Explain that security controls validate allowed syntax and deterministic results, but cannot determine whether a question is conceptually correct or a dataset is representative. State the privacy choice and AI-assistance disclosure clearly.</a:t>
            </a:r>
          </a:p>
          <a:p xmlns:a="http://schemas.openxmlformats.org/drawingml/2006/main">
            <a:r>
              <a:t/>
            </a:r>
          </a:p>
          <a:p xmlns:a="http://schemas.openxmlformats.org/drawingml/2006/main">
            <a:r>
              <a:t>[Sources]</a:t>
            </a:r>
          </a:p>
          <a:p xmlns:a="http://schemas.openxmlformats.org/drawingml/2006/main">
            <a:r>
              <a:t>- https://ai.google.dev/gemini-api/docs/structured-output</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completed engineering from the next evidence gates. The repository is complete and released, but the approved dataset, live model benchmark, governed public deployment, and manual audits are future verification steps.</a:t>
            </a:r>
          </a:p>
          <a:p xmlns:a="http://schemas.openxmlformats.org/drawingml/2006/main">
            <a:r>
              <a:t/>
            </a:r>
          </a:p>
          <a:p xmlns:a="http://schemas.openxmlformats.org/drawingml/2006/main">
            <a:r>
              <a:t>[Sources]</a:t>
            </a:r>
          </a:p>
          <a:p xmlns:a="http://schemas.openxmlformats.org/drawingml/2006/main">
            <a:r>
              <a:t>- https://github.com/Monokayser/ai-ecommerce-analytics</a:t>
            </a:r>
          </a:p>
          <a:p xmlns:a="http://schemas.openxmlformats.org/drawingml/2006/main">
            <a:r>
              <a:t>- https://github.com/Monokayser/ai-ecommerce-analytics/releases/tag/v1.4.0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core design boundary: flexible interpretation is separated from controlled computation. Transition into the live demo: upload the approved dataset, apply filters, ask a question, inspect validation, run anomaly/comparison analysis, and export a report. Then invite questions.</a:t>
            </a:r>
          </a:p>
          <a:p xmlns:a="http://schemas.openxmlformats.org/drawingml/2006/main">
            <a:r>
              <a:t/>
            </a:r>
          </a:p>
          <a:p xmlns:a="http://schemas.openxmlformats.org/drawingml/2006/main">
            <a:r>
              <a:t>[Sources]</a:t>
            </a:r>
          </a:p>
          <a:p xmlns:a="http://schemas.openxmlformats.org/drawingml/2006/main">
            <a:r>
              <a:t>- https://github.com/Monokayser/ai-ecommerce-analytics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c46d7bc06949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7be9d788aa45b7" /><Relationship Type="http://schemas.openxmlformats.org/officeDocument/2006/relationships/slideLayout" Target="/ppt/slideLayouts/slideLayout1.xml" Id="Re46bd5df3c2b4c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6bd5df3c2b4c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5c235f72514026" /><Relationship Type="http://schemas.openxmlformats.org/officeDocument/2006/relationships/image" Target="/ppt/media/image.jpeg" Id="R43f1d1c3fa5549b8" /><Relationship Type="http://schemas.openxmlformats.org/officeDocument/2006/relationships/notesSlide" Target="/ppt/notesSlides/notesSlide1.xml" Id="R8d15732f81614e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6aeb1cbc674718" /><Relationship Type="http://schemas.openxmlformats.org/officeDocument/2006/relationships/notesSlide" Target="/ppt/notesSlides/notesSlide2.xml" Id="R8ef170fda2b544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d601c3a1ed404d" /><Relationship Type="http://schemas.openxmlformats.org/officeDocument/2006/relationships/notesSlide" Target="/ppt/notesSlides/notesSlide3.xml" Id="Rdcb17d1dfbd846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7aa00aa1584779" /><Relationship Type="http://schemas.openxmlformats.org/officeDocument/2006/relationships/notesSlide" Target="/ppt/notesSlides/notesSlide4.xml" Id="R4fc3c1bf19a548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098224c116e49ec" /><Relationship Type="http://schemas.openxmlformats.org/officeDocument/2006/relationships/notesSlide" Target="/ppt/notesSlides/notesSlide5.xml" Id="R20e28971dcf94e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0274ae7cbb4332" /><Relationship Type="http://schemas.openxmlformats.org/officeDocument/2006/relationships/notesSlide" Target="/ppt/notesSlides/notesSlide6.xml" Id="R2d431d7855f342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d350b82df184a80" /><Relationship Type="http://schemas.openxmlformats.org/officeDocument/2006/relationships/chart" Target="/ppt/slides/charts/chart1.xml" Id="R7a8d24913fc2425f" /><Relationship Type="http://schemas.openxmlformats.org/officeDocument/2006/relationships/notesSlide" Target="/ppt/notesSlides/notesSlide7.xml" Id="Rc566801264a040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675b9b9e564818" /><Relationship Type="http://schemas.openxmlformats.org/officeDocument/2006/relationships/notesSlide" Target="/ppt/notesSlides/notesSlide8.xml" Id="Rb8ec891d888c4e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665efcea6a4cbd" /><Relationship Type="http://schemas.openxmlformats.org/officeDocument/2006/relationships/notesSlide" Target="/ppt/notesSlides/notesSlide9.xml" Id="Ra90e90b4c0ed41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1d6913dd54423c" /><Relationship Type="http://schemas.openxmlformats.org/officeDocument/2006/relationships/image" Target="/ppt/media/image2.jpeg" Id="R57052c9ea33747f4" /><Relationship Type="http://schemas.openxmlformats.org/officeDocument/2006/relationships/notesSlide" Target="/ppt/notesSlides/notesSlide10.xml" Id="R6f252595829248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9af1dbeda3f4a53" /><Relationship Type="http://schemas.openxmlformats.org/officeDocument/2006/relationships/notesSlide" Target="/ppt/notesSlides/notesSlide11.xml" Id="R0175df2845f14f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47567628ca4c7b" /><Relationship Type="http://schemas.openxmlformats.org/officeDocument/2006/relationships/chart" Target="/ppt/slides/charts/chart2.xml" Id="R3dc9d2b3b30e4cf7" /><Relationship Type="http://schemas.openxmlformats.org/officeDocument/2006/relationships/notesSlide" Target="/ppt/notesSlides/notesSlide12.xml" Id="Raebc1e5df4434f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f9d5beec4db45ee" /><Relationship Type="http://schemas.openxmlformats.org/officeDocument/2006/relationships/chart" Target="/ppt/slides/charts/chart3.xml" Id="R591886d0f8274cb4" /><Relationship Type="http://schemas.openxmlformats.org/officeDocument/2006/relationships/notesSlide" Target="/ppt/notesSlides/notesSlide13.xml" Id="R1993277bbcbe44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11e154a99604a1d" /><Relationship Type="http://schemas.openxmlformats.org/officeDocument/2006/relationships/notesSlide" Target="/ppt/notesSlides/notesSlide14.xml" Id="R756ff325ff0440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85f90ad0e2d41b2" /><Relationship Type="http://schemas.openxmlformats.org/officeDocument/2006/relationships/chart" Target="/ppt/slides/charts/chart4.xml" Id="Rf83d7a7799c543e5" /><Relationship Type="http://schemas.openxmlformats.org/officeDocument/2006/relationships/notesSlide" Target="/ppt/notesSlides/notesSlide15.xml" Id="R53bada810a6e492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dd8bb43cf4c4204" /><Relationship Type="http://schemas.openxmlformats.org/officeDocument/2006/relationships/notesSlide" Target="/ppt/notesSlides/notesSlide16.xml" Id="R62d36d1ba0b245d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627f2d926a7472b" /><Relationship Type="http://schemas.openxmlformats.org/officeDocument/2006/relationships/notesSlide" Target="/ppt/notesSlides/notesSlide17.xml" Id="R13b99e21e54a41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9c961da5e5c4308" /><Relationship Type="http://schemas.openxmlformats.org/officeDocument/2006/relationships/notesSlide" Target="/ppt/notesSlides/notesSlide18.xml" Id="R87b0bf3aec8f4629" /></Relationships>
</file>

<file path=ppt/slides/charts/chart1.xml><?xml version="1.0" encoding="utf-8"?>
<c:chartSpace xmlns:c="http://schemas.openxmlformats.org/drawingml/2006/chart">
  <c:lang val="en-US"/>
  <c:chart>
    <c:view3D>
      <c:rotX val="10"/>
      <c:rotY val="15"/>
      <c:rAngAx val="1"/>
      <c:perspective val="18"/>
    </c:view3D>
    <c:plotArea>
      <c:barChart>
        <c:barDir val="col"/>
        <c:grouping val="clustered"/>
        <c:varyColors val="1"/>
        <c:ser>
          <c:idx val="0"/>
          <c:order val="0"/>
          <c:tx>
            <c:v>Sales</c:v>
          </c:tx>
          <c:spPr>
            <a:solidFill xmlns:a="http://schemas.openxmlformats.org/drawingml/2006/main">
              <a:srgbClr val="26D0C3"/>
            </a:solidFill>
          </c:spPr>
          <c:dPt>
            <c:idx val="1"/>
            <c:invertIfNegative val="0"/>
            <c:spPr>
              <a:solidFill xmlns:a="http://schemas.openxmlformats.org/drawingml/2006/main">
                <a:srgbClr val="68D8FF"/>
              </a:solidFill>
            </c:spPr>
          </c:dPt>
          <c:dPt>
            <c:idx val="2"/>
            <c:invertIfNegative val="0"/>
            <c:spPr>
              <a:solidFill xmlns:a="http://schemas.openxmlformats.org/drawingml/2006/main">
                <a:srgbClr val="5AA7BD"/>
              </a:solidFill>
            </c:spPr>
          </c:dPt>
          <c:dPt>
            <c:idx val="3"/>
            <c:invertIfNegative val="0"/>
            <c:spPr>
              <a:solidFill xmlns:a="http://schemas.openxmlformats.org/drawingml/2006/main">
                <a:srgbClr val="397C9D"/>
              </a:solidFill>
            </c:spPr>
          </c:dPt>
          <c:cat>
            <c:strLit>
              <c:ptCount val="4"/>
              <c:pt idx="0">
                <c:v>West</c:v>
              </c:pt>
              <c:pt idx="1">
                <c:v>North</c:v>
              </c:pt>
              <c:pt idx="2">
                <c:v>South</c:v>
              </c:pt>
              <c:pt idx="3">
                <c:v>East</c:v>
              </c:pt>
            </c:strLit>
          </c:cat>
          <c:val>
            <c:numLit>
              <c:formatCode>$0,"k"</c:formatCode>
              <c:ptCount val="4"/>
              <c:pt idx="0">
                <c:v>213842</c:v>
              </c:pt>
              <c:pt idx="1">
                <c:v>201033</c:v>
              </c:pt>
              <c:pt idx="2">
                <c:v>185757</c:v>
              </c:pt>
              <c:pt idx="3">
                <c:v>185585</c:v>
              </c:pt>
            </c:numLit>
          </c:val>
        </c:ser>
        <c:dLbls>
          <c:txPr>
            <a:bodyPr xmlns:a="http://schemas.openxmlformats.org/drawingml/2006/main" anchorCtr="1"/>
            <a:lstStyle xmlns:a="http://schemas.openxmlformats.org/drawingml/2006/main"/>
            <a:p xmlns:a="http://schemas.openxmlformats.org/drawingml/2006/main">
              <a:pPr>
                <a:defRPr sz="900" b="1">
                  <a:solidFill>
                    <a:srgbClr val="F5F8FB"/>
                  </a:solidFill>
                </a:defRPr>
              </a:pPr>
            </a:p>
          </c:txPr>
          <c:dLblPos val="outEnd"/>
          <c:showLegendKey val="0"/>
          <c:showVal val="1"/>
          <c:showCatName val="0"/>
          <c:showSerName val="0"/>
          <c:showPercent val="0"/>
          <c:showBubbleSize val="0"/>
          <c:showLeaderLines val="0"/>
        </c:dLbls>
        <c:gapWidth val="46"/>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29495B"/>
            </a:solidFill>
            <a:prstDash val="solid"/>
          </a:ln>
        </c:spPr>
        <c:txPr>
          <a:bodyPr xmlns:a="http://schemas.openxmlformats.org/drawingml/2006/main" anchorCtr="1"/>
          <a:lstStyle xmlns:a="http://schemas.openxmlformats.org/drawingml/2006/main"/>
          <a:p xmlns:a="http://schemas.openxmlformats.org/drawingml/2006/main">
            <a:pPr>
              <a:defRPr sz="975">
                <a:solidFill>
                  <a:srgbClr val="AEC0CB"/>
                </a:solidFill>
              </a:defRPr>
            </a:pPr>
          </a:p>
        </c:txPr>
        <c:crossAx val="48672768"/>
      </c:catAx>
      <c:valAx>
        <c:axId val="48672768"/>
        <c:scaling>
          <c:orientation val="minMax"/>
          <c:max val="250000"/>
          <c:min val="0"/>
        </c:scaling>
        <c:delete val="0"/>
        <c:axPos val="l"/>
        <c:majorGridlines>
          <c:spPr>
            <a:ln xmlns:a="http://schemas.openxmlformats.org/drawingml/2006/main" w="9525">
              <a:solidFill>
                <a:srgbClr val="29495B"/>
              </a:solidFill>
              <a:prstDash val="solid"/>
            </a:ln>
          </c:spPr>
        </c:majorGridlines>
        <c:numFmt formatCode="$0,&quot;k&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AEC0CB"/>
                </a:solidFill>
              </a:defRPr>
            </a:pPr>
          </a:p>
        </c:txPr>
        <c:crossAx val="48650112"/>
        <c:crossBetween val="between"/>
      </c:valAx>
      <c:spPr>
        <a:solidFill xmlns:a="http://schemas.openxmlformats.org/drawingml/2006/main">
          <a:srgbClr val="06131F"/>
        </a:solidFill>
        <a:ln xmlns:a="http://schemas.openxmlformats.org/drawingml/2006/main" w="0">
          <a:solidFill>
            <a:srgbClr val="06131F"/>
          </a:solidFill>
          <a:prstDash val="solid"/>
        </a:ln>
      </c:spPr>
    </c:plotArea>
    <c:plotVisOnly val="1"/>
  </c:chart>
  <c:spPr>
    <a:solidFill xmlns:a="http://schemas.openxmlformats.org/drawingml/2006/main">
      <a:srgbClr val="06131F"/>
    </a:solidFill>
    <a:ln xmlns:a="http://schemas.openxmlformats.org/drawingml/2006/main" w="0">
      <a:solidFill>
        <a:srgbClr val="06131F"/>
      </a:solidFill>
      <a:prstDash val="solid"/>
    </a:ln>
  </c:spPr>
</c:chartSpace>
</file>

<file path=ppt/slides/charts/chart2.xml><?xml version="1.0" encoding="utf-8"?>
<c:chartSpace xmlns:c="http://schemas.openxmlformats.org/drawingml/2006/chart">
  <c:lang val="en-US"/>
  <c:chart>
    <c:plotArea>
      <c:barChart>
        <c:barDir val="col"/>
        <c:grouping val="clustered"/>
        <c:varyColors val="1"/>
        <c:ser>
          <c:idx val="0"/>
          <c:order val="0"/>
          <c:tx>
            <c:v>Flagged share</c:v>
          </c:tx>
          <c:spPr>
            <a:solidFill xmlns:a="http://schemas.openxmlformats.org/drawingml/2006/main">
              <a:srgbClr val="F5B642"/>
            </a:solidFill>
          </c:spPr>
          <c:dPt>
            <c:idx val="1"/>
            <c:invertIfNegative val="0"/>
            <c:spPr>
              <a:solidFill xmlns:a="http://schemas.openxmlformats.org/drawingml/2006/main">
                <a:srgbClr val="26D0C3"/>
              </a:solidFill>
            </c:spPr>
          </c:dPt>
          <c:cat>
            <c:strLit>
              <c:ptCount val="2"/>
              <c:pt idx="0">
                <c:v>IQR</c:v>
              </c:pt>
              <c:pt idx="1">
                <c:v>Isolation Forest</c:v>
              </c:pt>
            </c:strLit>
          </c:cat>
          <c:val>
            <c:numLit>
              <c:formatCode>General</c:formatCode>
              <c:ptCount val="2"/>
              <c:pt idx="0">
                <c:v>12.55</c:v>
              </c:pt>
              <c:pt idx="1">
                <c:v>5</c:v>
              </c:pt>
            </c:numLit>
          </c:val>
        </c:ser>
        <c:dLbls>
          <c:txPr>
            <a:bodyPr xmlns:a="http://schemas.openxmlformats.org/drawingml/2006/main" anchorCtr="1"/>
            <a:lstStyle xmlns:a="http://schemas.openxmlformats.org/drawingml/2006/main"/>
            <a:p xmlns:a="http://schemas.openxmlformats.org/drawingml/2006/main">
              <a:pPr>
                <a:defRPr sz="1125" b="1">
                  <a:solidFill>
                    <a:srgbClr val="F5F8FB"/>
                  </a:solidFil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29495B"/>
            </a:solidFill>
            <a:prstDash val="solid"/>
          </a:ln>
        </c:spPr>
        <c:txPr>
          <a:bodyPr xmlns:a="http://schemas.openxmlformats.org/drawingml/2006/main" anchorCtr="1"/>
          <a:lstStyle xmlns:a="http://schemas.openxmlformats.org/drawingml/2006/main"/>
          <a:p xmlns:a="http://schemas.openxmlformats.org/drawingml/2006/main">
            <a:pPr>
              <a:defRPr sz="975">
                <a:solidFill>
                  <a:srgbClr val="AEC0CB"/>
                </a:solidFill>
              </a:defRPr>
            </a:pPr>
          </a:p>
        </c:txPr>
        <c:crossAx val="48672768"/>
      </c:catAx>
      <c:valAx>
        <c:axId val="48672768"/>
        <c:scaling>
          <c:orientation val="minMax"/>
          <c:max val="15"/>
          <c:min val="0"/>
        </c:scaling>
        <c:delete val="0"/>
        <c:axPos val="l"/>
        <c:majorGridlines>
          <c:spPr>
            <a:ln xmlns:a="http://schemas.openxmlformats.org/drawingml/2006/main" w="9525">
              <a:solidFill>
                <a:srgbClr val="29495B"/>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AEC0CB"/>
                    </a:solidFill>
                  </a:rPr>
                  <a:t>Flagged share (%)</a:t>
                </a:r>
              </a:p>
            </c:rich>
          </c:tx>
          <c:overlay val="0"/>
          <c:txPr>
            <a:bodyPr xmlns:a="http://schemas.openxmlformats.org/drawingml/2006/main" anchorCtr="1"/>
            <a:lstStyle xmlns:a="http://schemas.openxmlformats.org/drawingml/2006/main"/>
            <a:p xmlns:a="http://schemas.openxmlformats.org/drawingml/2006/main">
              <a:pPr>
                <a:defRPr sz="975">
                  <a:solidFill>
                    <a:srgbClr val="AEC0CB"/>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AEC0CB"/>
                </a:solidFill>
              </a:defRPr>
            </a:pPr>
          </a:p>
        </c:txPr>
        <c:crossAx val="48650112"/>
        <c:crossBetween val="between"/>
      </c:valAx>
      <c:spPr>
        <a:solidFill xmlns:a="http://schemas.openxmlformats.org/drawingml/2006/main">
          <a:srgbClr val="06131F"/>
        </a:solidFill>
        <a:ln xmlns:a="http://schemas.openxmlformats.org/drawingml/2006/main" w="0">
          <a:solidFill>
            <a:srgbClr val="06131F"/>
          </a:solidFill>
          <a:prstDash val="solid"/>
        </a:ln>
      </c:spPr>
    </c:plotArea>
    <c:plotVisOnly val="1"/>
  </c:chart>
  <c:spPr>
    <a:solidFill xmlns:a="http://schemas.openxmlformats.org/drawingml/2006/main">
      <a:srgbClr val="06131F"/>
    </a:solidFill>
    <a:ln xmlns:a="http://schemas.openxmlformats.org/drawingml/2006/main" w="0">
      <a:solidFill>
        <a:srgbClr val="06131F"/>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East</c:v>
          </c:tx>
          <c:spPr>
            <a:solidFill xmlns:a="http://schemas.openxmlformats.org/drawingml/2006/main">
              <a:srgbClr val="397C9D"/>
            </a:solidFill>
          </c:spPr>
          <c:cat>
            <c:strLit>
              <c:ptCount val="5"/>
              <c:pt idx="0">
                <c:v>Sales $k</c:v>
              </c:pt>
              <c:pt idx="1">
                <c:v>Profit $k</c:v>
              </c:pt>
              <c:pt idx="2">
                <c:v>Orders</c:v>
              </c:pt>
              <c:pt idx="3">
                <c:v>Units ÷10</c:v>
              </c:pt>
              <c:pt idx="4">
                <c:v>AOV</c:v>
              </c:pt>
            </c:strLit>
          </c:cat>
          <c:val>
            <c:numLit>
              <c:formatCode>General</c:formatCode>
              <c:ptCount val="5"/>
              <c:pt idx="0">
                <c:v>185.58</c:v>
              </c:pt>
              <c:pt idx="1">
                <c:v>14.92</c:v>
              </c:pt>
              <c:pt idx="2">
                <c:v>502</c:v>
              </c:pt>
              <c:pt idx="3">
                <c:v>292.4</c:v>
              </c:pt>
              <c:pt idx="4">
                <c:v>369.69</c:v>
              </c:pt>
            </c:numLit>
          </c:val>
        </c:ser>
        <c:ser>
          <c:idx val="1"/>
          <c:order val="1"/>
          <c:tx>
            <c:v>West</c:v>
          </c:tx>
          <c:spPr>
            <a:solidFill xmlns:a="http://schemas.openxmlformats.org/drawingml/2006/main">
              <a:srgbClr val="26D0C3"/>
            </a:solidFill>
          </c:spPr>
          <c:cat>
            <c:strLit>
              <c:ptCount val="5"/>
              <c:pt idx="0">
                <c:v>Sales $k</c:v>
              </c:pt>
              <c:pt idx="1">
                <c:v>Profit $k</c:v>
              </c:pt>
              <c:pt idx="2">
                <c:v>Orders</c:v>
              </c:pt>
              <c:pt idx="3">
                <c:v>Units ÷10</c:v>
              </c:pt>
              <c:pt idx="4">
                <c:v>AOV</c:v>
              </c:pt>
            </c:strLit>
          </c:cat>
          <c:val>
            <c:numLit>
              <c:formatCode>General</c:formatCode>
              <c:ptCount val="5"/>
              <c:pt idx="0">
                <c:v>213.84</c:v>
              </c:pt>
              <c:pt idx="1">
                <c:v>22.44</c:v>
              </c:pt>
              <c:pt idx="2">
                <c:v>491</c:v>
              </c:pt>
              <c:pt idx="3">
                <c:v>306.9</c:v>
              </c:pt>
              <c:pt idx="4">
                <c:v>435.52</c:v>
              </c:pt>
            </c:numLit>
          </c:val>
        </c:ser>
        <c:gapWidth val="44"/>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29495B"/>
            </a:solidFill>
            <a:prstDash val="solid"/>
          </a:ln>
        </c:spPr>
        <c:txPr>
          <a:bodyPr xmlns:a="http://schemas.openxmlformats.org/drawingml/2006/main" anchorCtr="1"/>
          <a:lstStyle xmlns:a="http://schemas.openxmlformats.org/drawingml/2006/main"/>
          <a:p xmlns:a="http://schemas.openxmlformats.org/drawingml/2006/main">
            <a:pPr>
              <a:defRPr sz="975">
                <a:solidFill>
                  <a:srgbClr val="AEC0CB"/>
                </a:solidFill>
              </a:defRPr>
            </a:pPr>
          </a:p>
        </c:txPr>
        <c:crossAx val="48672768"/>
      </c:catAx>
      <c:valAx>
        <c:axId val="48672768"/>
        <c:scaling>
          <c:orientation val="minMax"/>
          <c:max val="550"/>
          <c:min val="0"/>
        </c:scaling>
        <c:delete val="0"/>
        <c:axPos val="l"/>
        <c:majorGridlines>
          <c:spPr>
            <a:ln xmlns:a="http://schemas.openxmlformats.org/drawingml/2006/main" w="9525">
              <a:solidFill>
                <a:srgbClr val="29495B"/>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AEC0CB"/>
                </a:solidFill>
              </a:defRPr>
            </a:pPr>
          </a:p>
        </c:txPr>
        <c:crossAx val="48650112"/>
        <c:crossBetween val="between"/>
      </c:valAx>
      <c:spPr>
        <a:solidFill xmlns:a="http://schemas.openxmlformats.org/drawingml/2006/main">
          <a:srgbClr val="06131F"/>
        </a:solidFill>
        <a:ln xmlns:a="http://schemas.openxmlformats.org/drawingml/2006/main" w="0">
          <a:solidFill>
            <a:srgbClr val="06131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AEC0CB"/>
              </a:solidFill>
            </a:defRPr>
          </a:pPr>
        </a:p>
      </c:txPr>
    </c:legend>
    <c:plotVisOnly val="1"/>
  </c:chart>
  <c:spPr>
    <a:solidFill xmlns:a="http://schemas.openxmlformats.org/drawingml/2006/main">
      <a:srgbClr val="06131F"/>
    </a:solidFill>
    <a:ln xmlns:a="http://schemas.openxmlformats.org/drawingml/2006/main" w="0">
      <a:solidFill>
        <a:srgbClr val="06131F"/>
      </a:solidFill>
      <a:prstDash val="solid"/>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Median</c:v>
          </c:tx>
          <c:spPr>
            <a:solidFill xmlns:a="http://schemas.openxmlformats.org/drawingml/2006/main">
              <a:srgbClr val="26D0C3"/>
            </a:solidFill>
          </c:spPr>
          <c:cat>
            <c:strLit>
              <c:ptCount val="3"/>
              <c:pt idx="0">
                <c:v>Sales by Region</c:v>
              </c:pt>
              <c:pt idx="1">
                <c:v>Profit by Category</c:v>
              </c:pt>
              <c:pt idx="2">
                <c:v>East Sales by Category</c:v>
              </c:pt>
            </c:strLit>
          </c:cat>
          <c:val>
            <c:numLit>
              <c:formatCode>General</c:formatCode>
              <c:ptCount val="3"/>
              <c:pt idx="0">
                <c:v>15.8</c:v>
              </c:pt>
              <c:pt idx="1">
                <c:v>14.85</c:v>
              </c:pt>
              <c:pt idx="2">
                <c:v>15.72</c:v>
              </c:pt>
            </c:numLit>
          </c:val>
        </c:ser>
        <c:ser>
          <c:idx val="1"/>
          <c:order val="1"/>
          <c:tx>
            <c:v>p95</c:v>
          </c:tx>
          <c:spPr>
            <a:solidFill xmlns:a="http://schemas.openxmlformats.org/drawingml/2006/main">
              <a:srgbClr val="68D8FF"/>
            </a:solidFill>
          </c:spPr>
          <c:cat>
            <c:strLit>
              <c:ptCount val="3"/>
              <c:pt idx="0">
                <c:v>Sales by Region</c:v>
              </c:pt>
              <c:pt idx="1">
                <c:v>Profit by Category</c:v>
              </c:pt>
              <c:pt idx="2">
                <c:v>East Sales by Category</c:v>
              </c:pt>
            </c:strLit>
          </c:cat>
          <c:val>
            <c:numLit>
              <c:formatCode>General</c:formatCode>
              <c:ptCount val="3"/>
              <c:pt idx="0">
                <c:v>20.61</c:v>
              </c:pt>
              <c:pt idx="1">
                <c:v>20.02</c:v>
              </c:pt>
              <c:pt idx="2">
                <c:v>20.17</c:v>
              </c:pt>
            </c:numLit>
          </c:val>
        </c:ser>
        <c:dLbls>
          <c:txPr>
            <a:bodyPr xmlns:a="http://schemas.openxmlformats.org/drawingml/2006/main" anchorCtr="1"/>
            <a:lstStyle xmlns:a="http://schemas.openxmlformats.org/drawingml/2006/main"/>
            <a:p xmlns:a="http://schemas.openxmlformats.org/drawingml/2006/main">
              <a:pPr>
                <a:defRPr sz="900" b="1">
                  <a:solidFill>
                    <a:srgbClr val="F5F8F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29495B"/>
            </a:solidFill>
            <a:prstDash val="solid"/>
          </a:ln>
        </c:spPr>
        <c:txPr>
          <a:bodyPr xmlns:a="http://schemas.openxmlformats.org/drawingml/2006/main" anchorCtr="1"/>
          <a:lstStyle xmlns:a="http://schemas.openxmlformats.org/drawingml/2006/main"/>
          <a:p xmlns:a="http://schemas.openxmlformats.org/drawingml/2006/main">
            <a:pPr>
              <a:defRPr sz="975">
                <a:solidFill>
                  <a:srgbClr val="AEC0CB"/>
                </a:solidFill>
              </a:defRPr>
            </a:pPr>
          </a:p>
        </c:txPr>
        <c:crossAx val="48672768"/>
      </c:catAx>
      <c:valAx>
        <c:axId val="48672768"/>
        <c:scaling>
          <c:orientation val="minMax"/>
          <c:max val="25"/>
          <c:min val="0"/>
        </c:scaling>
        <c:delete val="0"/>
        <c:axPos val="l"/>
        <c:majorGridlines>
          <c:spPr>
            <a:ln xmlns:a="http://schemas.openxmlformats.org/drawingml/2006/main" w="9525">
              <a:solidFill>
                <a:srgbClr val="29495B"/>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AEC0CB"/>
                    </a:solidFill>
                  </a:rPr>
                  <a:t>Latency (ms)</a:t>
                </a:r>
              </a:p>
            </c:rich>
          </c:tx>
          <c:overlay val="0"/>
          <c:txPr>
            <a:bodyPr xmlns:a="http://schemas.openxmlformats.org/drawingml/2006/main" anchorCtr="1"/>
            <a:lstStyle xmlns:a="http://schemas.openxmlformats.org/drawingml/2006/main"/>
            <a:p xmlns:a="http://schemas.openxmlformats.org/drawingml/2006/main">
              <a:pPr>
                <a:defRPr sz="975">
                  <a:solidFill>
                    <a:srgbClr val="AEC0CB"/>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AEC0CB"/>
                </a:solidFill>
              </a:defRPr>
            </a:pPr>
          </a:p>
        </c:txPr>
        <c:crossAx val="48650112"/>
        <c:crossBetween val="between"/>
      </c:valAx>
      <c:spPr>
        <a:solidFill xmlns:a="http://schemas.openxmlformats.org/drawingml/2006/main">
          <a:srgbClr val="06131F"/>
        </a:solidFill>
        <a:ln xmlns:a="http://schemas.openxmlformats.org/drawingml/2006/main" w="0">
          <a:solidFill>
            <a:srgbClr val="06131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AEC0CB"/>
              </a:solidFill>
            </a:defRPr>
          </a:pPr>
        </a:p>
      </c:txPr>
    </c:legend>
    <c:plotVisOnly val="1"/>
  </c:chart>
  <c:spPr>
    <a:solidFill xmlns:a="http://schemas.openxmlformats.org/drawingml/2006/main">
      <a:srgbClr val="06131F"/>
    </a:solidFill>
    <a:ln xmlns:a="http://schemas.openxmlformats.org/drawingml/2006/main" w="0">
      <a:solidFill>
        <a:srgbClr val="06131F"/>
      </a:solidFill>
      <a:prstDash val="solid"/>
    </a:ln>
  </c:spPr>
</c:chartSpace>
</file>

<file path=ppt/slides/slide1.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6BD28D4-1A26-45CE-A94E-EE38EF7AFC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31F"/>
          </a:solidFill>
          <a:ln xmlns:a="http://schemas.openxmlformats.org/drawingml/2006/main" w="9525">
            <a:solidFill>
              <a:srgbClr val="06131F"/>
            </a:solidFill>
            <a:prstDash val="solid"/>
          </a:ln>
        </p:spPr>
      </p:sp>
      <p:sp>
        <p:nvSpPr>
          <p:cNvPr id="2" name="">
            <a:extLst xmlns:a="http://schemas.openxmlformats.org/drawingml/2006/main">
              <a:ext uri="{FF2B5EF4-FFF2-40B4-BE49-F238E27FC236}">
                <a16:creationId xmlns:a16="http://schemas.microsoft.com/office/drawing/2014/main" id="{083C79C9-EADB-428B-BA6C-723940148C45}"/>
              </a:ext>
            </a:extLst>
          </p:cNvPr>
          <p:cNvSpPr>
            <a:spLocks xmlns:a="http://schemas.openxmlformats.org/drawingml/2006/main" noGrp="1"/>
          </p:cNvSpPr>
          <p:nvPr/>
        </p:nvSpPr>
        <p:spPr>
          <a:xfrm xmlns:a="http://schemas.openxmlformats.org/drawingml/2006/main">
            <a:off x="7429500" y="762000"/>
            <a:ext cx="3810000" cy="4857750"/>
          </a:xfrm>
          <a:prstGeom xmlns:a="http://schemas.openxmlformats.org/drawingml/2006/main" prst="roundRect">
            <a:avLst>
              <a:gd name="adj" fmla="val 4000"/>
            </a:avLst>
          </a:prstGeom>
          <a:solidFill xmlns:a="http://schemas.openxmlformats.org/drawingml/2006/main">
            <a:srgbClr val="0B2334"/>
          </a:solidFill>
          <a:ln xmlns:a="http://schemas.openxmlformats.org/drawingml/2006/main" w="9525">
            <a:solidFill>
              <a:srgbClr val="204B61"/>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3f1d1c3fa5549b8"/>
          <a:srcRect xmlns:a="http://schemas.openxmlformats.org/drawingml/2006/main" l="28507" t="0" r="28507" b="0"/>
          <a:stretch xmlns:a="http://schemas.openxmlformats.org/drawingml/2006/main">
            <a:fillRect l="0" t="0" r="0" b="0"/>
          </a:stretch>
        </p:blipFill>
        <p:spPr>
          <a:xfrm xmlns:a="http://schemas.openxmlformats.org/drawingml/2006/main">
            <a:off x="7667625" y="1009650"/>
            <a:ext cx="3333750" cy="4362450"/>
          </a:xfrm>
          <a:prstGeom xmlns:a="http://schemas.openxmlformats.org/drawingml/2006/main" prst="roundRect">
            <a:avLst>
              <a:gd name="adj" fmla="val 3429"/>
            </a:avLst>
          </a:prstGeom>
        </p:spPr>
      </p:pic>
      <p:sp>
        <p:nvSpPr>
          <p:cNvPr id="4" name="">
            <a:extLst xmlns:a="http://schemas.openxmlformats.org/drawingml/2006/main">
              <a:ext uri="{FF2B5EF4-FFF2-40B4-BE49-F238E27FC236}">
                <a16:creationId xmlns:a16="http://schemas.microsoft.com/office/drawing/2014/main" id="{447DF64C-58B9-4AF5-831F-BC635768D162}"/>
              </a:ext>
            </a:extLst>
          </p:cNvPr>
          <p:cNvSpPr>
            <a:spLocks xmlns:a="http://schemas.openxmlformats.org/drawingml/2006/main" noGrp="1"/>
          </p:cNvSpPr>
          <p:nvPr/>
        </p:nvSpPr>
        <p:spPr>
          <a:xfrm xmlns:a="http://schemas.openxmlformats.org/drawingml/2006/main">
            <a:off x="685800" y="7810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6D0C3"/>
                </a:solidFill>
              </a:defRPr>
            </a:pPr>
            <a:r>
              <a:rPr sz="1125" b="1">
                <a:solidFill>
                  <a:srgbClr val="26D0C3"/>
                </a:solidFill>
              </a:rPr>
              <a:t>CAPSTONE PROJECT</a:t>
            </a:r>
          </a:p>
        </p:txBody>
      </p:sp>
      <p:sp>
        <p:nvSpPr>
          <p:cNvPr id="5" name="deck-title">
            <a:extLst xmlns:a="http://schemas.openxmlformats.org/drawingml/2006/main">
              <a:ext uri="{FF2B5EF4-FFF2-40B4-BE49-F238E27FC236}">
                <a16:creationId xmlns:a16="http://schemas.microsoft.com/office/drawing/2014/main" id="{7D0A9807-EDEC-4004-8354-DE56FA580AD4}"/>
              </a:ext>
            </a:extLst>
          </p:cNvPr>
          <p:cNvSpPr>
            <a:spLocks xmlns:a="http://schemas.openxmlformats.org/drawingml/2006/main" noGrp="1"/>
          </p:cNvSpPr>
          <p:nvPr/>
        </p:nvSpPr>
        <p:spPr>
          <a:xfrm xmlns:a="http://schemas.openxmlformats.org/drawingml/2006/main">
            <a:off x="685800" y="1352550"/>
            <a:ext cx="619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5F8FB"/>
                </a:solidFill>
              </a:defRPr>
            </a:pPr>
            <a:r>
              <a:rPr sz="4050" b="1">
                <a:solidFill>
                  <a:srgbClr val="F5F8FB"/>
                </a:solidFill>
              </a:rPr>
              <a:t>AI-Powered</a:t>
            </a:r>
          </a:p>
          <a:p xmlns:a="http://schemas.openxmlformats.org/drawingml/2006/main">
            <a:pPr algn="l">
              <a:defRPr sz="4050" b="1">
                <a:solidFill>
                  <a:srgbClr val="F5F8FB"/>
                </a:solidFill>
              </a:defRPr>
            </a:pPr>
            <a:r>
              <a:rPr sz="4050" b="1">
                <a:solidFill>
                  <a:srgbClr val="F5F8FB"/>
                </a:solidFill>
              </a:rPr>
              <a:t>E-Commerce Analytics</a:t>
            </a:r>
          </a:p>
        </p:txBody>
      </p:sp>
      <p:sp>
        <p:nvSpPr>
          <p:cNvPr id="6" name="">
            <a:extLst xmlns:a="http://schemas.openxmlformats.org/drawingml/2006/main">
              <a:ext uri="{FF2B5EF4-FFF2-40B4-BE49-F238E27FC236}">
                <a16:creationId xmlns:a16="http://schemas.microsoft.com/office/drawing/2014/main" id="{E4C337D3-C17E-4650-8985-0FAE1A8DA66C}"/>
              </a:ext>
            </a:extLst>
          </p:cNvPr>
          <p:cNvSpPr>
            <a:spLocks xmlns:a="http://schemas.openxmlformats.org/drawingml/2006/main" noGrp="1"/>
          </p:cNvSpPr>
          <p:nvPr/>
        </p:nvSpPr>
        <p:spPr>
          <a:xfrm xmlns:a="http://schemas.openxmlformats.org/drawingml/2006/main">
            <a:off x="723900" y="3028950"/>
            <a:ext cx="561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AEC0CB"/>
                </a:solidFill>
              </a:defRPr>
            </a:pPr>
            <a:r>
              <a:rPr sz="1875" b="0">
                <a:solidFill>
                  <a:srgbClr val="AEC0CB"/>
                </a:solidFill>
              </a:rPr>
              <a:t>From raw transactions to validated, interactive evidence</a:t>
            </a:r>
          </a:p>
        </p:txBody>
      </p:sp>
      <p:sp>
        <p:nvSpPr>
          <p:cNvPr id="7" name="">
            <a:extLst xmlns:a="http://schemas.openxmlformats.org/drawingml/2006/main">
              <a:ext uri="{FF2B5EF4-FFF2-40B4-BE49-F238E27FC236}">
                <a16:creationId xmlns:a16="http://schemas.microsoft.com/office/drawing/2014/main" id="{CC38A28F-6D6C-4DA9-9880-397D5F3C2139}"/>
              </a:ext>
            </a:extLst>
          </p:cNvPr>
          <p:cNvSpPr>
            <a:spLocks xmlns:a="http://schemas.openxmlformats.org/drawingml/2006/main" noGrp="1"/>
          </p:cNvSpPr>
          <p:nvPr/>
        </p:nvSpPr>
        <p:spPr>
          <a:xfrm xmlns:a="http://schemas.openxmlformats.org/drawingml/2006/main">
            <a:off x="723900" y="4038600"/>
            <a:ext cx="4953000" cy="19050"/>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8" name="">
            <a:extLst xmlns:a="http://schemas.openxmlformats.org/drawingml/2006/main">
              <a:ext uri="{FF2B5EF4-FFF2-40B4-BE49-F238E27FC236}">
                <a16:creationId xmlns:a16="http://schemas.microsoft.com/office/drawing/2014/main" id="{F25D39FD-4750-4340-9BA7-DCF8EB4F1025}"/>
              </a:ext>
            </a:extLst>
          </p:cNvPr>
          <p:cNvSpPr>
            <a:spLocks xmlns:a="http://schemas.openxmlformats.org/drawingml/2006/main" noGrp="1"/>
          </p:cNvSpPr>
          <p:nvPr/>
        </p:nvSpPr>
        <p:spPr>
          <a:xfrm xmlns:a="http://schemas.openxmlformats.org/drawingml/2006/main">
            <a:off x="723900" y="43053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5F8FB"/>
                </a:solidFill>
              </a:defRPr>
            </a:pPr>
            <a:r>
              <a:rPr sz="1575" b="1">
                <a:solidFill>
                  <a:srgbClr val="F5F8FB"/>
                </a:solidFill>
              </a:rPr>
              <a:t>S. M. Monowar Kayser</a:t>
            </a:r>
          </a:p>
        </p:txBody>
      </p:sp>
      <p:sp>
        <p:nvSpPr>
          <p:cNvPr id="9" name="">
            <a:extLst xmlns:a="http://schemas.openxmlformats.org/drawingml/2006/main">
              <a:ext uri="{FF2B5EF4-FFF2-40B4-BE49-F238E27FC236}">
                <a16:creationId xmlns:a16="http://schemas.microsoft.com/office/drawing/2014/main" id="{0043DAF8-F0FE-4C56-AB52-74238E66EABA}"/>
              </a:ext>
            </a:extLst>
          </p:cNvPr>
          <p:cNvSpPr>
            <a:spLocks xmlns:a="http://schemas.openxmlformats.org/drawingml/2006/main" noGrp="1"/>
          </p:cNvSpPr>
          <p:nvPr/>
        </p:nvSpPr>
        <p:spPr>
          <a:xfrm xmlns:a="http://schemas.openxmlformats.org/drawingml/2006/main">
            <a:off x="723900" y="4667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EC0CB"/>
                </a:solidFill>
              </a:defRPr>
            </a:pPr>
            <a:r>
              <a:rPr sz="1350" b="0">
                <a:solidFill>
                  <a:srgbClr val="AEC0CB"/>
                </a:solidFill>
              </a:rPr>
              <a:t>MSc Summer 2026 · Data Visualization</a:t>
            </a:r>
          </a:p>
        </p:txBody>
      </p:sp>
      <p:sp>
        <p:nvSpPr>
          <p:cNvPr id="10" name="">
            <a:extLst xmlns:a="http://schemas.openxmlformats.org/drawingml/2006/main">
              <a:ext uri="{FF2B5EF4-FFF2-40B4-BE49-F238E27FC236}">
                <a16:creationId xmlns:a16="http://schemas.microsoft.com/office/drawing/2014/main" id="{57F3C430-D011-4347-A4E5-75F2FCD850BF}"/>
              </a:ext>
            </a:extLst>
          </p:cNvPr>
          <p:cNvSpPr>
            <a:spLocks xmlns:a="http://schemas.openxmlformats.org/drawingml/2006/main" noGrp="1"/>
          </p:cNvSpPr>
          <p:nvPr/>
        </p:nvSpPr>
        <p:spPr>
          <a:xfrm xmlns:a="http://schemas.openxmlformats.org/drawingml/2006/main">
            <a:off x="723900" y="509587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7F9BAB"/>
                </a:solidFill>
              </a:defRPr>
            </a:pPr>
            <a:r>
              <a:rPr sz="1125" b="0">
                <a:solidFill>
                  <a:srgbClr val="7F9BAB"/>
                </a:solidFill>
              </a:rPr>
              <a:t>Student ID: [INSERT]  ·  Submission date: [INSERT]</a:t>
            </a:r>
          </a:p>
        </p:txBody>
      </p:sp>
      <p:sp>
        <p:nvSpPr>
          <p:cNvPr id="11" name="">
            <a:extLst xmlns:a="http://schemas.openxmlformats.org/drawingml/2006/main">
              <a:ext uri="{FF2B5EF4-FFF2-40B4-BE49-F238E27FC236}">
                <a16:creationId xmlns:a16="http://schemas.microsoft.com/office/drawing/2014/main" id="{BE4D69CA-D1CE-4992-BA24-D55BD55C1D31}"/>
              </a:ext>
            </a:extLst>
          </p:cNvPr>
          <p:cNvSpPr>
            <a:spLocks xmlns:a="http://schemas.openxmlformats.org/drawingml/2006/main" noGrp="1"/>
          </p:cNvSpPr>
          <p:nvPr/>
        </p:nvSpPr>
        <p:spPr>
          <a:xfrm xmlns:a="http://schemas.openxmlformats.org/drawingml/2006/main">
            <a:off x="723900" y="61150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8D8FF"/>
                </a:solidFill>
              </a:defRPr>
            </a:pPr>
            <a:r>
              <a:rPr sz="1050" b="1">
                <a:solidFill>
                  <a:srgbClr val="68D8FF"/>
                </a:solidFill>
              </a:rPr>
              <a:t>github.com/Monokayser/ai-ecommerce-analytics</a:t>
            </a:r>
          </a:p>
        </p:txBody>
      </p:sp>
    </p:spTree>
    <p:extLst>
      <p:ext uri="{BB962C8B-B14F-4D97-AF65-F5344CB8AC3E}">
        <p14:creationId xmlns:p14="http://schemas.microsoft.com/office/powerpoint/2010/main" val="1502854543"/>
      </p:ext>
    </p:extLst>
  </p:cSld>
</p:sld>
</file>

<file path=ppt/slides/slide2.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BAD7ABB-6881-4AA3-8230-03843C542F64}"/>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94FCF98B-0263-4BCF-810C-15726C287EAA}"/>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PROBLEM AND OBJECTIVE</a:t>
            </a:r>
          </a:p>
        </p:txBody>
      </p:sp>
      <p:sp>
        <p:nvSpPr>
          <p:cNvPr id="3" name="title-2">
            <a:extLst xmlns:a="http://schemas.openxmlformats.org/drawingml/2006/main">
              <a:ext uri="{FF2B5EF4-FFF2-40B4-BE49-F238E27FC236}">
                <a16:creationId xmlns:a16="http://schemas.microsoft.com/office/drawing/2014/main" id="{DA43A636-AB6C-4577-BA30-6DF6F5919626}"/>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Analytics is accessible only when trust is designed in</a:t>
            </a:r>
          </a:p>
        </p:txBody>
      </p:sp>
      <p:sp>
        <p:nvSpPr>
          <p:cNvPr id="4" name="">
            <a:extLst xmlns:a="http://schemas.openxmlformats.org/drawingml/2006/main">
              <a:ext uri="{FF2B5EF4-FFF2-40B4-BE49-F238E27FC236}">
                <a16:creationId xmlns:a16="http://schemas.microsoft.com/office/drawing/2014/main" id="{751AE8A8-748A-46CF-A655-BB86FA96BE9D}"/>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2ECD257D-D189-42AD-8C27-F24223F03109}"/>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02</a:t>
            </a:r>
          </a:p>
        </p:txBody>
      </p:sp>
      <p:sp>
        <p:nvSpPr>
          <p:cNvPr id="6" name="">
            <a:extLst xmlns:a="http://schemas.openxmlformats.org/drawingml/2006/main">
              <a:ext uri="{FF2B5EF4-FFF2-40B4-BE49-F238E27FC236}">
                <a16:creationId xmlns:a16="http://schemas.microsoft.com/office/drawing/2014/main" id="{68E85687-362C-4A3F-AC3C-FDDF917C9DF3}"/>
              </a:ext>
            </a:extLst>
          </p:cNvPr>
          <p:cNvSpPr>
            <a:spLocks xmlns:a="http://schemas.openxmlformats.org/drawingml/2006/main" noGrp="1"/>
          </p:cNvSpPr>
          <p:nvPr/>
        </p:nvSpPr>
        <p:spPr>
          <a:xfrm xmlns:a="http://schemas.openxmlformats.org/drawingml/2006/main">
            <a:off x="781050" y="1952625"/>
            <a:ext cx="690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a:solidFill>
                  <a:srgbClr val="F5F8FB"/>
                </a:solidFill>
              </a:defRPr>
            </a:pPr>
            <a:r>
              <a:rPr sz="2325" b="1">
                <a:solidFill>
                  <a:srgbClr val="F5F8FB"/>
                </a:solidFill>
              </a:rPr>
              <a:t>How can a user ask ordinary business questions without giving an AI model direct control of data execution?</a:t>
            </a:r>
          </a:p>
        </p:txBody>
      </p:sp>
      <p:sp>
        <p:nvSpPr>
          <p:cNvPr id="7" name="">
            <a:extLst xmlns:a="http://schemas.openxmlformats.org/drawingml/2006/main">
              <a:ext uri="{FF2B5EF4-FFF2-40B4-BE49-F238E27FC236}">
                <a16:creationId xmlns:a16="http://schemas.microsoft.com/office/drawing/2014/main" id="{74DF3A0D-9AED-4294-9FE3-EE098359A9E2}"/>
              </a:ext>
            </a:extLst>
          </p:cNvPr>
          <p:cNvSpPr>
            <a:spLocks xmlns:a="http://schemas.openxmlformats.org/drawingml/2006/main" noGrp="1"/>
          </p:cNvSpPr>
          <p:nvPr/>
        </p:nvSpPr>
        <p:spPr>
          <a:xfrm xmlns:a="http://schemas.openxmlformats.org/drawingml/2006/main">
            <a:off x="8048625" y="1952625"/>
            <a:ext cx="3143250" cy="3105150"/>
          </a:xfrm>
          <a:prstGeom xmlns:a="http://schemas.openxmlformats.org/drawingml/2006/main" prst="roundRect">
            <a:avLst>
              <a:gd name="adj" fmla="val 4908"/>
            </a:avLst>
          </a:prstGeom>
          <a:solidFill xmlns:a="http://schemas.openxmlformats.org/drawingml/2006/main">
            <a:srgbClr val="0B2130"/>
          </a:solidFill>
          <a:ln xmlns:a="http://schemas.openxmlformats.org/drawingml/2006/main" w="9525">
            <a:solidFill>
              <a:srgbClr val="29495B"/>
            </a:solidFill>
            <a:prstDash val="solid"/>
          </a:ln>
        </p:spPr>
      </p:sp>
      <p:sp>
        <p:nvSpPr>
          <p:cNvPr id="8" name="">
            <a:extLst xmlns:a="http://schemas.openxmlformats.org/drawingml/2006/main">
              <a:ext uri="{FF2B5EF4-FFF2-40B4-BE49-F238E27FC236}">
                <a16:creationId xmlns:a16="http://schemas.microsoft.com/office/drawing/2014/main" id="{1EBCCD59-AE6F-40DE-90BE-A5EFA2BB0B7A}"/>
              </a:ext>
            </a:extLst>
          </p:cNvPr>
          <p:cNvSpPr>
            <a:spLocks xmlns:a="http://schemas.openxmlformats.org/drawingml/2006/main" noGrp="1"/>
          </p:cNvSpPr>
          <p:nvPr/>
        </p:nvSpPr>
        <p:spPr>
          <a:xfrm xmlns:a="http://schemas.openxmlformats.org/drawingml/2006/main">
            <a:off x="8420100" y="22860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6D0C3"/>
                </a:solidFill>
              </a:defRPr>
            </a:pPr>
            <a:r>
              <a:rPr sz="1050" b="1">
                <a:solidFill>
                  <a:srgbClr val="26D0C3"/>
                </a:solidFill>
              </a:rPr>
              <a:t>DESIGN TARGET</a:t>
            </a:r>
          </a:p>
        </p:txBody>
      </p:sp>
      <p:sp>
        <p:nvSpPr>
          <p:cNvPr id="9" name="">
            <a:extLst xmlns:a="http://schemas.openxmlformats.org/drawingml/2006/main">
              <a:ext uri="{FF2B5EF4-FFF2-40B4-BE49-F238E27FC236}">
                <a16:creationId xmlns:a16="http://schemas.microsoft.com/office/drawing/2014/main" id="{18CDA114-6921-4359-99A9-252BEF71DD7F}"/>
              </a:ext>
            </a:extLst>
          </p:cNvPr>
          <p:cNvSpPr>
            <a:spLocks xmlns:a="http://schemas.openxmlformats.org/drawingml/2006/main" noGrp="1"/>
          </p:cNvSpPr>
          <p:nvPr/>
        </p:nvSpPr>
        <p:spPr>
          <a:xfrm xmlns:a="http://schemas.openxmlformats.org/drawingml/2006/main">
            <a:off x="8420100" y="28194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6D0C3"/>
                </a:solidFill>
              </a:defRPr>
            </a:pPr>
            <a:r>
              <a:rPr sz="1650" b="1">
                <a:solidFill>
                  <a:srgbClr val="26D0C3"/>
                </a:solidFill>
              </a:rPr>
              <a:t>•</a:t>
            </a:r>
          </a:p>
        </p:txBody>
      </p:sp>
      <p:sp>
        <p:nvSpPr>
          <p:cNvPr id="10" name="">
            <a:extLst xmlns:a="http://schemas.openxmlformats.org/drawingml/2006/main">
              <a:ext uri="{FF2B5EF4-FFF2-40B4-BE49-F238E27FC236}">
                <a16:creationId xmlns:a16="http://schemas.microsoft.com/office/drawing/2014/main" id="{5A52F97C-A073-4E79-B933-755E01A824DE}"/>
              </a:ext>
            </a:extLst>
          </p:cNvPr>
          <p:cNvSpPr>
            <a:spLocks xmlns:a="http://schemas.openxmlformats.org/drawingml/2006/main" noGrp="1"/>
          </p:cNvSpPr>
          <p:nvPr/>
        </p:nvSpPr>
        <p:spPr>
          <a:xfrm xmlns:a="http://schemas.openxmlformats.org/drawingml/2006/main">
            <a:off x="8686800" y="2819400"/>
            <a:ext cx="2114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5F8FB"/>
                </a:solidFill>
              </a:defRPr>
            </a:pPr>
            <a:r>
              <a:rPr sz="1500" b="0">
                <a:solidFill>
                  <a:srgbClr val="F5F8FB"/>
                </a:solidFill>
              </a:rPr>
              <a:t>Natural-language access</a:t>
            </a:r>
          </a:p>
        </p:txBody>
      </p:sp>
      <p:sp>
        <p:nvSpPr>
          <p:cNvPr id="11" name="">
            <a:extLst xmlns:a="http://schemas.openxmlformats.org/drawingml/2006/main">
              <a:ext uri="{FF2B5EF4-FFF2-40B4-BE49-F238E27FC236}">
                <a16:creationId xmlns:a16="http://schemas.microsoft.com/office/drawing/2014/main" id="{1E6BFE6D-4F09-4443-B2C6-9CDCDACE538C}"/>
              </a:ext>
            </a:extLst>
          </p:cNvPr>
          <p:cNvSpPr>
            <a:spLocks xmlns:a="http://schemas.openxmlformats.org/drawingml/2006/main" noGrp="1"/>
          </p:cNvSpPr>
          <p:nvPr/>
        </p:nvSpPr>
        <p:spPr>
          <a:xfrm xmlns:a="http://schemas.openxmlformats.org/drawingml/2006/main">
            <a:off x="8420100" y="332422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6D0C3"/>
                </a:solidFill>
              </a:defRPr>
            </a:pPr>
            <a:r>
              <a:rPr sz="1650" b="1">
                <a:solidFill>
                  <a:srgbClr val="26D0C3"/>
                </a:solidFill>
              </a:rPr>
              <a:t>•</a:t>
            </a:r>
          </a:p>
        </p:txBody>
      </p:sp>
      <p:sp>
        <p:nvSpPr>
          <p:cNvPr id="12" name="">
            <a:extLst xmlns:a="http://schemas.openxmlformats.org/drawingml/2006/main">
              <a:ext uri="{FF2B5EF4-FFF2-40B4-BE49-F238E27FC236}">
                <a16:creationId xmlns:a16="http://schemas.microsoft.com/office/drawing/2014/main" id="{D81E9627-9AD3-4163-9797-C0B90BD79346}"/>
              </a:ext>
            </a:extLst>
          </p:cNvPr>
          <p:cNvSpPr>
            <a:spLocks xmlns:a="http://schemas.openxmlformats.org/drawingml/2006/main" noGrp="1"/>
          </p:cNvSpPr>
          <p:nvPr/>
        </p:nvSpPr>
        <p:spPr>
          <a:xfrm xmlns:a="http://schemas.openxmlformats.org/drawingml/2006/main">
            <a:off x="8686800" y="3324225"/>
            <a:ext cx="2114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5F8FB"/>
                </a:solidFill>
              </a:defRPr>
            </a:pPr>
            <a:r>
              <a:rPr sz="1500" b="0">
                <a:solidFill>
                  <a:srgbClr val="F5F8FB"/>
                </a:solidFill>
              </a:rPr>
              <a:t>Deterministic computation</a:t>
            </a:r>
          </a:p>
        </p:txBody>
      </p:sp>
      <p:sp>
        <p:nvSpPr>
          <p:cNvPr id="13" name="">
            <a:extLst xmlns:a="http://schemas.openxmlformats.org/drawingml/2006/main">
              <a:ext uri="{FF2B5EF4-FFF2-40B4-BE49-F238E27FC236}">
                <a16:creationId xmlns:a16="http://schemas.microsoft.com/office/drawing/2014/main" id="{F6D03374-6E42-4B4E-A18C-C725F6B3293B}"/>
              </a:ext>
            </a:extLst>
          </p:cNvPr>
          <p:cNvSpPr>
            <a:spLocks xmlns:a="http://schemas.openxmlformats.org/drawingml/2006/main" noGrp="1"/>
          </p:cNvSpPr>
          <p:nvPr/>
        </p:nvSpPr>
        <p:spPr>
          <a:xfrm xmlns:a="http://schemas.openxmlformats.org/drawingml/2006/main">
            <a:off x="8420100" y="38290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6D0C3"/>
                </a:solidFill>
              </a:defRPr>
            </a:pPr>
            <a:r>
              <a:rPr sz="1650" b="1">
                <a:solidFill>
                  <a:srgbClr val="26D0C3"/>
                </a:solidFill>
              </a:rPr>
              <a:t>•</a:t>
            </a:r>
          </a:p>
        </p:txBody>
      </p:sp>
      <p:sp>
        <p:nvSpPr>
          <p:cNvPr id="14" name="">
            <a:extLst xmlns:a="http://schemas.openxmlformats.org/drawingml/2006/main">
              <a:ext uri="{FF2B5EF4-FFF2-40B4-BE49-F238E27FC236}">
                <a16:creationId xmlns:a16="http://schemas.microsoft.com/office/drawing/2014/main" id="{ED610C4E-FB78-42B5-AE2C-8D6A50406388}"/>
              </a:ext>
            </a:extLst>
          </p:cNvPr>
          <p:cNvSpPr>
            <a:spLocks xmlns:a="http://schemas.openxmlformats.org/drawingml/2006/main" noGrp="1"/>
          </p:cNvSpPr>
          <p:nvPr/>
        </p:nvSpPr>
        <p:spPr>
          <a:xfrm xmlns:a="http://schemas.openxmlformats.org/drawingml/2006/main">
            <a:off x="8686800" y="3829050"/>
            <a:ext cx="2114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5F8FB"/>
                </a:solidFill>
              </a:defRPr>
            </a:pPr>
            <a:r>
              <a:rPr sz="1500" b="0">
                <a:solidFill>
                  <a:srgbClr val="F5F8FB"/>
                </a:solidFill>
              </a:rPr>
              <a:t>Visible validation</a:t>
            </a:r>
          </a:p>
        </p:txBody>
      </p:sp>
      <p:sp>
        <p:nvSpPr>
          <p:cNvPr id="15" name="">
            <a:extLst xmlns:a="http://schemas.openxmlformats.org/drawingml/2006/main">
              <a:ext uri="{FF2B5EF4-FFF2-40B4-BE49-F238E27FC236}">
                <a16:creationId xmlns:a16="http://schemas.microsoft.com/office/drawing/2014/main" id="{83F16648-373D-4575-B6D3-267058883411}"/>
              </a:ext>
            </a:extLst>
          </p:cNvPr>
          <p:cNvSpPr>
            <a:spLocks xmlns:a="http://schemas.openxmlformats.org/drawingml/2006/main" noGrp="1"/>
          </p:cNvSpPr>
          <p:nvPr/>
        </p:nvSpPr>
        <p:spPr>
          <a:xfrm xmlns:a="http://schemas.openxmlformats.org/drawingml/2006/main">
            <a:off x="8420100" y="433387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6D0C3"/>
                </a:solidFill>
              </a:defRPr>
            </a:pPr>
            <a:r>
              <a:rPr sz="1650" b="1">
                <a:solidFill>
                  <a:srgbClr val="26D0C3"/>
                </a:solidFill>
              </a:rPr>
              <a:t>•</a:t>
            </a:r>
          </a:p>
        </p:txBody>
      </p:sp>
      <p:sp>
        <p:nvSpPr>
          <p:cNvPr id="16" name="">
            <a:extLst xmlns:a="http://schemas.openxmlformats.org/drawingml/2006/main">
              <a:ext uri="{FF2B5EF4-FFF2-40B4-BE49-F238E27FC236}">
                <a16:creationId xmlns:a16="http://schemas.microsoft.com/office/drawing/2014/main" id="{FBEF282A-26BA-4399-96FF-56BB1D1C3D57}"/>
              </a:ext>
            </a:extLst>
          </p:cNvPr>
          <p:cNvSpPr>
            <a:spLocks xmlns:a="http://schemas.openxmlformats.org/drawingml/2006/main" noGrp="1"/>
          </p:cNvSpPr>
          <p:nvPr/>
        </p:nvSpPr>
        <p:spPr>
          <a:xfrm xmlns:a="http://schemas.openxmlformats.org/drawingml/2006/main">
            <a:off x="8686800" y="4333875"/>
            <a:ext cx="2114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5F8FB"/>
                </a:solidFill>
              </a:defRPr>
            </a:pPr>
            <a:r>
              <a:rPr sz="1500" b="0">
                <a:solidFill>
                  <a:srgbClr val="F5F8FB"/>
                </a:solidFill>
              </a:rPr>
              <a:t>Decision-ready exports</a:t>
            </a:r>
          </a:p>
        </p:txBody>
      </p:sp>
      <p:sp>
        <p:nvSpPr>
          <p:cNvPr id="17" name="">
            <a:extLst xmlns:a="http://schemas.openxmlformats.org/drawingml/2006/main">
              <a:ext uri="{FF2B5EF4-FFF2-40B4-BE49-F238E27FC236}">
                <a16:creationId xmlns:a16="http://schemas.microsoft.com/office/drawing/2014/main" id="{1FFAB2A1-8262-4F04-81DB-370E870623E8}"/>
              </a:ext>
            </a:extLst>
          </p:cNvPr>
          <p:cNvSpPr>
            <a:spLocks xmlns:a="http://schemas.openxmlformats.org/drawingml/2006/main" noGrp="1"/>
          </p:cNvSpPr>
          <p:nvPr/>
        </p:nvSpPr>
        <p:spPr>
          <a:xfrm xmlns:a="http://schemas.openxmlformats.org/drawingml/2006/main">
            <a:off x="781050" y="4400550"/>
            <a:ext cx="638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6D0C3"/>
                </a:solidFill>
              </a:defRPr>
            </a:pPr>
            <a:r>
              <a:rPr sz="2850" b="1">
                <a:solidFill>
                  <a:srgbClr val="26D0C3"/>
                </a:solidFill>
              </a:rPr>
              <a:t>Interpretation ≠ execution</a:t>
            </a:r>
          </a:p>
        </p:txBody>
      </p:sp>
      <p:sp>
        <p:nvSpPr>
          <p:cNvPr id="18" name="">
            <a:extLst xmlns:a="http://schemas.openxmlformats.org/drawingml/2006/main">
              <a:ext uri="{FF2B5EF4-FFF2-40B4-BE49-F238E27FC236}">
                <a16:creationId xmlns:a16="http://schemas.microsoft.com/office/drawing/2014/main" id="{BDB456D7-1944-45BB-B55D-87C137F1C0F5}"/>
              </a:ext>
            </a:extLst>
          </p:cNvPr>
          <p:cNvSpPr>
            <a:spLocks xmlns:a="http://schemas.openxmlformats.org/drawingml/2006/main" noGrp="1"/>
          </p:cNvSpPr>
          <p:nvPr/>
        </p:nvSpPr>
        <p:spPr>
          <a:xfrm xmlns:a="http://schemas.openxmlformats.org/drawingml/2006/main">
            <a:off x="800100" y="5048250"/>
            <a:ext cx="685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AEC0CB"/>
                </a:solidFill>
              </a:defRPr>
            </a:pPr>
            <a:r>
              <a:rPr sz="1500" b="0">
                <a:solidFill>
                  <a:srgbClr val="AEC0CB"/>
                </a:solidFill>
              </a:rPr>
              <a:t>The model proposes. The application validates, computes, summarizes, and visualizes.</a:t>
            </a:r>
          </a:p>
        </p:txBody>
      </p:sp>
    </p:spTree>
    <p:extLst>
      <p:ext uri="{BB962C8B-B14F-4D97-AF65-F5344CB8AC3E}">
        <p14:creationId xmlns:p14="http://schemas.microsoft.com/office/powerpoint/2010/main" val="385579854"/>
      </p:ext>
    </p:extLst>
  </p:cSld>
</p:sld>
</file>

<file path=ppt/slides/slide3.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9533D96-C75E-437A-8D2F-F4CC0600A56A}"/>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FDE57043-D71D-4B4C-ABAE-DB9185BBE9C9}"/>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SCOPE</a:t>
            </a:r>
          </a:p>
        </p:txBody>
      </p:sp>
      <p:sp>
        <p:nvSpPr>
          <p:cNvPr id="3" name="title-3">
            <a:extLst xmlns:a="http://schemas.openxmlformats.org/drawingml/2006/main">
              <a:ext uri="{FF2B5EF4-FFF2-40B4-BE49-F238E27FC236}">
                <a16:creationId xmlns:a16="http://schemas.microsoft.com/office/drawing/2014/main" id="{42D0FAB9-C4F5-4BF1-BD53-339C47E3DC8B}"/>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Four rubric tasks — one integrated platform</a:t>
            </a:r>
          </a:p>
        </p:txBody>
      </p:sp>
      <p:sp>
        <p:nvSpPr>
          <p:cNvPr id="4" name="">
            <a:extLst xmlns:a="http://schemas.openxmlformats.org/drawingml/2006/main">
              <a:ext uri="{FF2B5EF4-FFF2-40B4-BE49-F238E27FC236}">
                <a16:creationId xmlns:a16="http://schemas.microsoft.com/office/drawing/2014/main" id="{A43C1FD4-D406-44F4-859F-76F4EA776F25}"/>
              </a:ext>
            </a:extLst>
          </p:cNvPr>
          <p:cNvSpPr>
            <a:spLocks xmlns:a="http://schemas.openxmlformats.org/drawingml/2006/main" noGrp="1"/>
          </p:cNvSpPr>
          <p:nvPr/>
        </p:nvSpPr>
        <p:spPr>
          <a:xfrm xmlns:a="http://schemas.openxmlformats.org/drawingml/2006/main">
            <a:off x="628650" y="13811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EC0CB"/>
                </a:solidFill>
              </a:defRPr>
            </a:pPr>
            <a:r>
              <a:rPr sz="1350" b="0">
                <a:solidFill>
                  <a:srgbClr val="AEC0CB"/>
                </a:solidFill>
              </a:rPr>
              <a:t>The implementation connects dashboarding, secure AI, advanced analytics, and reporting.</a:t>
            </a:r>
          </a:p>
        </p:txBody>
      </p:sp>
      <p:sp>
        <p:nvSpPr>
          <p:cNvPr id="5" name="">
            <a:extLst xmlns:a="http://schemas.openxmlformats.org/drawingml/2006/main">
              <a:ext uri="{FF2B5EF4-FFF2-40B4-BE49-F238E27FC236}">
                <a16:creationId xmlns:a16="http://schemas.microsoft.com/office/drawing/2014/main" id="{CA484B2C-F6C9-4E85-84B7-99BDA671625F}"/>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6" name="">
            <a:extLst xmlns:a="http://schemas.openxmlformats.org/drawingml/2006/main">
              <a:ext uri="{FF2B5EF4-FFF2-40B4-BE49-F238E27FC236}">
                <a16:creationId xmlns:a16="http://schemas.microsoft.com/office/drawing/2014/main" id="{8C6542A3-7EA8-4479-9D10-BC7F4068EDF2}"/>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03</a:t>
            </a:r>
          </a:p>
        </p:txBody>
      </p:sp>
      <p:sp>
        <p:nvSpPr>
          <p:cNvPr id="7" name="">
            <a:extLst xmlns:a="http://schemas.openxmlformats.org/drawingml/2006/main">
              <a:ext uri="{FF2B5EF4-FFF2-40B4-BE49-F238E27FC236}">
                <a16:creationId xmlns:a16="http://schemas.microsoft.com/office/drawing/2014/main" id="{2E7E72C9-821E-46F4-AFFD-20165C85A062}"/>
              </a:ext>
            </a:extLst>
          </p:cNvPr>
          <p:cNvSpPr>
            <a:spLocks xmlns:a="http://schemas.openxmlformats.org/drawingml/2006/main" noGrp="1"/>
          </p:cNvSpPr>
          <p:nvPr/>
        </p:nvSpPr>
        <p:spPr>
          <a:xfrm xmlns:a="http://schemas.openxmlformats.org/drawingml/2006/main">
            <a:off x="704850" y="224790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26D0C3"/>
                </a:solidFill>
              </a:defRPr>
            </a:pPr>
            <a:r>
              <a:rPr sz="4350" b="1">
                <a:solidFill>
                  <a:srgbClr val="26D0C3"/>
                </a:solidFill>
              </a:rPr>
              <a:t>A</a:t>
            </a:r>
          </a:p>
        </p:txBody>
      </p:sp>
      <p:sp>
        <p:nvSpPr>
          <p:cNvPr id="8" name="">
            <a:extLst xmlns:a="http://schemas.openxmlformats.org/drawingml/2006/main">
              <a:ext uri="{FF2B5EF4-FFF2-40B4-BE49-F238E27FC236}">
                <a16:creationId xmlns:a16="http://schemas.microsoft.com/office/drawing/2014/main" id="{45497081-BADF-4FB2-8E94-F881A9E6F3CB}"/>
              </a:ext>
            </a:extLst>
          </p:cNvPr>
          <p:cNvSpPr>
            <a:spLocks xmlns:a="http://schemas.openxmlformats.org/drawingml/2006/main" noGrp="1"/>
          </p:cNvSpPr>
          <p:nvPr/>
        </p:nvSpPr>
        <p:spPr>
          <a:xfrm xmlns:a="http://schemas.openxmlformats.org/drawingml/2006/main">
            <a:off x="704850" y="3171825"/>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F8FB"/>
                </a:solidFill>
              </a:defRPr>
            </a:pPr>
            <a:r>
              <a:rPr sz="1725" b="1">
                <a:solidFill>
                  <a:srgbClr val="F5F8FB"/>
                </a:solidFill>
              </a:rPr>
              <a:t>Interactive dashboard</a:t>
            </a:r>
          </a:p>
        </p:txBody>
      </p:sp>
      <p:sp>
        <p:nvSpPr>
          <p:cNvPr id="9" name="">
            <a:extLst xmlns:a="http://schemas.openxmlformats.org/drawingml/2006/main">
              <a:ext uri="{FF2B5EF4-FFF2-40B4-BE49-F238E27FC236}">
                <a16:creationId xmlns:a16="http://schemas.microsoft.com/office/drawing/2014/main" id="{605CE09D-7EB1-4146-8E51-764DC1C17E21}"/>
              </a:ext>
            </a:extLst>
          </p:cNvPr>
          <p:cNvSpPr>
            <a:spLocks xmlns:a="http://schemas.openxmlformats.org/drawingml/2006/main" noGrp="1"/>
          </p:cNvSpPr>
          <p:nvPr/>
        </p:nvSpPr>
        <p:spPr>
          <a:xfrm xmlns:a="http://schemas.openxmlformats.org/drawingml/2006/main">
            <a:off x="704850" y="3943350"/>
            <a:ext cx="22383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EC0CB"/>
                </a:solidFill>
              </a:defRPr>
            </a:pPr>
            <a:r>
              <a:rPr sz="1350" b="0">
                <a:solidFill>
                  <a:srgbClr val="AEC0CB"/>
                </a:solidFill>
              </a:rPr>
              <a:t>6 sections</a:t>
            </a:r>
          </a:p>
          <a:p xmlns:a="http://schemas.openxmlformats.org/drawingml/2006/main">
            <a:pPr algn="l">
              <a:defRPr sz="1350" b="0">
                <a:solidFill>
                  <a:srgbClr val="AEC0CB"/>
                </a:solidFill>
              </a:defRPr>
            </a:pPr>
            <a:r>
              <a:rPr sz="1350" b="0">
                <a:solidFill>
                  <a:srgbClr val="AEC0CB"/>
                </a:solidFill>
              </a:rPr>
              <a:t>8 chart families</a:t>
            </a:r>
          </a:p>
          <a:p xmlns:a="http://schemas.openxmlformats.org/drawingml/2006/main">
            <a:pPr algn="l">
              <a:defRPr sz="1350" b="0">
                <a:solidFill>
                  <a:srgbClr val="AEC0CB"/>
                </a:solidFill>
              </a:defRPr>
            </a:pPr>
            <a:r>
              <a:rPr sz="1350" b="0">
                <a:solidFill>
                  <a:srgbClr val="AEC0CB"/>
                </a:solidFill>
              </a:rPr>
              <a:t>global filters</a:t>
            </a:r>
          </a:p>
        </p:txBody>
      </p:sp>
      <p:sp>
        <p:nvSpPr>
          <p:cNvPr id="10" name="">
            <a:extLst xmlns:a="http://schemas.openxmlformats.org/drawingml/2006/main">
              <a:ext uri="{FF2B5EF4-FFF2-40B4-BE49-F238E27FC236}">
                <a16:creationId xmlns:a16="http://schemas.microsoft.com/office/drawing/2014/main" id="{672122A1-0C45-44AC-91AA-F7D2E428021E}"/>
              </a:ext>
            </a:extLst>
          </p:cNvPr>
          <p:cNvSpPr>
            <a:spLocks xmlns:a="http://schemas.openxmlformats.org/drawingml/2006/main" noGrp="1"/>
          </p:cNvSpPr>
          <p:nvPr/>
        </p:nvSpPr>
        <p:spPr>
          <a:xfrm xmlns:a="http://schemas.openxmlformats.org/drawingml/2006/main">
            <a:off x="3467100" y="224790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68D8FF"/>
                </a:solidFill>
              </a:defRPr>
            </a:pPr>
            <a:r>
              <a:rPr sz="4350" b="1">
                <a:solidFill>
                  <a:srgbClr val="68D8FF"/>
                </a:solidFill>
              </a:rPr>
              <a:t>B</a:t>
            </a:r>
          </a:p>
        </p:txBody>
      </p:sp>
      <p:sp>
        <p:nvSpPr>
          <p:cNvPr id="11" name="">
            <a:extLst xmlns:a="http://schemas.openxmlformats.org/drawingml/2006/main">
              <a:ext uri="{FF2B5EF4-FFF2-40B4-BE49-F238E27FC236}">
                <a16:creationId xmlns:a16="http://schemas.microsoft.com/office/drawing/2014/main" id="{A890CF32-7F22-450F-A1F4-4D23E232C7C2}"/>
              </a:ext>
            </a:extLst>
          </p:cNvPr>
          <p:cNvSpPr>
            <a:spLocks xmlns:a="http://schemas.openxmlformats.org/drawingml/2006/main" noGrp="1"/>
          </p:cNvSpPr>
          <p:nvPr/>
        </p:nvSpPr>
        <p:spPr>
          <a:xfrm xmlns:a="http://schemas.openxmlformats.org/drawingml/2006/main">
            <a:off x="3467100" y="3171825"/>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F8FB"/>
                </a:solidFill>
              </a:defRPr>
            </a:pPr>
            <a:r>
              <a:rPr sz="1725" b="1">
                <a:solidFill>
                  <a:srgbClr val="F5F8FB"/>
                </a:solidFill>
              </a:rPr>
              <a:t>AI assistant</a:t>
            </a:r>
          </a:p>
        </p:txBody>
      </p:sp>
      <p:sp>
        <p:nvSpPr>
          <p:cNvPr id="12" name="">
            <a:extLst xmlns:a="http://schemas.openxmlformats.org/drawingml/2006/main">
              <a:ext uri="{FF2B5EF4-FFF2-40B4-BE49-F238E27FC236}">
                <a16:creationId xmlns:a16="http://schemas.microsoft.com/office/drawing/2014/main" id="{963B9CF1-F078-480F-AE8A-BE319E535BF0}"/>
              </a:ext>
            </a:extLst>
          </p:cNvPr>
          <p:cNvSpPr>
            <a:spLocks xmlns:a="http://schemas.openxmlformats.org/drawingml/2006/main" noGrp="1"/>
          </p:cNvSpPr>
          <p:nvPr/>
        </p:nvSpPr>
        <p:spPr>
          <a:xfrm xmlns:a="http://schemas.openxmlformats.org/drawingml/2006/main">
            <a:off x="3467100" y="3943350"/>
            <a:ext cx="22383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EC0CB"/>
                </a:solidFill>
              </a:defRPr>
            </a:pPr>
            <a:r>
              <a:rPr sz="1350" b="0">
                <a:solidFill>
                  <a:srgbClr val="AEC0CB"/>
                </a:solidFill>
              </a:rPr>
              <a:t>typed plans</a:t>
            </a:r>
          </a:p>
          <a:p xmlns:a="http://schemas.openxmlformats.org/drawingml/2006/main">
            <a:pPr algn="l">
              <a:defRPr sz="1350" b="0">
                <a:solidFill>
                  <a:srgbClr val="AEC0CB"/>
                </a:solidFill>
              </a:defRPr>
            </a:pPr>
            <a:r>
              <a:rPr sz="1350" b="0">
                <a:solidFill>
                  <a:srgbClr val="AEC0CB"/>
                </a:solidFill>
              </a:rPr>
              <a:t>SQL/pandas sandbox</a:t>
            </a:r>
          </a:p>
          <a:p xmlns:a="http://schemas.openxmlformats.org/drawingml/2006/main">
            <a:pPr algn="l">
              <a:defRPr sz="1350" b="0">
                <a:solidFill>
                  <a:srgbClr val="AEC0CB"/>
                </a:solidFill>
              </a:defRPr>
            </a:pPr>
            <a:r>
              <a:rPr sz="1350" b="0">
                <a:solidFill>
                  <a:srgbClr val="AEC0CB"/>
                </a:solidFill>
              </a:rPr>
              <a:t>conversation memory</a:t>
            </a:r>
          </a:p>
        </p:txBody>
      </p:sp>
      <p:sp>
        <p:nvSpPr>
          <p:cNvPr id="13" name="">
            <a:extLst xmlns:a="http://schemas.openxmlformats.org/drawingml/2006/main">
              <a:ext uri="{FF2B5EF4-FFF2-40B4-BE49-F238E27FC236}">
                <a16:creationId xmlns:a16="http://schemas.microsoft.com/office/drawing/2014/main" id="{64D1AE3A-6BA7-48E2-9C35-4D09B5FFDFDD}"/>
              </a:ext>
            </a:extLst>
          </p:cNvPr>
          <p:cNvSpPr>
            <a:spLocks xmlns:a="http://schemas.openxmlformats.org/drawingml/2006/main" noGrp="1"/>
          </p:cNvSpPr>
          <p:nvPr/>
        </p:nvSpPr>
        <p:spPr>
          <a:xfrm xmlns:a="http://schemas.openxmlformats.org/drawingml/2006/main">
            <a:off x="6229350" y="224790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26D0C3"/>
                </a:solidFill>
              </a:defRPr>
            </a:pPr>
            <a:r>
              <a:rPr sz="4350" b="1">
                <a:solidFill>
                  <a:srgbClr val="26D0C3"/>
                </a:solidFill>
              </a:rPr>
              <a:t>C</a:t>
            </a:r>
          </a:p>
        </p:txBody>
      </p:sp>
      <p:sp>
        <p:nvSpPr>
          <p:cNvPr id="14" name="">
            <a:extLst xmlns:a="http://schemas.openxmlformats.org/drawingml/2006/main">
              <a:ext uri="{FF2B5EF4-FFF2-40B4-BE49-F238E27FC236}">
                <a16:creationId xmlns:a16="http://schemas.microsoft.com/office/drawing/2014/main" id="{00F53923-8E5F-49D3-AFEA-08CAA58AE0C6}"/>
              </a:ext>
            </a:extLst>
          </p:cNvPr>
          <p:cNvSpPr>
            <a:spLocks xmlns:a="http://schemas.openxmlformats.org/drawingml/2006/main" noGrp="1"/>
          </p:cNvSpPr>
          <p:nvPr/>
        </p:nvSpPr>
        <p:spPr>
          <a:xfrm xmlns:a="http://schemas.openxmlformats.org/drawingml/2006/main">
            <a:off x="6229350" y="3171825"/>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F8FB"/>
                </a:solidFill>
              </a:defRPr>
            </a:pPr>
            <a:r>
              <a:rPr sz="1725" b="1">
                <a:solidFill>
                  <a:srgbClr val="F5F8FB"/>
                </a:solidFill>
              </a:rPr>
              <a:t>Evaluation</a:t>
            </a:r>
          </a:p>
        </p:txBody>
      </p:sp>
      <p:sp>
        <p:nvSpPr>
          <p:cNvPr id="15" name="">
            <a:extLst xmlns:a="http://schemas.openxmlformats.org/drawingml/2006/main">
              <a:ext uri="{FF2B5EF4-FFF2-40B4-BE49-F238E27FC236}">
                <a16:creationId xmlns:a16="http://schemas.microsoft.com/office/drawing/2014/main" id="{CB53E847-46EC-408C-AE22-E025C668511E}"/>
              </a:ext>
            </a:extLst>
          </p:cNvPr>
          <p:cNvSpPr>
            <a:spLocks xmlns:a="http://schemas.openxmlformats.org/drawingml/2006/main" noGrp="1"/>
          </p:cNvSpPr>
          <p:nvPr/>
        </p:nvSpPr>
        <p:spPr>
          <a:xfrm xmlns:a="http://schemas.openxmlformats.org/drawingml/2006/main">
            <a:off x="6229350" y="3943350"/>
            <a:ext cx="22383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EC0CB"/>
                </a:solidFill>
              </a:defRPr>
            </a:pPr>
            <a:r>
              <a:rPr sz="1350" b="0">
                <a:solidFill>
                  <a:srgbClr val="AEC0CB"/>
                </a:solidFill>
              </a:rPr>
              <a:t>tests + coverage</a:t>
            </a:r>
          </a:p>
          <a:p xmlns:a="http://schemas.openxmlformats.org/drawingml/2006/main">
            <a:pPr algn="l">
              <a:defRPr sz="1350" b="0">
                <a:solidFill>
                  <a:srgbClr val="AEC0CB"/>
                </a:solidFill>
              </a:defRPr>
            </a:pPr>
            <a:r>
              <a:rPr sz="1350" b="0">
                <a:solidFill>
                  <a:srgbClr val="AEC0CB"/>
                </a:solidFill>
              </a:rPr>
              <a:t>performance</a:t>
            </a:r>
          </a:p>
          <a:p xmlns:a="http://schemas.openxmlformats.org/drawingml/2006/main">
            <a:pPr algn="l">
              <a:defRPr sz="1350" b="0">
                <a:solidFill>
                  <a:srgbClr val="AEC0CB"/>
                </a:solidFill>
              </a:defRPr>
            </a:pPr>
            <a:r>
              <a:rPr sz="1350" b="0">
                <a:solidFill>
                  <a:srgbClr val="AEC0CB"/>
                </a:solidFill>
              </a:rPr>
              <a:t>10-question benchmark</a:t>
            </a:r>
          </a:p>
        </p:txBody>
      </p:sp>
      <p:sp>
        <p:nvSpPr>
          <p:cNvPr id="16" name="">
            <a:extLst xmlns:a="http://schemas.openxmlformats.org/drawingml/2006/main">
              <a:ext uri="{FF2B5EF4-FFF2-40B4-BE49-F238E27FC236}">
                <a16:creationId xmlns:a16="http://schemas.microsoft.com/office/drawing/2014/main" id="{649A6870-FF01-4189-94FB-585927752298}"/>
              </a:ext>
            </a:extLst>
          </p:cNvPr>
          <p:cNvSpPr>
            <a:spLocks xmlns:a="http://schemas.openxmlformats.org/drawingml/2006/main" noGrp="1"/>
          </p:cNvSpPr>
          <p:nvPr/>
        </p:nvSpPr>
        <p:spPr>
          <a:xfrm xmlns:a="http://schemas.openxmlformats.org/drawingml/2006/main">
            <a:off x="8991600" y="224790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26D0C3"/>
                </a:solidFill>
              </a:defRPr>
            </a:pPr>
            <a:r>
              <a:rPr sz="4350" b="1">
                <a:solidFill>
                  <a:srgbClr val="26D0C3"/>
                </a:solidFill>
              </a:rPr>
              <a:t>D</a:t>
            </a:r>
          </a:p>
        </p:txBody>
      </p:sp>
      <p:sp>
        <p:nvSpPr>
          <p:cNvPr id="17" name="">
            <a:extLst xmlns:a="http://schemas.openxmlformats.org/drawingml/2006/main">
              <a:ext uri="{FF2B5EF4-FFF2-40B4-BE49-F238E27FC236}">
                <a16:creationId xmlns:a16="http://schemas.microsoft.com/office/drawing/2014/main" id="{CE2CDE50-AD42-42FD-BDA6-1432DE3BC0E3}"/>
              </a:ext>
            </a:extLst>
          </p:cNvPr>
          <p:cNvSpPr>
            <a:spLocks xmlns:a="http://schemas.openxmlformats.org/drawingml/2006/main" noGrp="1"/>
          </p:cNvSpPr>
          <p:nvPr/>
        </p:nvSpPr>
        <p:spPr>
          <a:xfrm xmlns:a="http://schemas.openxmlformats.org/drawingml/2006/main">
            <a:off x="8991600" y="3171825"/>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F8FB"/>
                </a:solidFill>
              </a:defRPr>
            </a:pPr>
            <a:r>
              <a:rPr sz="1725" b="1">
                <a:solidFill>
                  <a:srgbClr val="F5F8FB"/>
                </a:solidFill>
              </a:rPr>
              <a:t>Advanced analysis</a:t>
            </a:r>
          </a:p>
        </p:txBody>
      </p:sp>
      <p:sp>
        <p:nvSpPr>
          <p:cNvPr id="18" name="">
            <a:extLst xmlns:a="http://schemas.openxmlformats.org/drawingml/2006/main">
              <a:ext uri="{FF2B5EF4-FFF2-40B4-BE49-F238E27FC236}">
                <a16:creationId xmlns:a16="http://schemas.microsoft.com/office/drawing/2014/main" id="{C66D7DBB-5441-428B-9A76-D27AEA0D7C4B}"/>
              </a:ext>
            </a:extLst>
          </p:cNvPr>
          <p:cNvSpPr>
            <a:spLocks xmlns:a="http://schemas.openxmlformats.org/drawingml/2006/main" noGrp="1"/>
          </p:cNvSpPr>
          <p:nvPr/>
        </p:nvSpPr>
        <p:spPr>
          <a:xfrm xmlns:a="http://schemas.openxmlformats.org/drawingml/2006/main">
            <a:off x="8991600" y="3943350"/>
            <a:ext cx="22383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EC0CB"/>
                </a:solidFill>
              </a:defRPr>
            </a:pPr>
            <a:r>
              <a:rPr sz="1350" b="0">
                <a:solidFill>
                  <a:srgbClr val="AEC0CB"/>
                </a:solidFill>
              </a:rPr>
              <a:t>IQR + Isolation Forest</a:t>
            </a:r>
          </a:p>
          <a:p xmlns:a="http://schemas.openxmlformats.org/drawingml/2006/main">
            <a:pPr algn="l">
              <a:defRPr sz="1350" b="0">
                <a:solidFill>
                  <a:srgbClr val="AEC0CB"/>
                </a:solidFill>
              </a:defRPr>
            </a:pPr>
            <a:r>
              <a:rPr sz="1350" b="0">
                <a:solidFill>
                  <a:srgbClr val="AEC0CB"/>
                </a:solidFill>
              </a:rPr>
              <a:t>subset comparison</a:t>
            </a:r>
          </a:p>
          <a:p xmlns:a="http://schemas.openxmlformats.org/drawingml/2006/main">
            <a:pPr algn="l">
              <a:defRPr sz="1350" b="0">
                <a:solidFill>
                  <a:srgbClr val="AEC0CB"/>
                </a:solidFill>
              </a:defRPr>
            </a:pPr>
            <a:r>
              <a:rPr sz="1350" b="0">
                <a:solidFill>
                  <a:srgbClr val="AEC0CB"/>
                </a:solidFill>
              </a:rPr>
              <a:t>exports</a:t>
            </a:r>
          </a:p>
        </p:txBody>
      </p:sp>
      <p:sp>
        <p:nvSpPr>
          <p:cNvPr id="19" name="">
            <a:extLst xmlns:a="http://schemas.openxmlformats.org/drawingml/2006/main">
              <a:ext uri="{FF2B5EF4-FFF2-40B4-BE49-F238E27FC236}">
                <a16:creationId xmlns:a16="http://schemas.microsoft.com/office/drawing/2014/main" id="{B716E629-492D-4181-8BA4-488993A0644F}"/>
              </a:ext>
            </a:extLst>
          </p:cNvPr>
          <p:cNvSpPr>
            <a:spLocks xmlns:a="http://schemas.openxmlformats.org/drawingml/2006/main" noGrp="1"/>
          </p:cNvSpPr>
          <p:nvPr/>
        </p:nvSpPr>
        <p:spPr>
          <a:xfrm xmlns:a="http://schemas.openxmlformats.org/drawingml/2006/main">
            <a:off x="704850" y="5619750"/>
            <a:ext cx="10572750" cy="19050"/>
          </a:xfrm>
          <a:prstGeom xmlns:a="http://schemas.openxmlformats.org/drawingml/2006/main" prst="rect">
            <a:avLst/>
          </a:prstGeom>
          <a:solidFill xmlns:a="http://schemas.openxmlformats.org/drawingml/2006/main">
            <a:srgbClr val="29495B"/>
          </a:solidFill>
          <a:ln xmlns:a="http://schemas.openxmlformats.org/drawingml/2006/main" w="9525">
            <a:solidFill>
              <a:srgbClr val="29495B"/>
            </a:solidFill>
            <a:prstDash val="solid"/>
          </a:ln>
        </p:spPr>
      </p:sp>
      <p:sp>
        <p:nvSpPr>
          <p:cNvPr id="20" name="">
            <a:extLst xmlns:a="http://schemas.openxmlformats.org/drawingml/2006/main">
              <a:ext uri="{FF2B5EF4-FFF2-40B4-BE49-F238E27FC236}">
                <a16:creationId xmlns:a16="http://schemas.microsoft.com/office/drawing/2014/main" id="{E8BEB914-81D4-4C7B-AAB8-3F125CF5F051}"/>
              </a:ext>
            </a:extLst>
          </p:cNvPr>
          <p:cNvSpPr>
            <a:spLocks xmlns:a="http://schemas.openxmlformats.org/drawingml/2006/main" noGrp="1"/>
          </p:cNvSpPr>
          <p:nvPr/>
        </p:nvSpPr>
        <p:spPr>
          <a:xfrm xmlns:a="http://schemas.openxmlformats.org/drawingml/2006/main">
            <a:off x="704850" y="58102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6D0C3"/>
                </a:solidFill>
              </a:defRPr>
            </a:pPr>
            <a:r>
              <a:rPr sz="1125" b="1">
                <a:solidFill>
                  <a:srgbClr val="26D0C3"/>
                </a:solidFill>
              </a:rPr>
              <a:t>Production layer</a:t>
            </a:r>
          </a:p>
        </p:txBody>
      </p:sp>
      <p:sp>
        <p:nvSpPr>
          <p:cNvPr id="21" name="">
            <a:extLst xmlns:a="http://schemas.openxmlformats.org/drawingml/2006/main">
              <a:ext uri="{FF2B5EF4-FFF2-40B4-BE49-F238E27FC236}">
                <a16:creationId xmlns:a16="http://schemas.microsoft.com/office/drawing/2014/main" id="{7A538F0D-4F6C-42BE-9307-CD3763EE7933}"/>
              </a:ext>
            </a:extLst>
          </p:cNvPr>
          <p:cNvSpPr>
            <a:spLocks xmlns:a="http://schemas.openxmlformats.org/drawingml/2006/main" noGrp="1"/>
          </p:cNvSpPr>
          <p:nvPr/>
        </p:nvSpPr>
        <p:spPr>
          <a:xfrm xmlns:a="http://schemas.openxmlformats.org/drawingml/2006/main">
            <a:off x="2543175" y="57912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multi-format ingestion · security controls · responsive UI · Docker/CI · GitHub release</a:t>
            </a:r>
          </a:p>
        </p:txBody>
      </p:sp>
    </p:spTree>
    <p:extLst>
      <p:ext uri="{BB962C8B-B14F-4D97-AF65-F5344CB8AC3E}">
        <p14:creationId xmlns:p14="http://schemas.microsoft.com/office/powerpoint/2010/main" val="1492165166"/>
      </p:ext>
    </p:extLst>
  </p:cSld>
</p:sld>
</file>

<file path=ppt/slides/slide4.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2241EC3-A99C-43E6-AEB0-497934940104}"/>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CA791364-8AD8-4F06-9314-514D3EE689A2}"/>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METHODOLOGY</a:t>
            </a:r>
          </a:p>
        </p:txBody>
      </p:sp>
      <p:sp>
        <p:nvSpPr>
          <p:cNvPr id="3" name="title-4">
            <a:extLst xmlns:a="http://schemas.openxmlformats.org/drawingml/2006/main">
              <a:ext uri="{FF2B5EF4-FFF2-40B4-BE49-F238E27FC236}">
                <a16:creationId xmlns:a16="http://schemas.microsoft.com/office/drawing/2014/main" id="{AC7B3797-F73B-4BE5-A871-52C1487E68BB}"/>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Evidence gates shaped every development phase</a:t>
            </a:r>
          </a:p>
        </p:txBody>
      </p:sp>
      <p:sp>
        <p:nvSpPr>
          <p:cNvPr id="4" name="">
            <a:extLst xmlns:a="http://schemas.openxmlformats.org/drawingml/2006/main">
              <a:ext uri="{FF2B5EF4-FFF2-40B4-BE49-F238E27FC236}">
                <a16:creationId xmlns:a16="http://schemas.microsoft.com/office/drawing/2014/main" id="{BA92575F-05F6-4CE5-AE04-A18C57067EB7}"/>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179B0339-3469-4199-A94C-34252D51C835}"/>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04</a:t>
            </a:r>
          </a:p>
        </p:txBody>
      </p:sp>
      <p:sp>
        <p:nvSpPr>
          <p:cNvPr id="6" name="">
            <a:extLst xmlns:a="http://schemas.openxmlformats.org/drawingml/2006/main">
              <a:ext uri="{FF2B5EF4-FFF2-40B4-BE49-F238E27FC236}">
                <a16:creationId xmlns:a16="http://schemas.microsoft.com/office/drawing/2014/main" id="{07AB16DB-97E7-4C08-A1A1-3D15FA745E4A}"/>
              </a:ext>
            </a:extLst>
          </p:cNvPr>
          <p:cNvSpPr>
            <a:spLocks xmlns:a="http://schemas.openxmlformats.org/drawingml/2006/main" noGrp="1"/>
          </p:cNvSpPr>
          <p:nvPr/>
        </p:nvSpPr>
        <p:spPr>
          <a:xfrm xmlns:a="http://schemas.openxmlformats.org/drawingml/2006/main">
            <a:off x="2019300" y="2971800"/>
            <a:ext cx="933450" cy="38100"/>
          </a:xfrm>
          <a:prstGeom xmlns:a="http://schemas.openxmlformats.org/drawingml/2006/main" prst="rect">
            <a:avLst/>
          </a:prstGeom>
          <a:solidFill xmlns:a="http://schemas.openxmlformats.org/drawingml/2006/main">
            <a:srgbClr val="29495B"/>
          </a:solidFill>
          <a:ln xmlns:a="http://schemas.openxmlformats.org/drawingml/2006/main" w="9525">
            <a:solidFill>
              <a:srgbClr val="29495B"/>
            </a:solidFill>
            <a:prstDash val="solid"/>
          </a:ln>
        </p:spPr>
      </p:sp>
      <p:sp>
        <p:nvSpPr>
          <p:cNvPr id="7" name="">
            <a:extLst xmlns:a="http://schemas.openxmlformats.org/drawingml/2006/main">
              <a:ext uri="{FF2B5EF4-FFF2-40B4-BE49-F238E27FC236}">
                <a16:creationId xmlns:a16="http://schemas.microsoft.com/office/drawing/2014/main" id="{574E7936-0B69-4E00-932C-924FBA9D04CB}"/>
              </a:ext>
            </a:extLst>
          </p:cNvPr>
          <p:cNvSpPr>
            <a:spLocks xmlns:a="http://schemas.openxmlformats.org/drawingml/2006/main" noGrp="1"/>
          </p:cNvSpPr>
          <p:nvPr/>
        </p:nvSpPr>
        <p:spPr>
          <a:xfrm xmlns:a="http://schemas.openxmlformats.org/drawingml/2006/main">
            <a:off x="2571750" y="2714625"/>
            <a:ext cx="342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26D0C3"/>
                </a:solidFill>
              </a:defRPr>
            </a:pPr>
            <a:r>
              <a:rPr sz="2850" b="1">
                <a:solidFill>
                  <a:srgbClr val="26D0C3"/>
                </a:solidFill>
              </a:rPr>
              <a:t>›</a:t>
            </a:r>
          </a:p>
        </p:txBody>
      </p:sp>
      <p:sp>
        <p:nvSpPr>
          <p:cNvPr id="8" name="">
            <a:extLst xmlns:a="http://schemas.openxmlformats.org/drawingml/2006/main">
              <a:ext uri="{FF2B5EF4-FFF2-40B4-BE49-F238E27FC236}">
                <a16:creationId xmlns:a16="http://schemas.microsoft.com/office/drawing/2014/main" id="{93126227-F13D-45B6-976D-F6E803764E8B}"/>
              </a:ext>
            </a:extLst>
          </p:cNvPr>
          <p:cNvSpPr>
            <a:spLocks xmlns:a="http://schemas.openxmlformats.org/drawingml/2006/main" noGrp="1"/>
          </p:cNvSpPr>
          <p:nvPr/>
        </p:nvSpPr>
        <p:spPr>
          <a:xfrm xmlns:a="http://schemas.openxmlformats.org/drawingml/2006/main">
            <a:off x="4324350" y="2971800"/>
            <a:ext cx="933450" cy="38100"/>
          </a:xfrm>
          <a:prstGeom xmlns:a="http://schemas.openxmlformats.org/drawingml/2006/main" prst="rect">
            <a:avLst/>
          </a:prstGeom>
          <a:solidFill xmlns:a="http://schemas.openxmlformats.org/drawingml/2006/main">
            <a:srgbClr val="29495B"/>
          </a:solidFill>
          <a:ln xmlns:a="http://schemas.openxmlformats.org/drawingml/2006/main" w="9525">
            <a:solidFill>
              <a:srgbClr val="29495B"/>
            </a:solidFill>
            <a:prstDash val="solid"/>
          </a:ln>
        </p:spPr>
      </p:sp>
      <p:sp>
        <p:nvSpPr>
          <p:cNvPr id="9" name="">
            <a:extLst xmlns:a="http://schemas.openxmlformats.org/drawingml/2006/main">
              <a:ext uri="{FF2B5EF4-FFF2-40B4-BE49-F238E27FC236}">
                <a16:creationId xmlns:a16="http://schemas.microsoft.com/office/drawing/2014/main" id="{1536BAEB-71C2-47CB-9151-A4A6C7AECA79}"/>
              </a:ext>
            </a:extLst>
          </p:cNvPr>
          <p:cNvSpPr>
            <a:spLocks xmlns:a="http://schemas.openxmlformats.org/drawingml/2006/main" noGrp="1"/>
          </p:cNvSpPr>
          <p:nvPr/>
        </p:nvSpPr>
        <p:spPr>
          <a:xfrm xmlns:a="http://schemas.openxmlformats.org/drawingml/2006/main">
            <a:off x="4876800" y="2714625"/>
            <a:ext cx="342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26D0C3"/>
                </a:solidFill>
              </a:defRPr>
            </a:pPr>
            <a:r>
              <a:rPr sz="2850" b="1">
                <a:solidFill>
                  <a:srgbClr val="26D0C3"/>
                </a:solidFill>
              </a:rPr>
              <a:t>›</a:t>
            </a:r>
          </a:p>
        </p:txBody>
      </p:sp>
      <p:sp>
        <p:nvSpPr>
          <p:cNvPr id="10" name="">
            <a:extLst xmlns:a="http://schemas.openxmlformats.org/drawingml/2006/main">
              <a:ext uri="{FF2B5EF4-FFF2-40B4-BE49-F238E27FC236}">
                <a16:creationId xmlns:a16="http://schemas.microsoft.com/office/drawing/2014/main" id="{AEF101E4-4091-4AE5-BA9C-02AF61A3E80C}"/>
              </a:ext>
            </a:extLst>
          </p:cNvPr>
          <p:cNvSpPr>
            <a:spLocks xmlns:a="http://schemas.openxmlformats.org/drawingml/2006/main" noGrp="1"/>
          </p:cNvSpPr>
          <p:nvPr/>
        </p:nvSpPr>
        <p:spPr>
          <a:xfrm xmlns:a="http://schemas.openxmlformats.org/drawingml/2006/main">
            <a:off x="6629400" y="2971800"/>
            <a:ext cx="933450" cy="38100"/>
          </a:xfrm>
          <a:prstGeom xmlns:a="http://schemas.openxmlformats.org/drawingml/2006/main" prst="rect">
            <a:avLst/>
          </a:prstGeom>
          <a:solidFill xmlns:a="http://schemas.openxmlformats.org/drawingml/2006/main">
            <a:srgbClr val="29495B"/>
          </a:solidFill>
          <a:ln xmlns:a="http://schemas.openxmlformats.org/drawingml/2006/main" w="9525">
            <a:solidFill>
              <a:srgbClr val="29495B"/>
            </a:solidFill>
            <a:prstDash val="solid"/>
          </a:ln>
        </p:spPr>
      </p:sp>
      <p:sp>
        <p:nvSpPr>
          <p:cNvPr id="11" name="">
            <a:extLst xmlns:a="http://schemas.openxmlformats.org/drawingml/2006/main">
              <a:ext uri="{FF2B5EF4-FFF2-40B4-BE49-F238E27FC236}">
                <a16:creationId xmlns:a16="http://schemas.microsoft.com/office/drawing/2014/main" id="{8292D3F7-7FA7-4121-AAE8-8F556AEC0997}"/>
              </a:ext>
            </a:extLst>
          </p:cNvPr>
          <p:cNvSpPr>
            <a:spLocks xmlns:a="http://schemas.openxmlformats.org/drawingml/2006/main" noGrp="1"/>
          </p:cNvSpPr>
          <p:nvPr/>
        </p:nvSpPr>
        <p:spPr>
          <a:xfrm xmlns:a="http://schemas.openxmlformats.org/drawingml/2006/main">
            <a:off x="7181850" y="2714625"/>
            <a:ext cx="342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26D0C3"/>
                </a:solidFill>
              </a:defRPr>
            </a:pPr>
            <a:r>
              <a:rPr sz="2850" b="1">
                <a:solidFill>
                  <a:srgbClr val="26D0C3"/>
                </a:solidFill>
              </a:rPr>
              <a:t>›</a:t>
            </a:r>
          </a:p>
        </p:txBody>
      </p:sp>
      <p:sp>
        <p:nvSpPr>
          <p:cNvPr id="12" name="">
            <a:extLst xmlns:a="http://schemas.openxmlformats.org/drawingml/2006/main">
              <a:ext uri="{FF2B5EF4-FFF2-40B4-BE49-F238E27FC236}">
                <a16:creationId xmlns:a16="http://schemas.microsoft.com/office/drawing/2014/main" id="{89F3C368-0389-4024-8D0E-8D6AD231B113}"/>
              </a:ext>
            </a:extLst>
          </p:cNvPr>
          <p:cNvSpPr>
            <a:spLocks xmlns:a="http://schemas.openxmlformats.org/drawingml/2006/main" noGrp="1"/>
          </p:cNvSpPr>
          <p:nvPr/>
        </p:nvSpPr>
        <p:spPr>
          <a:xfrm xmlns:a="http://schemas.openxmlformats.org/drawingml/2006/main">
            <a:off x="8934450" y="2971800"/>
            <a:ext cx="933450" cy="38100"/>
          </a:xfrm>
          <a:prstGeom xmlns:a="http://schemas.openxmlformats.org/drawingml/2006/main" prst="rect">
            <a:avLst/>
          </a:prstGeom>
          <a:solidFill xmlns:a="http://schemas.openxmlformats.org/drawingml/2006/main">
            <a:srgbClr val="29495B"/>
          </a:solidFill>
          <a:ln xmlns:a="http://schemas.openxmlformats.org/drawingml/2006/main" w="9525">
            <a:solidFill>
              <a:srgbClr val="29495B"/>
            </a:solidFill>
            <a:prstDash val="solid"/>
          </a:ln>
        </p:spPr>
      </p:sp>
      <p:sp>
        <p:nvSpPr>
          <p:cNvPr id="13" name="">
            <a:extLst xmlns:a="http://schemas.openxmlformats.org/drawingml/2006/main">
              <a:ext uri="{FF2B5EF4-FFF2-40B4-BE49-F238E27FC236}">
                <a16:creationId xmlns:a16="http://schemas.microsoft.com/office/drawing/2014/main" id="{73C44875-8D1A-4B8B-8C98-053EEB4CD341}"/>
              </a:ext>
            </a:extLst>
          </p:cNvPr>
          <p:cNvSpPr>
            <a:spLocks xmlns:a="http://schemas.openxmlformats.org/drawingml/2006/main" noGrp="1"/>
          </p:cNvSpPr>
          <p:nvPr/>
        </p:nvSpPr>
        <p:spPr>
          <a:xfrm xmlns:a="http://schemas.openxmlformats.org/drawingml/2006/main">
            <a:off x="9486900" y="2714625"/>
            <a:ext cx="342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26D0C3"/>
                </a:solidFill>
              </a:defRPr>
            </a:pPr>
            <a:r>
              <a:rPr sz="2850" b="1">
                <a:solidFill>
                  <a:srgbClr val="26D0C3"/>
                </a:solidFill>
              </a:rPr>
              <a:t>›</a:t>
            </a:r>
          </a:p>
        </p:txBody>
      </p:sp>
      <p:sp>
        <p:nvSpPr>
          <p:cNvPr id="14" name="">
            <a:extLst xmlns:a="http://schemas.openxmlformats.org/drawingml/2006/main">
              <a:ext uri="{FF2B5EF4-FFF2-40B4-BE49-F238E27FC236}">
                <a16:creationId xmlns:a16="http://schemas.microsoft.com/office/drawing/2014/main" id="{C0E54569-82C7-4907-B04A-95D05EC9F600}"/>
              </a:ext>
            </a:extLst>
          </p:cNvPr>
          <p:cNvSpPr>
            <a:spLocks xmlns:a="http://schemas.openxmlformats.org/drawingml/2006/main" noGrp="1"/>
          </p:cNvSpPr>
          <p:nvPr/>
        </p:nvSpPr>
        <p:spPr>
          <a:xfrm xmlns:a="http://schemas.openxmlformats.org/drawingml/2006/main">
            <a:off x="933450" y="2524125"/>
            <a:ext cx="800100" cy="800100"/>
          </a:xfrm>
          <a:prstGeom xmlns:a="http://schemas.openxmlformats.org/drawingml/2006/main" prst="ellipse">
            <a:avLst/>
          </a:prstGeom>
          <a:solidFill xmlns:a="http://schemas.openxmlformats.org/drawingml/2006/main">
            <a:srgbClr val="102A3D"/>
          </a:solidFill>
          <a:ln xmlns:a="http://schemas.openxmlformats.org/drawingml/2006/main" w="19050">
            <a:solidFill>
              <a:srgbClr val="26D0C3"/>
            </a:solidFill>
            <a:prstDash val="solid"/>
          </a:ln>
        </p:spPr>
      </p:sp>
      <p:sp>
        <p:nvSpPr>
          <p:cNvPr id="15" name="">
            <a:extLst xmlns:a="http://schemas.openxmlformats.org/drawingml/2006/main">
              <a:ext uri="{FF2B5EF4-FFF2-40B4-BE49-F238E27FC236}">
                <a16:creationId xmlns:a16="http://schemas.microsoft.com/office/drawing/2014/main" id="{EAA71DC9-A186-4DAD-8266-66ABF88AF0EE}"/>
              </a:ext>
            </a:extLst>
          </p:cNvPr>
          <p:cNvSpPr>
            <a:spLocks xmlns:a="http://schemas.openxmlformats.org/drawingml/2006/main" noGrp="1"/>
          </p:cNvSpPr>
          <p:nvPr/>
        </p:nvSpPr>
        <p:spPr>
          <a:xfrm xmlns:a="http://schemas.openxmlformats.org/drawingml/2006/main">
            <a:off x="1133475" y="2695575"/>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5F8FB"/>
                </a:solidFill>
              </a:defRPr>
            </a:pPr>
            <a:r>
              <a:rPr sz="1950" b="1">
                <a:solidFill>
                  <a:srgbClr val="F5F8FB"/>
                </a:solidFill>
              </a:rPr>
              <a:t>1</a:t>
            </a:r>
          </a:p>
        </p:txBody>
      </p:sp>
      <p:sp>
        <p:nvSpPr>
          <p:cNvPr id="16" name="">
            <a:extLst xmlns:a="http://schemas.openxmlformats.org/drawingml/2006/main">
              <a:ext uri="{FF2B5EF4-FFF2-40B4-BE49-F238E27FC236}">
                <a16:creationId xmlns:a16="http://schemas.microsoft.com/office/drawing/2014/main" id="{32987AAB-1FD1-462E-A851-9D55E3AD883F}"/>
              </a:ext>
            </a:extLst>
          </p:cNvPr>
          <p:cNvSpPr>
            <a:spLocks xmlns:a="http://schemas.openxmlformats.org/drawingml/2006/main" noGrp="1"/>
          </p:cNvSpPr>
          <p:nvPr/>
        </p:nvSpPr>
        <p:spPr>
          <a:xfrm xmlns:a="http://schemas.openxmlformats.org/drawingml/2006/main">
            <a:off x="571500" y="357187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5F8FB"/>
                </a:solidFill>
              </a:defRPr>
            </a:pPr>
            <a:r>
              <a:rPr sz="1650" b="1">
                <a:solidFill>
                  <a:srgbClr val="F5F8FB"/>
                </a:solidFill>
              </a:rPr>
              <a:t>Discover</a:t>
            </a:r>
          </a:p>
        </p:txBody>
      </p:sp>
      <p:sp>
        <p:nvSpPr>
          <p:cNvPr id="17" name="">
            <a:extLst xmlns:a="http://schemas.openxmlformats.org/drawingml/2006/main">
              <a:ext uri="{FF2B5EF4-FFF2-40B4-BE49-F238E27FC236}">
                <a16:creationId xmlns:a16="http://schemas.microsoft.com/office/drawing/2014/main" id="{55E0D7F8-A0AF-4775-838D-30A1B8352857}"/>
              </a:ext>
            </a:extLst>
          </p:cNvPr>
          <p:cNvSpPr>
            <a:spLocks xmlns:a="http://schemas.openxmlformats.org/drawingml/2006/main" noGrp="1"/>
          </p:cNvSpPr>
          <p:nvPr/>
        </p:nvSpPr>
        <p:spPr>
          <a:xfrm xmlns:a="http://schemas.openxmlformats.org/drawingml/2006/main">
            <a:off x="400050" y="4000500"/>
            <a:ext cx="1866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AEC0CB"/>
                </a:solidFill>
              </a:defRPr>
            </a:pPr>
            <a:r>
              <a:rPr sz="1200" b="0">
                <a:solidFill>
                  <a:srgbClr val="AEC0CB"/>
                </a:solidFill>
              </a:rPr>
              <a:t>rubric + risks</a:t>
            </a:r>
          </a:p>
        </p:txBody>
      </p:sp>
      <p:sp>
        <p:nvSpPr>
          <p:cNvPr id="18" name="">
            <a:extLst xmlns:a="http://schemas.openxmlformats.org/drawingml/2006/main">
              <a:ext uri="{FF2B5EF4-FFF2-40B4-BE49-F238E27FC236}">
                <a16:creationId xmlns:a16="http://schemas.microsoft.com/office/drawing/2014/main" id="{904ADD6B-848A-4874-9050-51B5FB11C5EA}"/>
              </a:ext>
            </a:extLst>
          </p:cNvPr>
          <p:cNvSpPr>
            <a:spLocks xmlns:a="http://schemas.openxmlformats.org/drawingml/2006/main" noGrp="1"/>
          </p:cNvSpPr>
          <p:nvPr/>
        </p:nvSpPr>
        <p:spPr>
          <a:xfrm xmlns:a="http://schemas.openxmlformats.org/drawingml/2006/main">
            <a:off x="3238500" y="2524125"/>
            <a:ext cx="800100" cy="800100"/>
          </a:xfrm>
          <a:prstGeom xmlns:a="http://schemas.openxmlformats.org/drawingml/2006/main" prst="ellipse">
            <a:avLst/>
          </a:prstGeom>
          <a:solidFill xmlns:a="http://schemas.openxmlformats.org/drawingml/2006/main">
            <a:srgbClr val="102A3D"/>
          </a:solidFill>
          <a:ln xmlns:a="http://schemas.openxmlformats.org/drawingml/2006/main" w="19050">
            <a:solidFill>
              <a:srgbClr val="26D0C3"/>
            </a:solidFill>
            <a:prstDash val="solid"/>
          </a:ln>
        </p:spPr>
      </p:sp>
      <p:sp>
        <p:nvSpPr>
          <p:cNvPr id="19" name="">
            <a:extLst xmlns:a="http://schemas.openxmlformats.org/drawingml/2006/main">
              <a:ext uri="{FF2B5EF4-FFF2-40B4-BE49-F238E27FC236}">
                <a16:creationId xmlns:a16="http://schemas.microsoft.com/office/drawing/2014/main" id="{BEECEEB6-6FBB-4D24-9C12-F84B0CE3B743}"/>
              </a:ext>
            </a:extLst>
          </p:cNvPr>
          <p:cNvSpPr>
            <a:spLocks xmlns:a="http://schemas.openxmlformats.org/drawingml/2006/main" noGrp="1"/>
          </p:cNvSpPr>
          <p:nvPr/>
        </p:nvSpPr>
        <p:spPr>
          <a:xfrm xmlns:a="http://schemas.openxmlformats.org/drawingml/2006/main">
            <a:off x="3438525" y="2695575"/>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5F8FB"/>
                </a:solidFill>
              </a:defRPr>
            </a:pPr>
            <a:r>
              <a:rPr sz="1950" b="1">
                <a:solidFill>
                  <a:srgbClr val="F5F8FB"/>
                </a:solidFill>
              </a:rPr>
              <a:t>2</a:t>
            </a:r>
          </a:p>
        </p:txBody>
      </p:sp>
      <p:sp>
        <p:nvSpPr>
          <p:cNvPr id="20" name="">
            <a:extLst xmlns:a="http://schemas.openxmlformats.org/drawingml/2006/main">
              <a:ext uri="{FF2B5EF4-FFF2-40B4-BE49-F238E27FC236}">
                <a16:creationId xmlns:a16="http://schemas.microsoft.com/office/drawing/2014/main" id="{562D89CC-5ADC-4E74-8954-658B2FEEC8C3}"/>
              </a:ext>
            </a:extLst>
          </p:cNvPr>
          <p:cNvSpPr>
            <a:spLocks xmlns:a="http://schemas.openxmlformats.org/drawingml/2006/main" noGrp="1"/>
          </p:cNvSpPr>
          <p:nvPr/>
        </p:nvSpPr>
        <p:spPr>
          <a:xfrm xmlns:a="http://schemas.openxmlformats.org/drawingml/2006/main">
            <a:off x="2876550" y="357187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5F8FB"/>
                </a:solidFill>
              </a:defRPr>
            </a:pPr>
            <a:r>
              <a:rPr sz="1650" b="1">
                <a:solidFill>
                  <a:srgbClr val="F5F8FB"/>
                </a:solidFill>
              </a:rPr>
              <a:t>Build</a:t>
            </a:r>
          </a:p>
        </p:txBody>
      </p:sp>
      <p:sp>
        <p:nvSpPr>
          <p:cNvPr id="21" name="">
            <a:extLst xmlns:a="http://schemas.openxmlformats.org/drawingml/2006/main">
              <a:ext uri="{FF2B5EF4-FFF2-40B4-BE49-F238E27FC236}">
                <a16:creationId xmlns:a16="http://schemas.microsoft.com/office/drawing/2014/main" id="{01380AFF-4745-4CC8-860E-951176064C0A}"/>
              </a:ext>
            </a:extLst>
          </p:cNvPr>
          <p:cNvSpPr>
            <a:spLocks xmlns:a="http://schemas.openxmlformats.org/drawingml/2006/main" noGrp="1"/>
          </p:cNvSpPr>
          <p:nvPr/>
        </p:nvSpPr>
        <p:spPr>
          <a:xfrm xmlns:a="http://schemas.openxmlformats.org/drawingml/2006/main">
            <a:off x="2705100" y="4000500"/>
            <a:ext cx="1866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AEC0CB"/>
                </a:solidFill>
              </a:defRPr>
            </a:pPr>
            <a:r>
              <a:rPr sz="1200" b="0">
                <a:solidFill>
                  <a:srgbClr val="AEC0CB"/>
                </a:solidFill>
              </a:rPr>
              <a:t>vertical slices</a:t>
            </a:r>
          </a:p>
        </p:txBody>
      </p:sp>
      <p:sp>
        <p:nvSpPr>
          <p:cNvPr id="22" name="">
            <a:extLst xmlns:a="http://schemas.openxmlformats.org/drawingml/2006/main">
              <a:ext uri="{FF2B5EF4-FFF2-40B4-BE49-F238E27FC236}">
                <a16:creationId xmlns:a16="http://schemas.microsoft.com/office/drawing/2014/main" id="{94871CE0-3D24-4A1C-AF49-E12281B53D48}"/>
              </a:ext>
            </a:extLst>
          </p:cNvPr>
          <p:cNvSpPr>
            <a:spLocks xmlns:a="http://schemas.openxmlformats.org/drawingml/2006/main" noGrp="1"/>
          </p:cNvSpPr>
          <p:nvPr/>
        </p:nvSpPr>
        <p:spPr>
          <a:xfrm xmlns:a="http://schemas.openxmlformats.org/drawingml/2006/main">
            <a:off x="5543550" y="2524125"/>
            <a:ext cx="800100" cy="800100"/>
          </a:xfrm>
          <a:prstGeom xmlns:a="http://schemas.openxmlformats.org/drawingml/2006/main" prst="ellipse">
            <a:avLst/>
          </a:prstGeom>
          <a:solidFill xmlns:a="http://schemas.openxmlformats.org/drawingml/2006/main">
            <a:srgbClr val="102A3D"/>
          </a:solidFill>
          <a:ln xmlns:a="http://schemas.openxmlformats.org/drawingml/2006/main" w="19050">
            <a:solidFill>
              <a:srgbClr val="26D0C3"/>
            </a:solidFill>
            <a:prstDash val="solid"/>
          </a:ln>
        </p:spPr>
      </p:sp>
      <p:sp>
        <p:nvSpPr>
          <p:cNvPr id="23" name="">
            <a:extLst xmlns:a="http://schemas.openxmlformats.org/drawingml/2006/main">
              <a:ext uri="{FF2B5EF4-FFF2-40B4-BE49-F238E27FC236}">
                <a16:creationId xmlns:a16="http://schemas.microsoft.com/office/drawing/2014/main" id="{1FE48BC8-327E-4023-83FF-55598CA4DA7A}"/>
              </a:ext>
            </a:extLst>
          </p:cNvPr>
          <p:cNvSpPr>
            <a:spLocks xmlns:a="http://schemas.openxmlformats.org/drawingml/2006/main" noGrp="1"/>
          </p:cNvSpPr>
          <p:nvPr/>
        </p:nvSpPr>
        <p:spPr>
          <a:xfrm xmlns:a="http://schemas.openxmlformats.org/drawingml/2006/main">
            <a:off x="5743575" y="2695575"/>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5F8FB"/>
                </a:solidFill>
              </a:defRPr>
            </a:pPr>
            <a:r>
              <a:rPr sz="1950" b="1">
                <a:solidFill>
                  <a:srgbClr val="F5F8FB"/>
                </a:solidFill>
              </a:rPr>
              <a:t>3</a:t>
            </a:r>
          </a:p>
        </p:txBody>
      </p:sp>
      <p:sp>
        <p:nvSpPr>
          <p:cNvPr id="24" name="">
            <a:extLst xmlns:a="http://schemas.openxmlformats.org/drawingml/2006/main">
              <a:ext uri="{FF2B5EF4-FFF2-40B4-BE49-F238E27FC236}">
                <a16:creationId xmlns:a16="http://schemas.microsoft.com/office/drawing/2014/main" id="{48333C01-B99D-43DE-925C-8E581750E319}"/>
              </a:ext>
            </a:extLst>
          </p:cNvPr>
          <p:cNvSpPr>
            <a:spLocks xmlns:a="http://schemas.openxmlformats.org/drawingml/2006/main" noGrp="1"/>
          </p:cNvSpPr>
          <p:nvPr/>
        </p:nvSpPr>
        <p:spPr>
          <a:xfrm xmlns:a="http://schemas.openxmlformats.org/drawingml/2006/main">
            <a:off x="5181600" y="357187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5F8FB"/>
                </a:solidFill>
              </a:defRPr>
            </a:pPr>
            <a:r>
              <a:rPr sz="1650" b="1">
                <a:solidFill>
                  <a:srgbClr val="F5F8FB"/>
                </a:solidFill>
              </a:rPr>
              <a:t>Harden</a:t>
            </a:r>
          </a:p>
        </p:txBody>
      </p:sp>
      <p:sp>
        <p:nvSpPr>
          <p:cNvPr id="25" name="">
            <a:extLst xmlns:a="http://schemas.openxmlformats.org/drawingml/2006/main">
              <a:ext uri="{FF2B5EF4-FFF2-40B4-BE49-F238E27FC236}">
                <a16:creationId xmlns:a16="http://schemas.microsoft.com/office/drawing/2014/main" id="{4E68B4DA-2BDE-4649-8AFA-771B860D53ED}"/>
              </a:ext>
            </a:extLst>
          </p:cNvPr>
          <p:cNvSpPr>
            <a:spLocks xmlns:a="http://schemas.openxmlformats.org/drawingml/2006/main" noGrp="1"/>
          </p:cNvSpPr>
          <p:nvPr/>
        </p:nvSpPr>
        <p:spPr>
          <a:xfrm xmlns:a="http://schemas.openxmlformats.org/drawingml/2006/main">
            <a:off x="5010150" y="4000500"/>
            <a:ext cx="1866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AEC0CB"/>
                </a:solidFill>
              </a:defRPr>
            </a:pPr>
            <a:r>
              <a:rPr sz="1200" b="0">
                <a:solidFill>
                  <a:srgbClr val="AEC0CB"/>
                </a:solidFill>
              </a:rPr>
              <a:t>allowlists + limits</a:t>
            </a:r>
          </a:p>
        </p:txBody>
      </p:sp>
      <p:sp>
        <p:nvSpPr>
          <p:cNvPr id="26" name="">
            <a:extLst xmlns:a="http://schemas.openxmlformats.org/drawingml/2006/main">
              <a:ext uri="{FF2B5EF4-FFF2-40B4-BE49-F238E27FC236}">
                <a16:creationId xmlns:a16="http://schemas.microsoft.com/office/drawing/2014/main" id="{ED2E8F08-1E23-49D0-A871-2D0CB9A392F3}"/>
              </a:ext>
            </a:extLst>
          </p:cNvPr>
          <p:cNvSpPr>
            <a:spLocks xmlns:a="http://schemas.openxmlformats.org/drawingml/2006/main" noGrp="1"/>
          </p:cNvSpPr>
          <p:nvPr/>
        </p:nvSpPr>
        <p:spPr>
          <a:xfrm xmlns:a="http://schemas.openxmlformats.org/drawingml/2006/main">
            <a:off x="7848600" y="2524125"/>
            <a:ext cx="800100" cy="800100"/>
          </a:xfrm>
          <a:prstGeom xmlns:a="http://schemas.openxmlformats.org/drawingml/2006/main" prst="ellipse">
            <a:avLst/>
          </a:prstGeom>
          <a:solidFill xmlns:a="http://schemas.openxmlformats.org/drawingml/2006/main">
            <a:srgbClr val="102A3D"/>
          </a:solidFill>
          <a:ln xmlns:a="http://schemas.openxmlformats.org/drawingml/2006/main" w="19050">
            <a:solidFill>
              <a:srgbClr val="26D0C3"/>
            </a:solidFill>
            <a:prstDash val="solid"/>
          </a:ln>
        </p:spPr>
      </p:sp>
      <p:sp>
        <p:nvSpPr>
          <p:cNvPr id="27" name="">
            <a:extLst xmlns:a="http://schemas.openxmlformats.org/drawingml/2006/main">
              <a:ext uri="{FF2B5EF4-FFF2-40B4-BE49-F238E27FC236}">
                <a16:creationId xmlns:a16="http://schemas.microsoft.com/office/drawing/2014/main" id="{41247F3D-808A-43E9-9FCD-6F1EFA070829}"/>
              </a:ext>
            </a:extLst>
          </p:cNvPr>
          <p:cNvSpPr>
            <a:spLocks xmlns:a="http://schemas.openxmlformats.org/drawingml/2006/main" noGrp="1"/>
          </p:cNvSpPr>
          <p:nvPr/>
        </p:nvSpPr>
        <p:spPr>
          <a:xfrm xmlns:a="http://schemas.openxmlformats.org/drawingml/2006/main">
            <a:off x="8048625" y="2695575"/>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5F8FB"/>
                </a:solidFill>
              </a:defRPr>
            </a:pPr>
            <a:r>
              <a:rPr sz="1950" b="1">
                <a:solidFill>
                  <a:srgbClr val="F5F8FB"/>
                </a:solidFill>
              </a:rPr>
              <a:t>4</a:t>
            </a:r>
          </a:p>
        </p:txBody>
      </p:sp>
      <p:sp>
        <p:nvSpPr>
          <p:cNvPr id="28" name="">
            <a:extLst xmlns:a="http://schemas.openxmlformats.org/drawingml/2006/main">
              <a:ext uri="{FF2B5EF4-FFF2-40B4-BE49-F238E27FC236}">
                <a16:creationId xmlns:a16="http://schemas.microsoft.com/office/drawing/2014/main" id="{AA728CEC-DC67-4A4A-93B0-7E484EE1A5A9}"/>
              </a:ext>
            </a:extLst>
          </p:cNvPr>
          <p:cNvSpPr>
            <a:spLocks xmlns:a="http://schemas.openxmlformats.org/drawingml/2006/main" noGrp="1"/>
          </p:cNvSpPr>
          <p:nvPr/>
        </p:nvSpPr>
        <p:spPr>
          <a:xfrm xmlns:a="http://schemas.openxmlformats.org/drawingml/2006/main">
            <a:off x="7486650" y="357187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5F8FB"/>
                </a:solidFill>
              </a:defRPr>
            </a:pPr>
            <a:r>
              <a:rPr sz="1650" b="1">
                <a:solidFill>
                  <a:srgbClr val="F5F8FB"/>
                </a:solidFill>
              </a:rPr>
              <a:t>Evaluate</a:t>
            </a:r>
          </a:p>
        </p:txBody>
      </p:sp>
      <p:sp>
        <p:nvSpPr>
          <p:cNvPr id="29" name="">
            <a:extLst xmlns:a="http://schemas.openxmlformats.org/drawingml/2006/main">
              <a:ext uri="{FF2B5EF4-FFF2-40B4-BE49-F238E27FC236}">
                <a16:creationId xmlns:a16="http://schemas.microsoft.com/office/drawing/2014/main" id="{731192AE-E987-4058-962C-DA9DE97A7298}"/>
              </a:ext>
            </a:extLst>
          </p:cNvPr>
          <p:cNvSpPr>
            <a:spLocks xmlns:a="http://schemas.openxmlformats.org/drawingml/2006/main" noGrp="1"/>
          </p:cNvSpPr>
          <p:nvPr/>
        </p:nvSpPr>
        <p:spPr>
          <a:xfrm xmlns:a="http://schemas.openxmlformats.org/drawingml/2006/main">
            <a:off x="7315200" y="4000500"/>
            <a:ext cx="1866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AEC0CB"/>
                </a:solidFill>
              </a:defRPr>
            </a:pPr>
            <a:r>
              <a:rPr sz="1200" b="0">
                <a:solidFill>
                  <a:srgbClr val="AEC0CB"/>
                </a:solidFill>
              </a:rPr>
              <a:t>tests + benchmarks</a:t>
            </a:r>
          </a:p>
        </p:txBody>
      </p:sp>
      <p:sp>
        <p:nvSpPr>
          <p:cNvPr id="30" name="">
            <a:extLst xmlns:a="http://schemas.openxmlformats.org/drawingml/2006/main">
              <a:ext uri="{FF2B5EF4-FFF2-40B4-BE49-F238E27FC236}">
                <a16:creationId xmlns:a16="http://schemas.microsoft.com/office/drawing/2014/main" id="{137E6FBB-F7DF-4B86-B6D6-F3821FAB79E2}"/>
              </a:ext>
            </a:extLst>
          </p:cNvPr>
          <p:cNvSpPr>
            <a:spLocks xmlns:a="http://schemas.openxmlformats.org/drawingml/2006/main" noGrp="1"/>
          </p:cNvSpPr>
          <p:nvPr/>
        </p:nvSpPr>
        <p:spPr>
          <a:xfrm xmlns:a="http://schemas.openxmlformats.org/drawingml/2006/main">
            <a:off x="10153650" y="2524125"/>
            <a:ext cx="800100" cy="800100"/>
          </a:xfrm>
          <a:prstGeom xmlns:a="http://schemas.openxmlformats.org/drawingml/2006/main" prst="ellipse">
            <a:avLst/>
          </a:prstGeom>
          <a:solidFill xmlns:a="http://schemas.openxmlformats.org/drawingml/2006/main">
            <a:srgbClr val="26D0C3"/>
          </a:solidFill>
          <a:ln xmlns:a="http://schemas.openxmlformats.org/drawingml/2006/main" w="19050">
            <a:solidFill>
              <a:srgbClr val="26D0C3"/>
            </a:solidFill>
            <a:prstDash val="solid"/>
          </a:ln>
        </p:spPr>
      </p:sp>
      <p:sp>
        <p:nvSpPr>
          <p:cNvPr id="31" name="">
            <a:extLst xmlns:a="http://schemas.openxmlformats.org/drawingml/2006/main">
              <a:ext uri="{FF2B5EF4-FFF2-40B4-BE49-F238E27FC236}">
                <a16:creationId xmlns:a16="http://schemas.microsoft.com/office/drawing/2014/main" id="{A4E41841-9C21-4C2F-B2C8-28851022E4ED}"/>
              </a:ext>
            </a:extLst>
          </p:cNvPr>
          <p:cNvSpPr>
            <a:spLocks xmlns:a="http://schemas.openxmlformats.org/drawingml/2006/main" noGrp="1"/>
          </p:cNvSpPr>
          <p:nvPr/>
        </p:nvSpPr>
        <p:spPr>
          <a:xfrm xmlns:a="http://schemas.openxmlformats.org/drawingml/2006/main">
            <a:off x="10353675" y="2695575"/>
            <a:ext cx="400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06131F"/>
                </a:solidFill>
              </a:defRPr>
            </a:pPr>
            <a:r>
              <a:rPr sz="1950" b="1">
                <a:solidFill>
                  <a:srgbClr val="06131F"/>
                </a:solidFill>
              </a:rPr>
              <a:t>5</a:t>
            </a:r>
          </a:p>
        </p:txBody>
      </p:sp>
      <p:sp>
        <p:nvSpPr>
          <p:cNvPr id="32" name="">
            <a:extLst xmlns:a="http://schemas.openxmlformats.org/drawingml/2006/main">
              <a:ext uri="{FF2B5EF4-FFF2-40B4-BE49-F238E27FC236}">
                <a16:creationId xmlns:a16="http://schemas.microsoft.com/office/drawing/2014/main" id="{46B5D443-2601-4AEF-B3A0-6941A66D35C6}"/>
              </a:ext>
            </a:extLst>
          </p:cNvPr>
          <p:cNvSpPr>
            <a:spLocks xmlns:a="http://schemas.openxmlformats.org/drawingml/2006/main" noGrp="1"/>
          </p:cNvSpPr>
          <p:nvPr/>
        </p:nvSpPr>
        <p:spPr>
          <a:xfrm xmlns:a="http://schemas.openxmlformats.org/drawingml/2006/main">
            <a:off x="9791700" y="357187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5F8FB"/>
                </a:solidFill>
              </a:defRPr>
            </a:pPr>
            <a:r>
              <a:rPr sz="1650" b="1">
                <a:solidFill>
                  <a:srgbClr val="F5F8FB"/>
                </a:solidFill>
              </a:rPr>
              <a:t>Package</a:t>
            </a:r>
          </a:p>
        </p:txBody>
      </p:sp>
      <p:sp>
        <p:nvSpPr>
          <p:cNvPr id="33" name="">
            <a:extLst xmlns:a="http://schemas.openxmlformats.org/drawingml/2006/main">
              <a:ext uri="{FF2B5EF4-FFF2-40B4-BE49-F238E27FC236}">
                <a16:creationId xmlns:a16="http://schemas.microsoft.com/office/drawing/2014/main" id="{7A08E4EE-1CB2-4A9D-8E76-A0ECC7D7D89B}"/>
              </a:ext>
            </a:extLst>
          </p:cNvPr>
          <p:cNvSpPr>
            <a:spLocks xmlns:a="http://schemas.openxmlformats.org/drawingml/2006/main" noGrp="1"/>
          </p:cNvSpPr>
          <p:nvPr/>
        </p:nvSpPr>
        <p:spPr>
          <a:xfrm xmlns:a="http://schemas.openxmlformats.org/drawingml/2006/main">
            <a:off x="9620250" y="4000500"/>
            <a:ext cx="1866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AEC0CB"/>
                </a:solidFill>
              </a:defRPr>
            </a:pPr>
            <a:r>
              <a:rPr sz="1200" b="0">
                <a:solidFill>
                  <a:srgbClr val="AEC0CB"/>
                </a:solidFill>
              </a:rPr>
              <a:t>docs + release</a:t>
            </a:r>
          </a:p>
        </p:txBody>
      </p:sp>
      <p:sp>
        <p:nvSpPr>
          <p:cNvPr id="34" name="">
            <a:extLst xmlns:a="http://schemas.openxmlformats.org/drawingml/2006/main">
              <a:ext uri="{FF2B5EF4-FFF2-40B4-BE49-F238E27FC236}">
                <a16:creationId xmlns:a16="http://schemas.microsoft.com/office/drawing/2014/main" id="{3BE4A1F5-0A28-4AA2-944D-D26345C5D7EA}"/>
              </a:ext>
            </a:extLst>
          </p:cNvPr>
          <p:cNvSpPr>
            <a:spLocks xmlns:a="http://schemas.openxmlformats.org/drawingml/2006/main" noGrp="1"/>
          </p:cNvSpPr>
          <p:nvPr/>
        </p:nvSpPr>
        <p:spPr>
          <a:xfrm xmlns:a="http://schemas.openxmlformats.org/drawingml/2006/main">
            <a:off x="1571625" y="5143500"/>
            <a:ext cx="904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68D8FF"/>
                </a:solidFill>
              </a:defRPr>
            </a:pPr>
            <a:r>
              <a:rPr sz="2025" b="1">
                <a:solidFill>
                  <a:srgbClr val="68D8FF"/>
                </a:solidFill>
              </a:rPr>
              <a:t>Security and verification were implementation boundaries—not final-stage add-ons.</a:t>
            </a:r>
          </a:p>
        </p:txBody>
      </p:sp>
    </p:spTree>
    <p:extLst>
      <p:ext uri="{BB962C8B-B14F-4D97-AF65-F5344CB8AC3E}">
        <p14:creationId xmlns:p14="http://schemas.microsoft.com/office/powerpoint/2010/main" val="1046514400"/>
      </p:ext>
    </p:extLst>
  </p:cSld>
</p:sld>
</file>

<file path=ppt/slides/slide5.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7A53C7D-57C9-41E1-9C17-8F265284DD10}"/>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9B92D49F-8203-4FEA-A60B-ED9B433A902C}"/>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SYSTEM ARCHITECTURE</a:t>
            </a:r>
          </a:p>
        </p:txBody>
      </p:sp>
      <p:sp>
        <p:nvSpPr>
          <p:cNvPr id="3" name="title-5">
            <a:extLst xmlns:a="http://schemas.openxmlformats.org/drawingml/2006/main">
              <a:ext uri="{FF2B5EF4-FFF2-40B4-BE49-F238E27FC236}">
                <a16:creationId xmlns:a16="http://schemas.microsoft.com/office/drawing/2014/main" id="{85D43C5D-F255-4B13-8929-BA48F55434C6}"/>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Two paths converge at one security and evidence boundary</a:t>
            </a:r>
          </a:p>
        </p:txBody>
      </p:sp>
      <p:sp>
        <p:nvSpPr>
          <p:cNvPr id="4" name="">
            <a:extLst xmlns:a="http://schemas.openxmlformats.org/drawingml/2006/main">
              <a:ext uri="{FF2B5EF4-FFF2-40B4-BE49-F238E27FC236}">
                <a16:creationId xmlns:a16="http://schemas.microsoft.com/office/drawing/2014/main" id="{17AE3D0E-7907-48C4-A1B1-8E7A921AB206}"/>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1151A7D1-697A-4FB8-B85C-B05FA1AB840D}"/>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05</a:t>
            </a:r>
          </a:p>
        </p:txBody>
      </p:sp>
      <p:sp>
        <p:nvSpPr>
          <p:cNvPr id="6" name="arch-0">
            <a:extLst xmlns:a="http://schemas.openxmlformats.org/drawingml/2006/main">
              <a:ext uri="{FF2B5EF4-FFF2-40B4-BE49-F238E27FC236}">
                <a16:creationId xmlns:a16="http://schemas.microsoft.com/office/drawing/2014/main" id="{A6BEE54D-031F-4882-8FDB-8E80FA004836}"/>
              </a:ext>
            </a:extLst>
          </p:cNvPr>
          <p:cNvSpPr>
            <a:spLocks xmlns:a="http://schemas.openxmlformats.org/drawingml/2006/main" noGrp="1"/>
          </p:cNvSpPr>
          <p:nvPr/>
        </p:nvSpPr>
        <p:spPr>
          <a:xfrm xmlns:a="http://schemas.openxmlformats.org/drawingml/2006/main">
            <a:off x="857250" y="2238375"/>
            <a:ext cx="1809750" cy="876300"/>
          </a:xfrm>
          <a:prstGeom xmlns:a="http://schemas.openxmlformats.org/drawingml/2006/main" prst="roundRect">
            <a:avLst>
              <a:gd name="adj" fmla="val 13043"/>
            </a:avLst>
          </a:prstGeom>
          <a:solidFill xmlns:a="http://schemas.openxmlformats.org/drawingml/2006/main">
            <a:srgbClr val="102A3D"/>
          </a:solidFill>
          <a:ln xmlns:a="http://schemas.openxmlformats.org/drawingml/2006/main" w="9525">
            <a:solidFill>
              <a:srgbClr val="29495B"/>
            </a:solidFill>
            <a:prstDash val="solid"/>
          </a:ln>
        </p:spPr>
      </p:sp>
      <p:sp>
        <p:nvSpPr>
          <p:cNvPr id="7" name="arch-1">
            <a:extLst xmlns:a="http://schemas.openxmlformats.org/drawingml/2006/main">
              <a:ext uri="{FF2B5EF4-FFF2-40B4-BE49-F238E27FC236}">
                <a16:creationId xmlns:a16="http://schemas.microsoft.com/office/drawing/2014/main" id="{BB764649-BDD3-4B07-8A34-10B7EE09F2B1}"/>
              </a:ext>
            </a:extLst>
          </p:cNvPr>
          <p:cNvSpPr>
            <a:spLocks xmlns:a="http://schemas.openxmlformats.org/drawingml/2006/main" noGrp="1"/>
          </p:cNvSpPr>
          <p:nvPr/>
        </p:nvSpPr>
        <p:spPr>
          <a:xfrm xmlns:a="http://schemas.openxmlformats.org/drawingml/2006/main">
            <a:off x="3143250" y="2238375"/>
            <a:ext cx="1809750" cy="876300"/>
          </a:xfrm>
          <a:prstGeom xmlns:a="http://schemas.openxmlformats.org/drawingml/2006/main" prst="roundRect">
            <a:avLst>
              <a:gd name="adj" fmla="val 13043"/>
            </a:avLst>
          </a:prstGeom>
          <a:solidFill xmlns:a="http://schemas.openxmlformats.org/drawingml/2006/main">
            <a:srgbClr val="102A3D"/>
          </a:solidFill>
          <a:ln xmlns:a="http://schemas.openxmlformats.org/drawingml/2006/main" w="9525">
            <a:solidFill>
              <a:srgbClr val="29495B"/>
            </a:solidFill>
            <a:prstDash val="solid"/>
          </a:ln>
        </p:spPr>
      </p:sp>
      <p:sp>
        <p:nvSpPr>
          <p:cNvPr id="8" name="arch-2">
            <a:extLst xmlns:a="http://schemas.openxmlformats.org/drawingml/2006/main">
              <a:ext uri="{FF2B5EF4-FFF2-40B4-BE49-F238E27FC236}">
                <a16:creationId xmlns:a16="http://schemas.microsoft.com/office/drawing/2014/main" id="{4AA13E1C-68D2-4920-8E1C-58FDC911C032}"/>
              </a:ext>
            </a:extLst>
          </p:cNvPr>
          <p:cNvSpPr>
            <a:spLocks xmlns:a="http://schemas.openxmlformats.org/drawingml/2006/main" noGrp="1"/>
          </p:cNvSpPr>
          <p:nvPr/>
        </p:nvSpPr>
        <p:spPr>
          <a:xfrm xmlns:a="http://schemas.openxmlformats.org/drawingml/2006/main">
            <a:off x="5429250" y="2238375"/>
            <a:ext cx="1809750" cy="876300"/>
          </a:xfrm>
          <a:prstGeom xmlns:a="http://schemas.openxmlformats.org/drawingml/2006/main" prst="roundRect">
            <a:avLst>
              <a:gd name="adj" fmla="val 13043"/>
            </a:avLst>
          </a:prstGeom>
          <a:solidFill xmlns:a="http://schemas.openxmlformats.org/drawingml/2006/main">
            <a:srgbClr val="102A3D"/>
          </a:solidFill>
          <a:ln xmlns:a="http://schemas.openxmlformats.org/drawingml/2006/main" w="9525">
            <a:solidFill>
              <a:srgbClr val="29495B"/>
            </a:solidFill>
            <a:prstDash val="solid"/>
          </a:ln>
        </p:spPr>
      </p:sp>
      <p:sp>
        <p:nvSpPr>
          <p:cNvPr id="9" name="arch-3">
            <a:extLst xmlns:a="http://schemas.openxmlformats.org/drawingml/2006/main">
              <a:ext uri="{FF2B5EF4-FFF2-40B4-BE49-F238E27FC236}">
                <a16:creationId xmlns:a16="http://schemas.microsoft.com/office/drawing/2014/main" id="{B6464038-5F79-48DA-9459-41228F65E599}"/>
              </a:ext>
            </a:extLst>
          </p:cNvPr>
          <p:cNvSpPr>
            <a:spLocks xmlns:a="http://schemas.openxmlformats.org/drawingml/2006/main" noGrp="1"/>
          </p:cNvSpPr>
          <p:nvPr/>
        </p:nvSpPr>
        <p:spPr>
          <a:xfrm xmlns:a="http://schemas.openxmlformats.org/drawingml/2006/main">
            <a:off x="7715250" y="2238375"/>
            <a:ext cx="1809750" cy="876300"/>
          </a:xfrm>
          <a:prstGeom xmlns:a="http://schemas.openxmlformats.org/drawingml/2006/main" prst="roundRect">
            <a:avLst>
              <a:gd name="adj" fmla="val 13043"/>
            </a:avLst>
          </a:prstGeom>
          <a:solidFill xmlns:a="http://schemas.openxmlformats.org/drawingml/2006/main">
            <a:srgbClr val="102A3D"/>
          </a:solidFill>
          <a:ln xmlns:a="http://schemas.openxmlformats.org/drawingml/2006/main" w="9525">
            <a:solidFill>
              <a:srgbClr val="29495B"/>
            </a:solidFill>
            <a:prstDash val="solid"/>
          </a:ln>
        </p:spPr>
      </p:sp>
      <p:sp>
        <p:nvSpPr>
          <p:cNvPr id="10" name="arch-4">
            <a:extLst xmlns:a="http://schemas.openxmlformats.org/drawingml/2006/main">
              <a:ext uri="{FF2B5EF4-FFF2-40B4-BE49-F238E27FC236}">
                <a16:creationId xmlns:a16="http://schemas.microsoft.com/office/drawing/2014/main" id="{E13FD60A-5FF3-4B56-8CF7-2DAEE55DE080}"/>
              </a:ext>
            </a:extLst>
          </p:cNvPr>
          <p:cNvSpPr>
            <a:spLocks xmlns:a="http://schemas.openxmlformats.org/drawingml/2006/main" noGrp="1"/>
          </p:cNvSpPr>
          <p:nvPr/>
        </p:nvSpPr>
        <p:spPr>
          <a:xfrm xmlns:a="http://schemas.openxmlformats.org/drawingml/2006/main">
            <a:off x="857250" y="4286250"/>
            <a:ext cx="1809750" cy="876300"/>
          </a:xfrm>
          <a:prstGeom xmlns:a="http://schemas.openxmlformats.org/drawingml/2006/main" prst="roundRect">
            <a:avLst>
              <a:gd name="adj" fmla="val 13043"/>
            </a:avLst>
          </a:prstGeom>
          <a:solidFill xmlns:a="http://schemas.openxmlformats.org/drawingml/2006/main">
            <a:srgbClr val="102A3D"/>
          </a:solidFill>
          <a:ln xmlns:a="http://schemas.openxmlformats.org/drawingml/2006/main" w="9525">
            <a:solidFill>
              <a:srgbClr val="29495B"/>
            </a:solidFill>
            <a:prstDash val="solid"/>
          </a:ln>
        </p:spPr>
      </p:sp>
      <p:sp>
        <p:nvSpPr>
          <p:cNvPr id="11" name="arch-5">
            <a:extLst xmlns:a="http://schemas.openxmlformats.org/drawingml/2006/main">
              <a:ext uri="{FF2B5EF4-FFF2-40B4-BE49-F238E27FC236}">
                <a16:creationId xmlns:a16="http://schemas.microsoft.com/office/drawing/2014/main" id="{FD8A9232-C976-4412-9A44-EFC9E81ED234}"/>
              </a:ext>
            </a:extLst>
          </p:cNvPr>
          <p:cNvSpPr>
            <a:spLocks xmlns:a="http://schemas.openxmlformats.org/drawingml/2006/main" noGrp="1"/>
          </p:cNvSpPr>
          <p:nvPr/>
        </p:nvSpPr>
        <p:spPr>
          <a:xfrm xmlns:a="http://schemas.openxmlformats.org/drawingml/2006/main">
            <a:off x="3143250" y="4286250"/>
            <a:ext cx="1809750" cy="876300"/>
          </a:xfrm>
          <a:prstGeom xmlns:a="http://schemas.openxmlformats.org/drawingml/2006/main" prst="roundRect">
            <a:avLst>
              <a:gd name="adj" fmla="val 13043"/>
            </a:avLst>
          </a:prstGeom>
          <a:solidFill xmlns:a="http://schemas.openxmlformats.org/drawingml/2006/main">
            <a:srgbClr val="102A3D"/>
          </a:solidFill>
          <a:ln xmlns:a="http://schemas.openxmlformats.org/drawingml/2006/main" w="9525">
            <a:solidFill>
              <a:srgbClr val="29495B"/>
            </a:solidFill>
            <a:prstDash val="solid"/>
          </a:ln>
        </p:spPr>
      </p:sp>
      <p:sp>
        <p:nvSpPr>
          <p:cNvPr id="12" name="arch-6">
            <a:extLst xmlns:a="http://schemas.openxmlformats.org/drawingml/2006/main">
              <a:ext uri="{FF2B5EF4-FFF2-40B4-BE49-F238E27FC236}">
                <a16:creationId xmlns:a16="http://schemas.microsoft.com/office/drawing/2014/main" id="{57563180-50D9-4030-8618-72D0466CB99B}"/>
              </a:ext>
            </a:extLst>
          </p:cNvPr>
          <p:cNvSpPr>
            <a:spLocks xmlns:a="http://schemas.openxmlformats.org/drawingml/2006/main" noGrp="1"/>
          </p:cNvSpPr>
          <p:nvPr/>
        </p:nvSpPr>
        <p:spPr>
          <a:xfrm xmlns:a="http://schemas.openxmlformats.org/drawingml/2006/main">
            <a:off x="5429250" y="4286250"/>
            <a:ext cx="1809750" cy="876300"/>
          </a:xfrm>
          <a:prstGeom xmlns:a="http://schemas.openxmlformats.org/drawingml/2006/main" prst="roundRect">
            <a:avLst>
              <a:gd name="adj" fmla="val 13043"/>
            </a:avLst>
          </a:prstGeom>
          <a:solidFill xmlns:a="http://schemas.openxmlformats.org/drawingml/2006/main">
            <a:srgbClr val="0D3940"/>
          </a:solidFill>
          <a:ln xmlns:a="http://schemas.openxmlformats.org/drawingml/2006/main" w="9525">
            <a:solidFill>
              <a:srgbClr val="26D0C3"/>
            </a:solidFill>
            <a:prstDash val="solid"/>
          </a:ln>
        </p:spPr>
      </p:sp>
      <p:sp>
        <p:nvSpPr>
          <p:cNvPr id="13" name="arch-7">
            <a:extLst xmlns:a="http://schemas.openxmlformats.org/drawingml/2006/main">
              <a:ext uri="{FF2B5EF4-FFF2-40B4-BE49-F238E27FC236}">
                <a16:creationId xmlns:a16="http://schemas.microsoft.com/office/drawing/2014/main" id="{DCDFD1EF-9A63-4157-8B5C-5FFF32D5A484}"/>
              </a:ext>
            </a:extLst>
          </p:cNvPr>
          <p:cNvSpPr>
            <a:spLocks xmlns:a="http://schemas.openxmlformats.org/drawingml/2006/main" noGrp="1"/>
          </p:cNvSpPr>
          <p:nvPr/>
        </p:nvSpPr>
        <p:spPr>
          <a:xfrm xmlns:a="http://schemas.openxmlformats.org/drawingml/2006/main">
            <a:off x="7715250" y="4286250"/>
            <a:ext cx="1809750" cy="876300"/>
          </a:xfrm>
          <a:prstGeom xmlns:a="http://schemas.openxmlformats.org/drawingml/2006/main" prst="roundRect">
            <a:avLst>
              <a:gd name="adj" fmla="val 13043"/>
            </a:avLst>
          </a:prstGeom>
          <a:solidFill xmlns:a="http://schemas.openxmlformats.org/drawingml/2006/main">
            <a:srgbClr val="102A3D"/>
          </a:solidFill>
          <a:ln xmlns:a="http://schemas.openxmlformats.org/drawingml/2006/main" w="9525">
            <a:solidFill>
              <a:srgbClr val="29495B"/>
            </a:solidFill>
            <a:prstDash val="solid"/>
          </a:ln>
        </p:spPr>
      </p:sp>
      <p:sp>
        <p:nvSpPr>
          <p:cNvPr id="14" name="arch-8">
            <a:extLst xmlns:a="http://schemas.openxmlformats.org/drawingml/2006/main">
              <a:ext uri="{FF2B5EF4-FFF2-40B4-BE49-F238E27FC236}">
                <a16:creationId xmlns:a16="http://schemas.microsoft.com/office/drawing/2014/main" id="{CE940F6B-03E7-41D1-8D42-EB7B7CA169ED}"/>
              </a:ext>
            </a:extLst>
          </p:cNvPr>
          <p:cNvSpPr>
            <a:spLocks xmlns:a="http://schemas.openxmlformats.org/drawingml/2006/main" noGrp="1"/>
          </p:cNvSpPr>
          <p:nvPr/>
        </p:nvSpPr>
        <p:spPr>
          <a:xfrm xmlns:a="http://schemas.openxmlformats.org/drawingml/2006/main">
            <a:off x="10001250" y="3267075"/>
            <a:ext cx="1428750" cy="876300"/>
          </a:xfrm>
          <a:prstGeom xmlns:a="http://schemas.openxmlformats.org/drawingml/2006/main" prst="roundRect">
            <a:avLst>
              <a:gd name="adj" fmla="val 13043"/>
            </a:avLst>
          </a:prstGeom>
          <a:solidFill xmlns:a="http://schemas.openxmlformats.org/drawingml/2006/main">
            <a:srgbClr val="102A3D"/>
          </a:solidFill>
          <a:ln xmlns:a="http://schemas.openxmlformats.org/drawingml/2006/main" w="9525">
            <a:solidFill>
              <a:srgbClr val="29495B"/>
            </a:solidFill>
            <a:prstDash val="solid"/>
          </a:ln>
        </p:spPr>
      </p:sp>
      <p:cxnSp>
        <p:nvCxnSpPr>
          <p:cNvPr id="58" name=""/>
          <p:cNvCxnSpPr>
            <a:stCxn xmlns:a="http://schemas.openxmlformats.org/drawingml/2006/main" id="6" idx="3"/>
            <a:endCxn xmlns:a="http://schemas.openxmlformats.org/drawingml/2006/main" id="7" idx="1"/>
          </p:cNvCxnSpPr>
          <p:nvPr/>
        </p:nvCxnSpPr>
        <p:spPr>
          <a:xfrm xmlns:a="http://schemas.openxmlformats.org/drawingml/2006/main">
            <a:off x="2667000" y="2676525"/>
            <a:ext cx="476250" cy="0"/>
          </a:xfrm>
          <a:prstGeom xmlns:a="http://schemas.openxmlformats.org/drawingml/2006/main" prst="straightConnector1">
            <a:avLst/>
          </a:prstGeom>
          <a:ln xmlns:a="http://schemas.openxmlformats.org/drawingml/2006/main" w="19050">
            <a:solidFill>
              <a:srgbClr val="68D8FF"/>
            </a:solidFill>
            <a:prstDash val="solid"/>
            <a:tailEnd type="arrow" w="sm" len="sm"/>
          </a:ln>
        </p:spPr>
      </p:cxnSp>
      <p:cxnSp>
        <p:nvCxnSpPr>
          <p:cNvPr id="59" name=""/>
          <p:cNvCxnSpPr>
            <a:stCxn xmlns:a="http://schemas.openxmlformats.org/drawingml/2006/main" id="7" idx="3"/>
            <a:endCxn xmlns:a="http://schemas.openxmlformats.org/drawingml/2006/main" id="8" idx="1"/>
          </p:cNvCxnSpPr>
          <p:nvPr/>
        </p:nvCxnSpPr>
        <p:spPr>
          <a:xfrm xmlns:a="http://schemas.openxmlformats.org/drawingml/2006/main">
            <a:off x="4953000" y="2676525"/>
            <a:ext cx="476250" cy="0"/>
          </a:xfrm>
          <a:prstGeom xmlns:a="http://schemas.openxmlformats.org/drawingml/2006/main" prst="straightConnector1">
            <a:avLst/>
          </a:prstGeom>
          <a:ln xmlns:a="http://schemas.openxmlformats.org/drawingml/2006/main" w="19050">
            <a:solidFill>
              <a:srgbClr val="68D8FF"/>
            </a:solidFill>
            <a:prstDash val="solid"/>
            <a:tailEnd type="arrow" w="sm" len="sm"/>
          </a:ln>
        </p:spPr>
      </p:cxnSp>
      <p:cxnSp>
        <p:nvCxnSpPr>
          <p:cNvPr id="60" name=""/>
          <p:cNvCxnSpPr>
            <a:stCxn xmlns:a="http://schemas.openxmlformats.org/drawingml/2006/main" id="8" idx="3"/>
            <a:endCxn xmlns:a="http://schemas.openxmlformats.org/drawingml/2006/main" id="9" idx="1"/>
          </p:cNvCxnSpPr>
          <p:nvPr/>
        </p:nvCxnSpPr>
        <p:spPr>
          <a:xfrm xmlns:a="http://schemas.openxmlformats.org/drawingml/2006/main">
            <a:off x="7239000" y="2676525"/>
            <a:ext cx="476250" cy="0"/>
          </a:xfrm>
          <a:prstGeom xmlns:a="http://schemas.openxmlformats.org/drawingml/2006/main" prst="straightConnector1">
            <a:avLst/>
          </a:prstGeom>
          <a:ln xmlns:a="http://schemas.openxmlformats.org/drawingml/2006/main" w="19050">
            <a:solidFill>
              <a:srgbClr val="68D8FF"/>
            </a:solidFill>
            <a:prstDash val="solid"/>
            <a:tailEnd type="arrow" w="sm" len="sm"/>
          </a:ln>
        </p:spPr>
      </p:cxnSp>
      <p:cxnSp>
        <p:nvCxnSpPr>
          <p:cNvPr id="61" name=""/>
          <p:cNvCxnSpPr>
            <a:stCxn xmlns:a="http://schemas.openxmlformats.org/drawingml/2006/main" id="10" idx="3"/>
            <a:endCxn xmlns:a="http://schemas.openxmlformats.org/drawingml/2006/main" id="11" idx="1"/>
          </p:cNvCxnSpPr>
          <p:nvPr/>
        </p:nvCxnSpPr>
        <p:spPr>
          <a:xfrm xmlns:a="http://schemas.openxmlformats.org/drawingml/2006/main">
            <a:off x="2667000" y="4724400"/>
            <a:ext cx="476250" cy="0"/>
          </a:xfrm>
          <a:prstGeom xmlns:a="http://schemas.openxmlformats.org/drawingml/2006/main" prst="straightConnector1">
            <a:avLst/>
          </a:prstGeom>
          <a:ln xmlns:a="http://schemas.openxmlformats.org/drawingml/2006/main" w="19050">
            <a:solidFill>
              <a:srgbClr val="68D8FF"/>
            </a:solidFill>
            <a:prstDash val="solid"/>
            <a:tailEnd type="arrow" w="sm" len="sm"/>
          </a:ln>
        </p:spPr>
      </p:cxnSp>
      <p:cxnSp>
        <p:nvCxnSpPr>
          <p:cNvPr id="62" name=""/>
          <p:cNvCxnSpPr>
            <a:stCxn xmlns:a="http://schemas.openxmlformats.org/drawingml/2006/main" id="11" idx="3"/>
            <a:endCxn xmlns:a="http://schemas.openxmlformats.org/drawingml/2006/main" id="12" idx="1"/>
          </p:cNvCxnSpPr>
          <p:nvPr/>
        </p:nvCxnSpPr>
        <p:spPr>
          <a:xfrm xmlns:a="http://schemas.openxmlformats.org/drawingml/2006/main">
            <a:off x="4953000" y="4724400"/>
            <a:ext cx="476250" cy="0"/>
          </a:xfrm>
          <a:prstGeom xmlns:a="http://schemas.openxmlformats.org/drawingml/2006/main" prst="straightConnector1">
            <a:avLst/>
          </a:prstGeom>
          <a:ln xmlns:a="http://schemas.openxmlformats.org/drawingml/2006/main" w="19050">
            <a:solidFill>
              <a:srgbClr val="68D8FF"/>
            </a:solidFill>
            <a:prstDash val="solid"/>
            <a:tailEnd type="arrow" w="sm" len="sm"/>
          </a:ln>
        </p:spPr>
      </p:cxnSp>
      <p:cxnSp>
        <p:nvCxnSpPr>
          <p:cNvPr id="63" name=""/>
          <p:cNvCxnSpPr>
            <a:stCxn xmlns:a="http://schemas.openxmlformats.org/drawingml/2006/main" id="12" idx="3"/>
            <a:endCxn xmlns:a="http://schemas.openxmlformats.org/drawingml/2006/main" id="13" idx="1"/>
          </p:cNvCxnSpPr>
          <p:nvPr/>
        </p:nvCxnSpPr>
        <p:spPr>
          <a:xfrm xmlns:a="http://schemas.openxmlformats.org/drawingml/2006/main">
            <a:off x="7239000" y="4724400"/>
            <a:ext cx="476250" cy="0"/>
          </a:xfrm>
          <a:prstGeom xmlns:a="http://schemas.openxmlformats.org/drawingml/2006/main" prst="straightConnector1">
            <a:avLst/>
          </a:prstGeom>
          <a:ln xmlns:a="http://schemas.openxmlformats.org/drawingml/2006/main" w="19050">
            <a:solidFill>
              <a:srgbClr val="68D8FF"/>
            </a:solidFill>
            <a:prstDash val="solid"/>
            <a:tailEnd type="arrow" w="sm" len="sm"/>
          </a:ln>
        </p:spPr>
      </p:cxnSp>
      <p:cxnSp>
        <p:nvCxnSpPr>
          <p:cNvPr id="64" name=""/>
          <p:cNvCxnSpPr>
            <a:stCxn xmlns:a="http://schemas.openxmlformats.org/drawingml/2006/main" id="9" idx="3"/>
            <a:endCxn xmlns:a="http://schemas.openxmlformats.org/drawingml/2006/main" id="14" idx="1"/>
          </p:cNvCxnSpPr>
          <p:nvPr/>
        </p:nvCxnSpPr>
        <p:spPr>
          <a:xfrm xmlns:a="http://schemas.openxmlformats.org/drawingml/2006/main">
            <a:off x="9525000" y="2676525"/>
            <a:ext cx="476250" cy="1028700"/>
          </a:xfrm>
          <a:prstGeom xmlns:a="http://schemas.openxmlformats.org/drawingml/2006/main" prst="bentConnector3">
            <a:avLst>
              <a:gd name="adj1" fmla="val 50000"/>
            </a:avLst>
          </a:prstGeom>
          <a:ln xmlns:a="http://schemas.openxmlformats.org/drawingml/2006/main" w="19050">
            <a:solidFill>
              <a:srgbClr val="68D8FF"/>
            </a:solidFill>
            <a:prstDash val="solid"/>
            <a:tailEnd type="arrow" w="sm" len="sm"/>
          </a:ln>
        </p:spPr>
      </p:cxnSp>
      <p:cxnSp>
        <p:nvCxnSpPr>
          <p:cNvPr id="65" name=""/>
          <p:cNvCxnSpPr>
            <a:stCxn xmlns:a="http://schemas.openxmlformats.org/drawingml/2006/main" id="13" idx="3"/>
            <a:endCxn xmlns:a="http://schemas.openxmlformats.org/drawingml/2006/main" id="14" idx="1"/>
          </p:cNvCxnSpPr>
          <p:nvPr/>
        </p:nvCxnSpPr>
        <p:spPr>
          <a:xfrm xmlns:a="http://schemas.openxmlformats.org/drawingml/2006/main" flipV="1">
            <a:off x="9525000" y="3705225"/>
            <a:ext cx="476250" cy="1019175"/>
          </a:xfrm>
          <a:prstGeom xmlns:a="http://schemas.openxmlformats.org/drawingml/2006/main" prst="bentConnector3">
            <a:avLst>
              <a:gd name="adj1" fmla="val 50000"/>
            </a:avLst>
          </a:prstGeom>
          <a:ln xmlns:a="http://schemas.openxmlformats.org/drawingml/2006/main" w="19050">
            <a:solidFill>
              <a:srgbClr val="68D8FF"/>
            </a:solidFill>
            <a:prstDash val="solid"/>
            <a:tailEnd type="arrow" w="sm" len="sm"/>
          </a:ln>
        </p:spPr>
      </p:cxnSp>
      <p:cxnSp>
        <p:nvCxnSpPr>
          <p:cNvPr id="66" name=""/>
          <p:cNvCxnSpPr>
            <a:stCxn xmlns:a="http://schemas.openxmlformats.org/drawingml/2006/main" id="12" idx="0"/>
            <a:endCxn xmlns:a="http://schemas.openxmlformats.org/drawingml/2006/main" id="8" idx="2"/>
          </p:cNvCxnSpPr>
          <p:nvPr/>
        </p:nvCxnSpPr>
        <p:spPr>
          <a:xfrm xmlns:a="http://schemas.openxmlformats.org/drawingml/2006/main" flipV="1">
            <a:off x="6334125" y="3114675"/>
            <a:ext cx="0" cy="1171575"/>
          </a:xfrm>
          <a:prstGeom xmlns:a="http://schemas.openxmlformats.org/drawingml/2006/main" prst="straightConnector1">
            <a:avLst/>
          </a:prstGeom>
          <a:ln xmlns:a="http://schemas.openxmlformats.org/drawingml/2006/main" w="19050">
            <a:solidFill>
              <a:srgbClr val="26D0C3"/>
            </a:solidFill>
            <a:prstDash val="solid"/>
            <a:tailEnd type="arrow" w="sm" len="sm"/>
          </a:ln>
        </p:spPr>
      </p:cxnSp>
      <p:sp>
        <p:nvSpPr>
          <p:cNvPr id="24" name="">
            <a:extLst xmlns:a="http://schemas.openxmlformats.org/drawingml/2006/main">
              <a:ext uri="{FF2B5EF4-FFF2-40B4-BE49-F238E27FC236}">
                <a16:creationId xmlns:a16="http://schemas.microsoft.com/office/drawing/2014/main" id="{7728F558-07A4-4305-854D-AF5B91FC42CC}"/>
              </a:ext>
            </a:extLst>
          </p:cNvPr>
          <p:cNvSpPr>
            <a:spLocks xmlns:a="http://schemas.openxmlformats.org/drawingml/2006/main" noGrp="1"/>
          </p:cNvSpPr>
          <p:nvPr/>
        </p:nvSpPr>
        <p:spPr>
          <a:xfrm xmlns:a="http://schemas.openxmlformats.org/drawingml/2006/main">
            <a:off x="1009650" y="23812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5F8FB"/>
                </a:solidFill>
              </a:defRPr>
            </a:pPr>
            <a:r>
              <a:rPr sz="1500" b="1">
                <a:solidFill>
                  <a:srgbClr val="F5F8FB"/>
                </a:solidFill>
              </a:rPr>
              <a:t>Upload</a:t>
            </a:r>
          </a:p>
        </p:txBody>
      </p:sp>
      <p:sp>
        <p:nvSpPr>
          <p:cNvPr id="25" name="">
            <a:extLst xmlns:a="http://schemas.openxmlformats.org/drawingml/2006/main">
              <a:ext uri="{FF2B5EF4-FFF2-40B4-BE49-F238E27FC236}">
                <a16:creationId xmlns:a16="http://schemas.microsoft.com/office/drawing/2014/main" id="{9460EE6B-EEC8-41D6-9EC1-79BDA37280D0}"/>
              </a:ext>
            </a:extLst>
          </p:cNvPr>
          <p:cNvSpPr>
            <a:spLocks xmlns:a="http://schemas.openxmlformats.org/drawingml/2006/main" noGrp="1"/>
          </p:cNvSpPr>
          <p:nvPr/>
        </p:nvSpPr>
        <p:spPr>
          <a:xfrm xmlns:a="http://schemas.openxmlformats.org/drawingml/2006/main">
            <a:off x="952500" y="27146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AEC0CB"/>
                </a:solidFill>
              </a:defRPr>
            </a:pPr>
            <a:r>
              <a:rPr sz="975" b="0">
                <a:solidFill>
                  <a:srgbClr val="AEC0CB"/>
                </a:solidFill>
              </a:rPr>
              <a:t>CSV · JSON · Parquet</a:t>
            </a:r>
          </a:p>
        </p:txBody>
      </p:sp>
      <p:sp>
        <p:nvSpPr>
          <p:cNvPr id="26" name="">
            <a:extLst xmlns:a="http://schemas.openxmlformats.org/drawingml/2006/main">
              <a:ext uri="{FF2B5EF4-FFF2-40B4-BE49-F238E27FC236}">
                <a16:creationId xmlns:a16="http://schemas.microsoft.com/office/drawing/2014/main" id="{1B12E089-57A0-4EC4-90D5-6D72A167D81A}"/>
              </a:ext>
            </a:extLst>
          </p:cNvPr>
          <p:cNvSpPr>
            <a:spLocks xmlns:a="http://schemas.openxmlformats.org/drawingml/2006/main" noGrp="1"/>
          </p:cNvSpPr>
          <p:nvPr/>
        </p:nvSpPr>
        <p:spPr>
          <a:xfrm xmlns:a="http://schemas.openxmlformats.org/drawingml/2006/main">
            <a:off x="3295650" y="23812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5F8FB"/>
                </a:solidFill>
              </a:defRPr>
            </a:pPr>
            <a:r>
              <a:rPr sz="1500" b="1">
                <a:solidFill>
                  <a:srgbClr val="F5F8FB"/>
                </a:solidFill>
              </a:rPr>
              <a:t>Engineer</a:t>
            </a:r>
          </a:p>
        </p:txBody>
      </p:sp>
      <p:sp>
        <p:nvSpPr>
          <p:cNvPr id="27" name="">
            <a:extLst xmlns:a="http://schemas.openxmlformats.org/drawingml/2006/main">
              <a:ext uri="{FF2B5EF4-FFF2-40B4-BE49-F238E27FC236}">
                <a16:creationId xmlns:a16="http://schemas.microsoft.com/office/drawing/2014/main" id="{0A564153-5666-440A-8FC8-3002AB3306D9}"/>
              </a:ext>
            </a:extLst>
          </p:cNvPr>
          <p:cNvSpPr>
            <a:spLocks xmlns:a="http://schemas.openxmlformats.org/drawingml/2006/main" noGrp="1"/>
          </p:cNvSpPr>
          <p:nvPr/>
        </p:nvSpPr>
        <p:spPr>
          <a:xfrm xmlns:a="http://schemas.openxmlformats.org/drawingml/2006/main">
            <a:off x="3238500" y="27146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AEC0CB"/>
                </a:solidFill>
              </a:defRPr>
            </a:pPr>
            <a:r>
              <a:rPr sz="975" b="0">
                <a:solidFill>
                  <a:srgbClr val="AEC0CB"/>
                </a:solidFill>
              </a:rPr>
              <a:t>clean · profile · alias</a:t>
            </a:r>
          </a:p>
        </p:txBody>
      </p:sp>
      <p:sp>
        <p:nvSpPr>
          <p:cNvPr id="28" name="">
            <a:extLst xmlns:a="http://schemas.openxmlformats.org/drawingml/2006/main">
              <a:ext uri="{FF2B5EF4-FFF2-40B4-BE49-F238E27FC236}">
                <a16:creationId xmlns:a16="http://schemas.microsoft.com/office/drawing/2014/main" id="{EB10E4CE-F67B-4A96-8EAA-AAC556853BF0}"/>
              </a:ext>
            </a:extLst>
          </p:cNvPr>
          <p:cNvSpPr>
            <a:spLocks xmlns:a="http://schemas.openxmlformats.org/drawingml/2006/main" noGrp="1"/>
          </p:cNvSpPr>
          <p:nvPr/>
        </p:nvSpPr>
        <p:spPr>
          <a:xfrm xmlns:a="http://schemas.openxmlformats.org/drawingml/2006/main">
            <a:off x="5581650" y="23812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5F8FB"/>
                </a:solidFill>
              </a:defRPr>
            </a:pPr>
            <a:r>
              <a:rPr sz="1500" b="1">
                <a:solidFill>
                  <a:srgbClr val="F5F8FB"/>
                </a:solidFill>
              </a:rPr>
              <a:t>DuckDB</a:t>
            </a:r>
          </a:p>
        </p:txBody>
      </p:sp>
      <p:sp>
        <p:nvSpPr>
          <p:cNvPr id="29" name="">
            <a:extLst xmlns:a="http://schemas.openxmlformats.org/drawingml/2006/main">
              <a:ext uri="{FF2B5EF4-FFF2-40B4-BE49-F238E27FC236}">
                <a16:creationId xmlns:a16="http://schemas.microsoft.com/office/drawing/2014/main" id="{DB63D620-703E-4FC5-8CCF-EF90419ECD70}"/>
              </a:ext>
            </a:extLst>
          </p:cNvPr>
          <p:cNvSpPr>
            <a:spLocks xmlns:a="http://schemas.openxmlformats.org/drawingml/2006/main" noGrp="1"/>
          </p:cNvSpPr>
          <p:nvPr/>
        </p:nvSpPr>
        <p:spPr>
          <a:xfrm xmlns:a="http://schemas.openxmlformats.org/drawingml/2006/main">
            <a:off x="5524500" y="27146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AEC0CB"/>
                </a:solidFill>
              </a:defRPr>
            </a:pPr>
            <a:r>
              <a:rPr sz="975" b="0">
                <a:solidFill>
                  <a:srgbClr val="AEC0CB"/>
                </a:solidFill>
              </a:rPr>
              <a:t>parameterized SQL</a:t>
            </a:r>
          </a:p>
        </p:txBody>
      </p:sp>
      <p:sp>
        <p:nvSpPr>
          <p:cNvPr id="30" name="">
            <a:extLst xmlns:a="http://schemas.openxmlformats.org/drawingml/2006/main">
              <a:ext uri="{FF2B5EF4-FFF2-40B4-BE49-F238E27FC236}">
                <a16:creationId xmlns:a16="http://schemas.microsoft.com/office/drawing/2014/main" id="{1CB9DB7E-F948-468D-AEFF-2A5FCBB759F8}"/>
              </a:ext>
            </a:extLst>
          </p:cNvPr>
          <p:cNvSpPr>
            <a:spLocks xmlns:a="http://schemas.openxmlformats.org/drawingml/2006/main" noGrp="1"/>
          </p:cNvSpPr>
          <p:nvPr/>
        </p:nvSpPr>
        <p:spPr>
          <a:xfrm xmlns:a="http://schemas.openxmlformats.org/drawingml/2006/main">
            <a:off x="7867650" y="238125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5F8FB"/>
                </a:solidFill>
              </a:defRPr>
            </a:pPr>
            <a:r>
              <a:rPr sz="1500" b="1">
                <a:solidFill>
                  <a:srgbClr val="F5F8FB"/>
                </a:solidFill>
              </a:rPr>
              <a:t>Dashboard</a:t>
            </a:r>
          </a:p>
        </p:txBody>
      </p:sp>
      <p:sp>
        <p:nvSpPr>
          <p:cNvPr id="31" name="">
            <a:extLst xmlns:a="http://schemas.openxmlformats.org/drawingml/2006/main">
              <a:ext uri="{FF2B5EF4-FFF2-40B4-BE49-F238E27FC236}">
                <a16:creationId xmlns:a16="http://schemas.microsoft.com/office/drawing/2014/main" id="{9519DA53-D348-42AF-9E1B-79FB407447F7}"/>
              </a:ext>
            </a:extLst>
          </p:cNvPr>
          <p:cNvSpPr>
            <a:spLocks xmlns:a="http://schemas.openxmlformats.org/drawingml/2006/main" noGrp="1"/>
          </p:cNvSpPr>
          <p:nvPr/>
        </p:nvSpPr>
        <p:spPr>
          <a:xfrm xmlns:a="http://schemas.openxmlformats.org/drawingml/2006/main">
            <a:off x="7810500" y="27146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AEC0CB"/>
                </a:solidFill>
              </a:defRPr>
            </a:pPr>
            <a:r>
              <a:rPr sz="975" b="0">
                <a:solidFill>
                  <a:srgbClr val="AEC0CB"/>
                </a:solidFill>
              </a:rPr>
              <a:t>KPIs · charts · filters</a:t>
            </a:r>
          </a:p>
        </p:txBody>
      </p:sp>
      <p:sp>
        <p:nvSpPr>
          <p:cNvPr id="32" name="">
            <a:extLst xmlns:a="http://schemas.openxmlformats.org/drawingml/2006/main">
              <a:ext uri="{FF2B5EF4-FFF2-40B4-BE49-F238E27FC236}">
                <a16:creationId xmlns:a16="http://schemas.microsoft.com/office/drawing/2014/main" id="{3FEB8CDC-0D1D-46D0-8035-AC082FFCE81A}"/>
              </a:ext>
            </a:extLst>
          </p:cNvPr>
          <p:cNvSpPr>
            <a:spLocks xmlns:a="http://schemas.openxmlformats.org/drawingml/2006/main" noGrp="1"/>
          </p:cNvSpPr>
          <p:nvPr/>
        </p:nvSpPr>
        <p:spPr>
          <a:xfrm xmlns:a="http://schemas.openxmlformats.org/drawingml/2006/main">
            <a:off x="1009650" y="4429125"/>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5F8FB"/>
                </a:solidFill>
              </a:defRPr>
            </a:pPr>
            <a:r>
              <a:rPr sz="1500" b="1">
                <a:solidFill>
                  <a:srgbClr val="F5F8FB"/>
                </a:solidFill>
              </a:rPr>
              <a:t>Question</a:t>
            </a:r>
          </a:p>
        </p:txBody>
      </p:sp>
      <p:sp>
        <p:nvSpPr>
          <p:cNvPr id="33" name="">
            <a:extLst xmlns:a="http://schemas.openxmlformats.org/drawingml/2006/main">
              <a:ext uri="{FF2B5EF4-FFF2-40B4-BE49-F238E27FC236}">
                <a16:creationId xmlns:a16="http://schemas.microsoft.com/office/drawing/2014/main" id="{3922F0DB-2AB8-4079-A976-9B8238CF8C8C}"/>
              </a:ext>
            </a:extLst>
          </p:cNvPr>
          <p:cNvSpPr>
            <a:spLocks xmlns:a="http://schemas.openxmlformats.org/drawingml/2006/main" noGrp="1"/>
          </p:cNvSpPr>
          <p:nvPr/>
        </p:nvSpPr>
        <p:spPr>
          <a:xfrm xmlns:a="http://schemas.openxmlformats.org/drawingml/2006/main">
            <a:off x="952500" y="47625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AEC0CB"/>
                </a:solidFill>
              </a:defRPr>
            </a:pPr>
            <a:r>
              <a:rPr sz="975" b="0">
                <a:solidFill>
                  <a:srgbClr val="AEC0CB"/>
                </a:solidFill>
              </a:rPr>
              <a:t>natural language</a:t>
            </a:r>
          </a:p>
        </p:txBody>
      </p:sp>
      <p:sp>
        <p:nvSpPr>
          <p:cNvPr id="34" name="">
            <a:extLst xmlns:a="http://schemas.openxmlformats.org/drawingml/2006/main">
              <a:ext uri="{FF2B5EF4-FFF2-40B4-BE49-F238E27FC236}">
                <a16:creationId xmlns:a16="http://schemas.microsoft.com/office/drawing/2014/main" id="{5519BF56-7086-409F-A659-1F49DD1C79E0}"/>
              </a:ext>
            </a:extLst>
          </p:cNvPr>
          <p:cNvSpPr>
            <a:spLocks xmlns:a="http://schemas.openxmlformats.org/drawingml/2006/main" noGrp="1"/>
          </p:cNvSpPr>
          <p:nvPr/>
        </p:nvSpPr>
        <p:spPr>
          <a:xfrm xmlns:a="http://schemas.openxmlformats.org/drawingml/2006/main">
            <a:off x="3295650" y="4429125"/>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5F8FB"/>
                </a:solidFill>
              </a:defRPr>
            </a:pPr>
            <a:r>
              <a:rPr sz="1500" b="1">
                <a:solidFill>
                  <a:srgbClr val="F5F8FB"/>
                </a:solidFill>
              </a:rPr>
              <a:t>Planner</a:t>
            </a:r>
          </a:p>
        </p:txBody>
      </p:sp>
      <p:sp>
        <p:nvSpPr>
          <p:cNvPr id="35" name="">
            <a:extLst xmlns:a="http://schemas.openxmlformats.org/drawingml/2006/main">
              <a:ext uri="{FF2B5EF4-FFF2-40B4-BE49-F238E27FC236}">
                <a16:creationId xmlns:a16="http://schemas.microsoft.com/office/drawing/2014/main" id="{A552760C-3C75-4A1B-B0F6-D308793BCC5C}"/>
              </a:ext>
            </a:extLst>
          </p:cNvPr>
          <p:cNvSpPr>
            <a:spLocks xmlns:a="http://schemas.openxmlformats.org/drawingml/2006/main" noGrp="1"/>
          </p:cNvSpPr>
          <p:nvPr/>
        </p:nvSpPr>
        <p:spPr>
          <a:xfrm xmlns:a="http://schemas.openxmlformats.org/drawingml/2006/main">
            <a:off x="3238500" y="47625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AEC0CB"/>
                </a:solidFill>
              </a:defRPr>
            </a:pPr>
            <a:r>
              <a:rPr sz="975" b="0">
                <a:solidFill>
                  <a:srgbClr val="AEC0CB"/>
                </a:solidFill>
              </a:rPr>
              <a:t>local · hosted · Ollama</a:t>
            </a:r>
          </a:p>
        </p:txBody>
      </p:sp>
      <p:sp>
        <p:nvSpPr>
          <p:cNvPr id="36" name="">
            <a:extLst xmlns:a="http://schemas.openxmlformats.org/drawingml/2006/main">
              <a:ext uri="{FF2B5EF4-FFF2-40B4-BE49-F238E27FC236}">
                <a16:creationId xmlns:a16="http://schemas.microsoft.com/office/drawing/2014/main" id="{1D5CD4DF-5BD7-4E83-A78E-26C1E823AA03}"/>
              </a:ext>
            </a:extLst>
          </p:cNvPr>
          <p:cNvSpPr>
            <a:spLocks xmlns:a="http://schemas.openxmlformats.org/drawingml/2006/main" noGrp="1"/>
          </p:cNvSpPr>
          <p:nvPr/>
        </p:nvSpPr>
        <p:spPr>
          <a:xfrm xmlns:a="http://schemas.openxmlformats.org/drawingml/2006/main">
            <a:off x="5581650" y="4429125"/>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5F8FB"/>
                </a:solidFill>
              </a:defRPr>
            </a:pPr>
            <a:r>
              <a:rPr sz="1500" b="1">
                <a:solidFill>
                  <a:srgbClr val="F5F8FB"/>
                </a:solidFill>
              </a:rPr>
              <a:t>Security gate</a:t>
            </a:r>
          </a:p>
        </p:txBody>
      </p:sp>
      <p:sp>
        <p:nvSpPr>
          <p:cNvPr id="37" name="">
            <a:extLst xmlns:a="http://schemas.openxmlformats.org/drawingml/2006/main">
              <a:ext uri="{FF2B5EF4-FFF2-40B4-BE49-F238E27FC236}">
                <a16:creationId xmlns:a16="http://schemas.microsoft.com/office/drawing/2014/main" id="{C9628A06-421B-421E-800F-E352FD4C7606}"/>
              </a:ext>
            </a:extLst>
          </p:cNvPr>
          <p:cNvSpPr>
            <a:spLocks xmlns:a="http://schemas.openxmlformats.org/drawingml/2006/main" noGrp="1"/>
          </p:cNvSpPr>
          <p:nvPr/>
        </p:nvSpPr>
        <p:spPr>
          <a:xfrm xmlns:a="http://schemas.openxmlformats.org/drawingml/2006/main">
            <a:off x="5524500" y="47625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AEC0CB"/>
                </a:solidFill>
              </a:defRPr>
            </a:pPr>
            <a:r>
              <a:rPr sz="975" b="0">
                <a:solidFill>
                  <a:srgbClr val="AEC0CB"/>
                </a:solidFill>
              </a:rPr>
              <a:t>Pydantic · AST · limits</a:t>
            </a:r>
          </a:p>
        </p:txBody>
      </p:sp>
      <p:sp>
        <p:nvSpPr>
          <p:cNvPr id="38" name="">
            <a:extLst xmlns:a="http://schemas.openxmlformats.org/drawingml/2006/main">
              <a:ext uri="{FF2B5EF4-FFF2-40B4-BE49-F238E27FC236}">
                <a16:creationId xmlns:a16="http://schemas.microsoft.com/office/drawing/2014/main" id="{65846610-22E9-4331-B153-7807F9B7CACF}"/>
              </a:ext>
            </a:extLst>
          </p:cNvPr>
          <p:cNvSpPr>
            <a:spLocks xmlns:a="http://schemas.openxmlformats.org/drawingml/2006/main" noGrp="1"/>
          </p:cNvSpPr>
          <p:nvPr/>
        </p:nvSpPr>
        <p:spPr>
          <a:xfrm xmlns:a="http://schemas.openxmlformats.org/drawingml/2006/main">
            <a:off x="7867650" y="4429125"/>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5F8FB"/>
                </a:solidFill>
              </a:defRPr>
            </a:pPr>
            <a:r>
              <a:rPr sz="1500" b="1">
                <a:solidFill>
                  <a:srgbClr val="F5F8FB"/>
                </a:solidFill>
              </a:rPr>
              <a:t>Evidence</a:t>
            </a:r>
          </a:p>
        </p:txBody>
      </p:sp>
      <p:sp>
        <p:nvSpPr>
          <p:cNvPr id="39" name="">
            <a:extLst xmlns:a="http://schemas.openxmlformats.org/drawingml/2006/main">
              <a:ext uri="{FF2B5EF4-FFF2-40B4-BE49-F238E27FC236}">
                <a16:creationId xmlns:a16="http://schemas.microsoft.com/office/drawing/2014/main" id="{5111029B-5721-4C4A-BDF8-40F2D9E1F85E}"/>
              </a:ext>
            </a:extLst>
          </p:cNvPr>
          <p:cNvSpPr>
            <a:spLocks xmlns:a="http://schemas.openxmlformats.org/drawingml/2006/main" noGrp="1"/>
          </p:cNvSpPr>
          <p:nvPr/>
        </p:nvSpPr>
        <p:spPr>
          <a:xfrm xmlns:a="http://schemas.openxmlformats.org/drawingml/2006/main">
            <a:off x="7810500" y="47625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AEC0CB"/>
                </a:solidFill>
              </a:defRPr>
            </a:pPr>
            <a:r>
              <a:rPr sz="975" b="0">
                <a:solidFill>
                  <a:srgbClr val="AEC0CB"/>
                </a:solidFill>
              </a:rPr>
              <a:t>table · chart · narrative</a:t>
            </a:r>
          </a:p>
        </p:txBody>
      </p:sp>
      <p:sp>
        <p:nvSpPr>
          <p:cNvPr id="40" name="">
            <a:extLst xmlns:a="http://schemas.openxmlformats.org/drawingml/2006/main">
              <a:ext uri="{FF2B5EF4-FFF2-40B4-BE49-F238E27FC236}">
                <a16:creationId xmlns:a16="http://schemas.microsoft.com/office/drawing/2014/main" id="{7C6D3092-D3F9-4D18-AAE0-9BCDDE9E9009}"/>
              </a:ext>
            </a:extLst>
          </p:cNvPr>
          <p:cNvSpPr>
            <a:spLocks xmlns:a="http://schemas.openxmlformats.org/drawingml/2006/main" noGrp="1"/>
          </p:cNvSpPr>
          <p:nvPr/>
        </p:nvSpPr>
        <p:spPr>
          <a:xfrm xmlns:a="http://schemas.openxmlformats.org/drawingml/2006/main">
            <a:off x="10153650" y="34099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5F8FB"/>
                </a:solidFill>
              </a:defRPr>
            </a:pPr>
            <a:r>
              <a:rPr sz="1500" b="1">
                <a:solidFill>
                  <a:srgbClr val="F5F8FB"/>
                </a:solidFill>
              </a:rPr>
              <a:t>Export</a:t>
            </a:r>
          </a:p>
        </p:txBody>
      </p:sp>
      <p:sp>
        <p:nvSpPr>
          <p:cNvPr id="41" name="">
            <a:extLst xmlns:a="http://schemas.openxmlformats.org/drawingml/2006/main">
              <a:ext uri="{FF2B5EF4-FFF2-40B4-BE49-F238E27FC236}">
                <a16:creationId xmlns:a16="http://schemas.microsoft.com/office/drawing/2014/main" id="{3856AE1C-4EC8-4606-9ADA-65B77A7592D4}"/>
              </a:ext>
            </a:extLst>
          </p:cNvPr>
          <p:cNvSpPr>
            <a:spLocks xmlns:a="http://schemas.openxmlformats.org/drawingml/2006/main" noGrp="1"/>
          </p:cNvSpPr>
          <p:nvPr/>
        </p:nvSpPr>
        <p:spPr>
          <a:xfrm xmlns:a="http://schemas.openxmlformats.org/drawingml/2006/main">
            <a:off x="10096500" y="374332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AEC0CB"/>
                </a:solidFill>
              </a:defRPr>
            </a:pPr>
            <a:r>
              <a:rPr sz="975" b="0">
                <a:solidFill>
                  <a:srgbClr val="AEC0CB"/>
                </a:solidFill>
              </a:rPr>
              <a:t>Word · PDF</a:t>
            </a:r>
          </a:p>
          <a:p xmlns:a="http://schemas.openxmlformats.org/drawingml/2006/main">
            <a:pPr algn="ctr">
              <a:defRPr sz="975" b="0">
                <a:solidFill>
                  <a:srgbClr val="AEC0CB"/>
                </a:solidFill>
              </a:defRPr>
            </a:pPr>
            <a:r>
              <a:rPr sz="975" b="0">
                <a:solidFill>
                  <a:srgbClr val="AEC0CB"/>
                </a:solidFill>
              </a:rPr>
              <a:t>PNG · SVG</a:t>
            </a:r>
          </a:p>
        </p:txBody>
      </p:sp>
      <p:sp>
        <p:nvSpPr>
          <p:cNvPr id="42" name="">
            <a:extLst xmlns:a="http://schemas.openxmlformats.org/drawingml/2006/main">
              <a:ext uri="{FF2B5EF4-FFF2-40B4-BE49-F238E27FC236}">
                <a16:creationId xmlns:a16="http://schemas.microsoft.com/office/drawing/2014/main" id="{CD358726-9699-4CA7-AC68-069AA2D5DA53}"/>
              </a:ext>
            </a:extLst>
          </p:cNvPr>
          <p:cNvSpPr>
            <a:spLocks xmlns:a="http://schemas.openxmlformats.org/drawingml/2006/main" noGrp="1"/>
          </p:cNvSpPr>
          <p:nvPr/>
        </p:nvSpPr>
        <p:spPr>
          <a:xfrm xmlns:a="http://schemas.openxmlformats.org/drawingml/2006/main">
            <a:off x="857250" y="18669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DIRECT ANALYTICS</a:t>
            </a:r>
          </a:p>
        </p:txBody>
      </p:sp>
      <p:sp>
        <p:nvSpPr>
          <p:cNvPr id="43" name="">
            <a:extLst xmlns:a="http://schemas.openxmlformats.org/drawingml/2006/main">
              <a:ext uri="{FF2B5EF4-FFF2-40B4-BE49-F238E27FC236}">
                <a16:creationId xmlns:a16="http://schemas.microsoft.com/office/drawing/2014/main" id="{FB900E93-703A-427E-8F8B-E07B98F84A52}"/>
              </a:ext>
            </a:extLst>
          </p:cNvPr>
          <p:cNvSpPr>
            <a:spLocks xmlns:a="http://schemas.openxmlformats.org/drawingml/2006/main" noGrp="1"/>
          </p:cNvSpPr>
          <p:nvPr/>
        </p:nvSpPr>
        <p:spPr>
          <a:xfrm xmlns:a="http://schemas.openxmlformats.org/drawingml/2006/main">
            <a:off x="857250" y="39147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AI-ASSISTED ANALYTICS</a:t>
            </a:r>
          </a:p>
        </p:txBody>
      </p:sp>
    </p:spTree>
    <p:extLst>
      <p:ext uri="{BB962C8B-B14F-4D97-AF65-F5344CB8AC3E}">
        <p14:creationId xmlns:p14="http://schemas.microsoft.com/office/powerpoint/2010/main" val="1810898713"/>
      </p:ext>
    </p:extLst>
  </p:cSld>
</p:sld>
</file>

<file path=ppt/slides/slide6.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F102206-2D37-4086-B2A9-5E7CA47DACBF}"/>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89CA72FA-BE0A-42DC-ADA2-57F70F9D4EC3}"/>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DATA ENGINEERING</a:t>
            </a:r>
          </a:p>
        </p:txBody>
      </p:sp>
      <p:sp>
        <p:nvSpPr>
          <p:cNvPr id="3" name="title-6">
            <a:extLst xmlns:a="http://schemas.openxmlformats.org/drawingml/2006/main">
              <a:ext uri="{FF2B5EF4-FFF2-40B4-BE49-F238E27FC236}">
                <a16:creationId xmlns:a16="http://schemas.microsoft.com/office/drawing/2014/main" id="{726876F1-CDA1-4412-A416-AE3A105EB528}"/>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Reversible cleaning preserves analytical evidence</a:t>
            </a:r>
          </a:p>
        </p:txBody>
      </p:sp>
      <p:sp>
        <p:nvSpPr>
          <p:cNvPr id="4" name="">
            <a:extLst xmlns:a="http://schemas.openxmlformats.org/drawingml/2006/main">
              <a:ext uri="{FF2B5EF4-FFF2-40B4-BE49-F238E27FC236}">
                <a16:creationId xmlns:a16="http://schemas.microsoft.com/office/drawing/2014/main" id="{B7D337C6-AB31-4AD7-96AF-2FF10DAFE921}"/>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25971982-0BD7-42D9-AF58-B3AA1AA06444}"/>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06</a:t>
            </a:r>
          </a:p>
        </p:txBody>
      </p:sp>
      <p:sp>
        <p:nvSpPr>
          <p:cNvPr id="6" name="">
            <a:extLst xmlns:a="http://schemas.openxmlformats.org/drawingml/2006/main">
              <a:ext uri="{FF2B5EF4-FFF2-40B4-BE49-F238E27FC236}">
                <a16:creationId xmlns:a16="http://schemas.microsoft.com/office/drawing/2014/main" id="{33983454-03DC-4301-A61D-CF8FA59C4902}"/>
              </a:ext>
            </a:extLst>
          </p:cNvPr>
          <p:cNvSpPr>
            <a:spLocks xmlns:a="http://schemas.openxmlformats.org/drawingml/2006/main" noGrp="1"/>
          </p:cNvSpPr>
          <p:nvPr/>
        </p:nvSpPr>
        <p:spPr>
          <a:xfrm xmlns:a="http://schemas.openxmlformats.org/drawingml/2006/main">
            <a:off x="762000" y="19621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26D0C3"/>
                </a:solidFill>
              </a:defRPr>
            </a:pPr>
            <a:r>
              <a:rPr sz="3150" b="1">
                <a:solidFill>
                  <a:srgbClr val="26D0C3"/>
                </a:solidFill>
              </a:rPr>
              <a:t>2,000</a:t>
            </a:r>
          </a:p>
        </p:txBody>
      </p:sp>
      <p:sp>
        <p:nvSpPr>
          <p:cNvPr id="7" name="">
            <a:extLst xmlns:a="http://schemas.openxmlformats.org/drawingml/2006/main">
              <a:ext uri="{FF2B5EF4-FFF2-40B4-BE49-F238E27FC236}">
                <a16:creationId xmlns:a16="http://schemas.microsoft.com/office/drawing/2014/main" id="{5910BCB5-7C88-4EC8-AACE-0092C4542DA5}"/>
              </a:ext>
            </a:extLst>
          </p:cNvPr>
          <p:cNvSpPr>
            <a:spLocks xmlns:a="http://schemas.openxmlformats.org/drawingml/2006/main" noGrp="1"/>
          </p:cNvSpPr>
          <p:nvPr/>
        </p:nvSpPr>
        <p:spPr>
          <a:xfrm xmlns:a="http://schemas.openxmlformats.org/drawingml/2006/main">
            <a:off x="762000" y="25050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synthetic rows</a:t>
            </a:r>
          </a:p>
        </p:txBody>
      </p:sp>
      <p:sp>
        <p:nvSpPr>
          <p:cNvPr id="8" name="">
            <a:extLst xmlns:a="http://schemas.openxmlformats.org/drawingml/2006/main">
              <a:ext uri="{FF2B5EF4-FFF2-40B4-BE49-F238E27FC236}">
                <a16:creationId xmlns:a16="http://schemas.microsoft.com/office/drawing/2014/main" id="{749D71DE-4CA9-4251-BAE7-D27D5F543698}"/>
              </a:ext>
            </a:extLst>
          </p:cNvPr>
          <p:cNvSpPr>
            <a:spLocks xmlns:a="http://schemas.openxmlformats.org/drawingml/2006/main" noGrp="1"/>
          </p:cNvSpPr>
          <p:nvPr/>
        </p:nvSpPr>
        <p:spPr>
          <a:xfrm xmlns:a="http://schemas.openxmlformats.org/drawingml/2006/main">
            <a:off x="2762250" y="19621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68D8FF"/>
                </a:solidFill>
              </a:defRPr>
            </a:pPr>
            <a:r>
              <a:rPr sz="3150" b="1">
                <a:solidFill>
                  <a:srgbClr val="68D8FF"/>
                </a:solidFill>
              </a:rPr>
              <a:t>14</a:t>
            </a:r>
          </a:p>
        </p:txBody>
      </p:sp>
      <p:sp>
        <p:nvSpPr>
          <p:cNvPr id="9" name="">
            <a:extLst xmlns:a="http://schemas.openxmlformats.org/drawingml/2006/main">
              <a:ext uri="{FF2B5EF4-FFF2-40B4-BE49-F238E27FC236}">
                <a16:creationId xmlns:a16="http://schemas.microsoft.com/office/drawing/2014/main" id="{4A97930F-BA13-4142-B528-08210200924E}"/>
              </a:ext>
            </a:extLst>
          </p:cNvPr>
          <p:cNvSpPr>
            <a:spLocks xmlns:a="http://schemas.openxmlformats.org/drawingml/2006/main" noGrp="1"/>
          </p:cNvSpPr>
          <p:nvPr/>
        </p:nvSpPr>
        <p:spPr>
          <a:xfrm xmlns:a="http://schemas.openxmlformats.org/drawingml/2006/main">
            <a:off x="2762250" y="25050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source columns</a:t>
            </a:r>
          </a:p>
        </p:txBody>
      </p:sp>
      <p:sp>
        <p:nvSpPr>
          <p:cNvPr id="10" name="">
            <a:extLst xmlns:a="http://schemas.openxmlformats.org/drawingml/2006/main">
              <a:ext uri="{FF2B5EF4-FFF2-40B4-BE49-F238E27FC236}">
                <a16:creationId xmlns:a16="http://schemas.microsoft.com/office/drawing/2014/main" id="{03C4CB88-D9A3-4364-9CED-9E936FF2A348}"/>
              </a:ext>
            </a:extLst>
          </p:cNvPr>
          <p:cNvSpPr>
            <a:spLocks xmlns:a="http://schemas.openxmlformats.org/drawingml/2006/main" noGrp="1"/>
          </p:cNvSpPr>
          <p:nvPr/>
        </p:nvSpPr>
        <p:spPr>
          <a:xfrm xmlns:a="http://schemas.openxmlformats.org/drawingml/2006/main">
            <a:off x="4762500" y="19621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F5F8FB"/>
                </a:solidFill>
              </a:defRPr>
            </a:pPr>
            <a:r>
              <a:rPr sz="3150" b="1">
                <a:solidFill>
                  <a:srgbClr val="F5F8FB"/>
                </a:solidFill>
              </a:rPr>
              <a:t>18</a:t>
            </a:r>
          </a:p>
        </p:txBody>
      </p:sp>
      <p:sp>
        <p:nvSpPr>
          <p:cNvPr id="11" name="">
            <a:extLst xmlns:a="http://schemas.openxmlformats.org/drawingml/2006/main">
              <a:ext uri="{FF2B5EF4-FFF2-40B4-BE49-F238E27FC236}">
                <a16:creationId xmlns:a16="http://schemas.microsoft.com/office/drawing/2014/main" id="{70928F0B-C625-4ED8-A20C-BD5EA46928B4}"/>
              </a:ext>
            </a:extLst>
          </p:cNvPr>
          <p:cNvSpPr>
            <a:spLocks xmlns:a="http://schemas.openxmlformats.org/drawingml/2006/main" noGrp="1"/>
          </p:cNvSpPr>
          <p:nvPr/>
        </p:nvSpPr>
        <p:spPr>
          <a:xfrm xmlns:a="http://schemas.openxmlformats.org/drawingml/2006/main">
            <a:off x="4762500" y="25050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cleaned columns</a:t>
            </a:r>
          </a:p>
        </p:txBody>
      </p:sp>
      <p:sp>
        <p:nvSpPr>
          <p:cNvPr id="12" name="">
            <a:extLst xmlns:a="http://schemas.openxmlformats.org/drawingml/2006/main">
              <a:ext uri="{FF2B5EF4-FFF2-40B4-BE49-F238E27FC236}">
                <a16:creationId xmlns:a16="http://schemas.microsoft.com/office/drawing/2014/main" id="{9417B95D-E273-4B9D-9512-4F6B96EE8852}"/>
              </a:ext>
            </a:extLst>
          </p:cNvPr>
          <p:cNvSpPr>
            <a:spLocks xmlns:a="http://schemas.openxmlformats.org/drawingml/2006/main" noGrp="1"/>
          </p:cNvSpPr>
          <p:nvPr/>
        </p:nvSpPr>
        <p:spPr>
          <a:xfrm xmlns:a="http://schemas.openxmlformats.org/drawingml/2006/main">
            <a:off x="6762750" y="19621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64E4A3"/>
                </a:solidFill>
              </a:defRPr>
            </a:pPr>
            <a:r>
              <a:rPr sz="3150" b="1">
                <a:solidFill>
                  <a:srgbClr val="64E4A3"/>
                </a:solidFill>
              </a:rPr>
              <a:t>0</a:t>
            </a:r>
          </a:p>
        </p:txBody>
      </p:sp>
      <p:sp>
        <p:nvSpPr>
          <p:cNvPr id="13" name="">
            <a:extLst xmlns:a="http://schemas.openxmlformats.org/drawingml/2006/main">
              <a:ext uri="{FF2B5EF4-FFF2-40B4-BE49-F238E27FC236}">
                <a16:creationId xmlns:a16="http://schemas.microsoft.com/office/drawing/2014/main" id="{802411B6-20D8-48F0-9546-C532DAD82EAB}"/>
              </a:ext>
            </a:extLst>
          </p:cNvPr>
          <p:cNvSpPr>
            <a:spLocks xmlns:a="http://schemas.openxmlformats.org/drawingml/2006/main" noGrp="1"/>
          </p:cNvSpPr>
          <p:nvPr/>
        </p:nvSpPr>
        <p:spPr>
          <a:xfrm xmlns:a="http://schemas.openxmlformats.org/drawingml/2006/main">
            <a:off x="6762750" y="25050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missing cells</a:t>
            </a:r>
          </a:p>
        </p:txBody>
      </p:sp>
      <p:sp>
        <p:nvSpPr>
          <p:cNvPr id="14" name="">
            <a:extLst xmlns:a="http://schemas.openxmlformats.org/drawingml/2006/main">
              <a:ext uri="{FF2B5EF4-FFF2-40B4-BE49-F238E27FC236}">
                <a16:creationId xmlns:a16="http://schemas.microsoft.com/office/drawing/2014/main" id="{41B8F4CF-7700-4BCC-A072-6CF81A158529}"/>
              </a:ext>
            </a:extLst>
          </p:cNvPr>
          <p:cNvSpPr>
            <a:spLocks xmlns:a="http://schemas.openxmlformats.org/drawingml/2006/main" noGrp="1"/>
          </p:cNvSpPr>
          <p:nvPr/>
        </p:nvSpPr>
        <p:spPr>
          <a:xfrm xmlns:a="http://schemas.openxmlformats.org/drawingml/2006/main">
            <a:off x="8763000" y="19621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64E4A3"/>
                </a:solidFill>
              </a:defRPr>
            </a:pPr>
            <a:r>
              <a:rPr sz="3150" b="1">
                <a:solidFill>
                  <a:srgbClr val="64E4A3"/>
                </a:solidFill>
              </a:rPr>
              <a:t>0</a:t>
            </a:r>
          </a:p>
        </p:txBody>
      </p:sp>
      <p:sp>
        <p:nvSpPr>
          <p:cNvPr id="15" name="">
            <a:extLst xmlns:a="http://schemas.openxmlformats.org/drawingml/2006/main">
              <a:ext uri="{FF2B5EF4-FFF2-40B4-BE49-F238E27FC236}">
                <a16:creationId xmlns:a16="http://schemas.microsoft.com/office/drawing/2014/main" id="{CB4530A5-DD1A-4E9C-B149-0262904442AE}"/>
              </a:ext>
            </a:extLst>
          </p:cNvPr>
          <p:cNvSpPr>
            <a:spLocks xmlns:a="http://schemas.openxmlformats.org/drawingml/2006/main" noGrp="1"/>
          </p:cNvSpPr>
          <p:nvPr/>
        </p:nvSpPr>
        <p:spPr>
          <a:xfrm xmlns:a="http://schemas.openxmlformats.org/drawingml/2006/main">
            <a:off x="8763000" y="25050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duplicates</a:t>
            </a:r>
          </a:p>
        </p:txBody>
      </p:sp>
      <p:sp>
        <p:nvSpPr>
          <p:cNvPr id="16" name="">
            <a:extLst xmlns:a="http://schemas.openxmlformats.org/drawingml/2006/main">
              <a:ext uri="{FF2B5EF4-FFF2-40B4-BE49-F238E27FC236}">
                <a16:creationId xmlns:a16="http://schemas.microsoft.com/office/drawing/2014/main" id="{1FD5B780-21FE-41A6-BE74-E6AFD73D0A1E}"/>
              </a:ext>
            </a:extLst>
          </p:cNvPr>
          <p:cNvSpPr>
            <a:spLocks xmlns:a="http://schemas.openxmlformats.org/drawingml/2006/main" noGrp="1"/>
          </p:cNvSpPr>
          <p:nvPr/>
        </p:nvSpPr>
        <p:spPr>
          <a:xfrm xmlns:a="http://schemas.openxmlformats.org/drawingml/2006/main">
            <a:off x="809625" y="370522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6D0C3"/>
                </a:solidFill>
              </a:defRPr>
            </a:pPr>
            <a:r>
              <a:rPr sz="1125" b="1">
                <a:solidFill>
                  <a:srgbClr val="26D0C3"/>
                </a:solidFill>
              </a:rPr>
              <a:t>RAW</a:t>
            </a:r>
          </a:p>
        </p:txBody>
      </p:sp>
      <p:sp>
        <p:nvSpPr>
          <p:cNvPr id="17" name="">
            <a:extLst xmlns:a="http://schemas.openxmlformats.org/drawingml/2006/main">
              <a:ext uri="{FF2B5EF4-FFF2-40B4-BE49-F238E27FC236}">
                <a16:creationId xmlns:a16="http://schemas.microsoft.com/office/drawing/2014/main" id="{DFD11CE6-1002-44D2-B869-C474540C412C}"/>
              </a:ext>
            </a:extLst>
          </p:cNvPr>
          <p:cNvSpPr>
            <a:spLocks xmlns:a="http://schemas.openxmlformats.org/drawingml/2006/main" noGrp="1"/>
          </p:cNvSpPr>
          <p:nvPr/>
        </p:nvSpPr>
        <p:spPr>
          <a:xfrm xmlns:a="http://schemas.openxmlformats.org/drawingml/2006/main">
            <a:off x="2047875" y="37052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parse dates</a:t>
            </a:r>
          </a:p>
        </p:txBody>
      </p:sp>
      <p:sp>
        <p:nvSpPr>
          <p:cNvPr id="18" name="">
            <a:extLst xmlns:a="http://schemas.openxmlformats.org/drawingml/2006/main">
              <a:ext uri="{FF2B5EF4-FFF2-40B4-BE49-F238E27FC236}">
                <a16:creationId xmlns:a16="http://schemas.microsoft.com/office/drawing/2014/main" id="{62543E74-664D-45A3-86E6-D5A111D77BBF}"/>
              </a:ext>
            </a:extLst>
          </p:cNvPr>
          <p:cNvSpPr>
            <a:spLocks xmlns:a="http://schemas.openxmlformats.org/drawingml/2006/main" noGrp="1"/>
          </p:cNvSpPr>
          <p:nvPr/>
        </p:nvSpPr>
        <p:spPr>
          <a:xfrm xmlns:a="http://schemas.openxmlformats.org/drawingml/2006/main">
            <a:off x="3571875" y="3686175"/>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68D8FF"/>
                </a:solidFill>
              </a:defRPr>
            </a:pPr>
            <a:r>
              <a:rPr sz="1800" b="1">
                <a:solidFill>
                  <a:srgbClr val="68D8FF"/>
                </a:solidFill>
              </a:rPr>
              <a:t>→</a:t>
            </a:r>
          </a:p>
        </p:txBody>
      </p:sp>
      <p:sp>
        <p:nvSpPr>
          <p:cNvPr id="19" name="">
            <a:extLst xmlns:a="http://schemas.openxmlformats.org/drawingml/2006/main">
              <a:ext uri="{FF2B5EF4-FFF2-40B4-BE49-F238E27FC236}">
                <a16:creationId xmlns:a16="http://schemas.microsoft.com/office/drawing/2014/main" id="{FD564400-A905-47F1-91F5-D861BD20AE43}"/>
              </a:ext>
            </a:extLst>
          </p:cNvPr>
          <p:cNvSpPr>
            <a:spLocks xmlns:a="http://schemas.openxmlformats.org/drawingml/2006/main" noGrp="1"/>
          </p:cNvSpPr>
          <p:nvPr/>
        </p:nvSpPr>
        <p:spPr>
          <a:xfrm xmlns:a="http://schemas.openxmlformats.org/drawingml/2006/main">
            <a:off x="4000500" y="37052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convert numerics</a:t>
            </a:r>
          </a:p>
        </p:txBody>
      </p:sp>
      <p:sp>
        <p:nvSpPr>
          <p:cNvPr id="20" name="">
            <a:extLst xmlns:a="http://schemas.openxmlformats.org/drawingml/2006/main">
              <a:ext uri="{FF2B5EF4-FFF2-40B4-BE49-F238E27FC236}">
                <a16:creationId xmlns:a16="http://schemas.microsoft.com/office/drawing/2014/main" id="{AE4B8BDD-5F54-4331-A7D8-633CEDBB4D14}"/>
              </a:ext>
            </a:extLst>
          </p:cNvPr>
          <p:cNvSpPr>
            <a:spLocks xmlns:a="http://schemas.openxmlformats.org/drawingml/2006/main" noGrp="1"/>
          </p:cNvSpPr>
          <p:nvPr/>
        </p:nvSpPr>
        <p:spPr>
          <a:xfrm xmlns:a="http://schemas.openxmlformats.org/drawingml/2006/main">
            <a:off x="5857875" y="3686175"/>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68D8FF"/>
                </a:solidFill>
              </a:defRPr>
            </a:pPr>
            <a:r>
              <a:rPr sz="1800" b="1">
                <a:solidFill>
                  <a:srgbClr val="68D8FF"/>
                </a:solidFill>
              </a:rPr>
              <a:t>→</a:t>
            </a:r>
          </a:p>
        </p:txBody>
      </p:sp>
      <p:sp>
        <p:nvSpPr>
          <p:cNvPr id="21" name="">
            <a:extLst xmlns:a="http://schemas.openxmlformats.org/drawingml/2006/main">
              <a:ext uri="{FF2B5EF4-FFF2-40B4-BE49-F238E27FC236}">
                <a16:creationId xmlns:a16="http://schemas.microsoft.com/office/drawing/2014/main" id="{FD8C1F0C-419E-4C5B-9E0E-EE9AFEB0CD83}"/>
              </a:ext>
            </a:extLst>
          </p:cNvPr>
          <p:cNvSpPr>
            <a:spLocks xmlns:a="http://schemas.openxmlformats.org/drawingml/2006/main" noGrp="1"/>
          </p:cNvSpPr>
          <p:nvPr/>
        </p:nvSpPr>
        <p:spPr>
          <a:xfrm xmlns:a="http://schemas.openxmlformats.org/drawingml/2006/main">
            <a:off x="6286500" y="37052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normalize text</a:t>
            </a:r>
          </a:p>
        </p:txBody>
      </p:sp>
      <p:sp>
        <p:nvSpPr>
          <p:cNvPr id="22" name="">
            <a:extLst xmlns:a="http://schemas.openxmlformats.org/drawingml/2006/main">
              <a:ext uri="{FF2B5EF4-FFF2-40B4-BE49-F238E27FC236}">
                <a16:creationId xmlns:a16="http://schemas.microsoft.com/office/drawing/2014/main" id="{92684163-B294-49A0-A4AE-D52FE4FD4780}"/>
              </a:ext>
            </a:extLst>
          </p:cNvPr>
          <p:cNvSpPr>
            <a:spLocks xmlns:a="http://schemas.openxmlformats.org/drawingml/2006/main" noGrp="1"/>
          </p:cNvSpPr>
          <p:nvPr/>
        </p:nvSpPr>
        <p:spPr>
          <a:xfrm xmlns:a="http://schemas.openxmlformats.org/drawingml/2006/main">
            <a:off x="7953375" y="3686175"/>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68D8FF"/>
                </a:solidFill>
              </a:defRPr>
            </a:pPr>
            <a:r>
              <a:rPr sz="1800" b="1">
                <a:solidFill>
                  <a:srgbClr val="68D8FF"/>
                </a:solidFill>
              </a:rPr>
              <a:t>→</a:t>
            </a:r>
          </a:p>
        </p:txBody>
      </p:sp>
      <p:sp>
        <p:nvSpPr>
          <p:cNvPr id="23" name="">
            <a:extLst xmlns:a="http://schemas.openxmlformats.org/drawingml/2006/main">
              <a:ext uri="{FF2B5EF4-FFF2-40B4-BE49-F238E27FC236}">
                <a16:creationId xmlns:a16="http://schemas.microsoft.com/office/drawing/2014/main" id="{27D8E17D-44E5-4B56-8417-D192C670E665}"/>
              </a:ext>
            </a:extLst>
          </p:cNvPr>
          <p:cNvSpPr>
            <a:spLocks xmlns:a="http://schemas.openxmlformats.org/drawingml/2006/main" noGrp="1"/>
          </p:cNvSpPr>
          <p:nvPr/>
        </p:nvSpPr>
        <p:spPr>
          <a:xfrm xmlns:a="http://schemas.openxmlformats.org/drawingml/2006/main">
            <a:off x="8382000" y="370522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flag outliers</a:t>
            </a:r>
          </a:p>
        </p:txBody>
      </p:sp>
      <p:sp>
        <p:nvSpPr>
          <p:cNvPr id="24" name="">
            <a:extLst xmlns:a="http://schemas.openxmlformats.org/drawingml/2006/main">
              <a:ext uri="{FF2B5EF4-FFF2-40B4-BE49-F238E27FC236}">
                <a16:creationId xmlns:a16="http://schemas.microsoft.com/office/drawing/2014/main" id="{0355B5FA-C4F2-4D23-B1DE-7F2C8808707C}"/>
              </a:ext>
            </a:extLst>
          </p:cNvPr>
          <p:cNvSpPr>
            <a:spLocks xmlns:a="http://schemas.openxmlformats.org/drawingml/2006/main" noGrp="1"/>
          </p:cNvSpPr>
          <p:nvPr/>
        </p:nvSpPr>
        <p:spPr>
          <a:xfrm xmlns:a="http://schemas.openxmlformats.org/drawingml/2006/main">
            <a:off x="10001250" y="370522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6D0C3"/>
                </a:solidFill>
              </a:defRPr>
            </a:pPr>
            <a:r>
              <a:rPr sz="1125" b="1">
                <a:solidFill>
                  <a:srgbClr val="26D0C3"/>
                </a:solidFill>
              </a:rPr>
              <a:t>→ CLEAN</a:t>
            </a:r>
          </a:p>
        </p:txBody>
      </p:sp>
      <p:sp>
        <p:nvSpPr>
          <p:cNvPr id="25" name="">
            <a:extLst xmlns:a="http://schemas.openxmlformats.org/drawingml/2006/main">
              <a:ext uri="{FF2B5EF4-FFF2-40B4-BE49-F238E27FC236}">
                <a16:creationId xmlns:a16="http://schemas.microsoft.com/office/drawing/2014/main" id="{D0406B1E-2DFD-4C6A-BD5B-9D011B65450A}"/>
              </a:ext>
            </a:extLst>
          </p:cNvPr>
          <p:cNvSpPr>
            <a:spLocks xmlns:a="http://schemas.openxmlformats.org/drawingml/2006/main" noGrp="1"/>
          </p:cNvSpPr>
          <p:nvPr/>
        </p:nvSpPr>
        <p:spPr>
          <a:xfrm xmlns:a="http://schemas.openxmlformats.org/drawingml/2006/main">
            <a:off x="809625" y="4257675"/>
            <a:ext cx="10429875" cy="19050"/>
          </a:xfrm>
          <a:prstGeom xmlns:a="http://schemas.openxmlformats.org/drawingml/2006/main" prst="rect">
            <a:avLst/>
          </a:prstGeom>
          <a:solidFill xmlns:a="http://schemas.openxmlformats.org/drawingml/2006/main">
            <a:srgbClr val="29495B"/>
          </a:solidFill>
          <a:ln xmlns:a="http://schemas.openxmlformats.org/drawingml/2006/main" w="9525">
            <a:solidFill>
              <a:srgbClr val="29495B"/>
            </a:solidFill>
            <a:prstDash val="solid"/>
          </a:ln>
        </p:spPr>
      </p:sp>
      <p:sp>
        <p:nvSpPr>
          <p:cNvPr id="26" name="">
            <a:extLst xmlns:a="http://schemas.openxmlformats.org/drawingml/2006/main">
              <a:ext uri="{FF2B5EF4-FFF2-40B4-BE49-F238E27FC236}">
                <a16:creationId xmlns:a16="http://schemas.microsoft.com/office/drawing/2014/main" id="{8C2D023F-9542-4614-82C5-29F41F4111A5}"/>
              </a:ext>
            </a:extLst>
          </p:cNvPr>
          <p:cNvSpPr>
            <a:spLocks xmlns:a="http://schemas.openxmlformats.org/drawingml/2006/main" noGrp="1"/>
          </p:cNvSpPr>
          <p:nvPr/>
        </p:nvSpPr>
        <p:spPr>
          <a:xfrm xmlns:a="http://schemas.openxmlformats.org/drawingml/2006/main">
            <a:off x="857250" y="46196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AEC0CB"/>
                </a:solidFill>
              </a:defRPr>
            </a:pPr>
            <a:r>
              <a:rPr sz="1350" b="1">
                <a:solidFill>
                  <a:srgbClr val="AEC0CB"/>
                </a:solidFill>
              </a:rPr>
              <a:t>Sales IQR flags</a:t>
            </a:r>
          </a:p>
        </p:txBody>
      </p:sp>
      <p:sp>
        <p:nvSpPr>
          <p:cNvPr id="27" name="">
            <a:extLst xmlns:a="http://schemas.openxmlformats.org/drawingml/2006/main">
              <a:ext uri="{FF2B5EF4-FFF2-40B4-BE49-F238E27FC236}">
                <a16:creationId xmlns:a16="http://schemas.microsoft.com/office/drawing/2014/main" id="{8505D0AD-1202-45E5-B568-21C860BB6814}"/>
              </a:ext>
            </a:extLst>
          </p:cNvPr>
          <p:cNvSpPr>
            <a:spLocks xmlns:a="http://schemas.openxmlformats.org/drawingml/2006/main" noGrp="1"/>
          </p:cNvSpPr>
          <p:nvPr/>
        </p:nvSpPr>
        <p:spPr>
          <a:xfrm xmlns:a="http://schemas.openxmlformats.org/drawingml/2006/main">
            <a:off x="857250" y="49815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F5B642"/>
                </a:solidFill>
              </a:defRPr>
            </a:pPr>
            <a:r>
              <a:rPr sz="2175" b="1">
                <a:solidFill>
                  <a:srgbClr val="F5B642"/>
                </a:solidFill>
              </a:rPr>
              <a:t>161 · 8.05%</a:t>
            </a:r>
          </a:p>
        </p:txBody>
      </p:sp>
      <p:sp>
        <p:nvSpPr>
          <p:cNvPr id="28" name="">
            <a:extLst xmlns:a="http://schemas.openxmlformats.org/drawingml/2006/main">
              <a:ext uri="{FF2B5EF4-FFF2-40B4-BE49-F238E27FC236}">
                <a16:creationId xmlns:a16="http://schemas.microsoft.com/office/drawing/2014/main" id="{BA23DEBB-8CE7-47C9-ADAA-05DA5C9758F0}"/>
              </a:ext>
            </a:extLst>
          </p:cNvPr>
          <p:cNvSpPr>
            <a:spLocks xmlns:a="http://schemas.openxmlformats.org/drawingml/2006/main" noGrp="1"/>
          </p:cNvSpPr>
          <p:nvPr/>
        </p:nvSpPr>
        <p:spPr>
          <a:xfrm xmlns:a="http://schemas.openxmlformats.org/drawingml/2006/main">
            <a:off x="3714750" y="46196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AEC0CB"/>
                </a:solidFill>
              </a:defRPr>
            </a:pPr>
            <a:r>
              <a:rPr sz="1350" b="1">
                <a:solidFill>
                  <a:srgbClr val="AEC0CB"/>
                </a:solidFill>
              </a:rPr>
              <a:t>Profit IQR flags</a:t>
            </a:r>
          </a:p>
        </p:txBody>
      </p:sp>
      <p:sp>
        <p:nvSpPr>
          <p:cNvPr id="29" name="">
            <a:extLst xmlns:a="http://schemas.openxmlformats.org/drawingml/2006/main">
              <a:ext uri="{FF2B5EF4-FFF2-40B4-BE49-F238E27FC236}">
                <a16:creationId xmlns:a16="http://schemas.microsoft.com/office/drawing/2014/main" id="{93670A5C-6FDC-4BA8-8A49-C834254C5AA5}"/>
              </a:ext>
            </a:extLst>
          </p:cNvPr>
          <p:cNvSpPr>
            <a:spLocks xmlns:a="http://schemas.openxmlformats.org/drawingml/2006/main" noGrp="1"/>
          </p:cNvSpPr>
          <p:nvPr/>
        </p:nvSpPr>
        <p:spPr>
          <a:xfrm xmlns:a="http://schemas.openxmlformats.org/drawingml/2006/main">
            <a:off x="3714750" y="49815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26D0C3"/>
                </a:solidFill>
              </a:defRPr>
            </a:pPr>
            <a:r>
              <a:rPr sz="2175" b="1">
                <a:solidFill>
                  <a:srgbClr val="26D0C3"/>
                </a:solidFill>
              </a:rPr>
              <a:t>251 · 12.55%</a:t>
            </a:r>
          </a:p>
        </p:txBody>
      </p:sp>
      <p:sp>
        <p:nvSpPr>
          <p:cNvPr id="30" name="">
            <a:extLst xmlns:a="http://schemas.openxmlformats.org/drawingml/2006/main">
              <a:ext uri="{FF2B5EF4-FFF2-40B4-BE49-F238E27FC236}">
                <a16:creationId xmlns:a16="http://schemas.microsoft.com/office/drawing/2014/main" id="{F247A64F-ECF9-480E-AF86-534A27004731}"/>
              </a:ext>
            </a:extLst>
          </p:cNvPr>
          <p:cNvSpPr>
            <a:spLocks xmlns:a="http://schemas.openxmlformats.org/drawingml/2006/main" noGrp="1"/>
          </p:cNvSpPr>
          <p:nvPr/>
        </p:nvSpPr>
        <p:spPr>
          <a:xfrm xmlns:a="http://schemas.openxmlformats.org/drawingml/2006/main">
            <a:off x="6810375" y="4762500"/>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5F8FB"/>
                </a:solidFill>
              </a:defRPr>
            </a:pPr>
            <a:r>
              <a:rPr sz="1875" b="1">
                <a:solidFill>
                  <a:srgbClr val="F5F8FB"/>
                </a:solidFill>
              </a:rPr>
              <a:t>Marked, not deleted or capped</a:t>
            </a:r>
          </a:p>
        </p:txBody>
      </p:sp>
    </p:spTree>
    <p:extLst>
      <p:ext uri="{BB962C8B-B14F-4D97-AF65-F5344CB8AC3E}">
        <p14:creationId xmlns:p14="http://schemas.microsoft.com/office/powerpoint/2010/main" val="649258725"/>
      </p:ext>
    </p:extLst>
  </p:cSld>
</p:sld>
</file>

<file path=ppt/slides/slide7.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A86E5BD-FE53-40FF-A1FE-0812414D3168}"/>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059F1A75-3D42-4CEF-AC69-81A9E2158981}"/>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VERIFIED DEMO EVIDENCE</a:t>
            </a:r>
          </a:p>
        </p:txBody>
      </p:sp>
      <p:sp>
        <p:nvSpPr>
          <p:cNvPr id="3" name="title-7">
            <a:extLst xmlns:a="http://schemas.openxmlformats.org/drawingml/2006/main">
              <a:ext uri="{FF2B5EF4-FFF2-40B4-BE49-F238E27FC236}">
                <a16:creationId xmlns:a16="http://schemas.microsoft.com/office/drawing/2014/main" id="{55B83FA0-8FDE-46D8-82CF-9DA4DCCABBC6}"/>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The development dataset produces a coherent executive view</a:t>
            </a:r>
          </a:p>
        </p:txBody>
      </p:sp>
      <p:sp>
        <p:nvSpPr>
          <p:cNvPr id="4" name="">
            <a:extLst xmlns:a="http://schemas.openxmlformats.org/drawingml/2006/main">
              <a:ext uri="{FF2B5EF4-FFF2-40B4-BE49-F238E27FC236}">
                <a16:creationId xmlns:a16="http://schemas.microsoft.com/office/drawing/2014/main" id="{27AC1942-77D3-4563-B200-EACB2AA12D78}"/>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229BCD75-BD40-46C0-9A1B-F83A7A9E345F}"/>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07</a:t>
            </a:r>
          </a:p>
        </p:txBody>
      </p:sp>
      <p:sp>
        <p:nvSpPr>
          <p:cNvPr id="6" name="">
            <a:extLst xmlns:a="http://schemas.openxmlformats.org/drawingml/2006/main">
              <a:ext uri="{FF2B5EF4-FFF2-40B4-BE49-F238E27FC236}">
                <a16:creationId xmlns:a16="http://schemas.microsoft.com/office/drawing/2014/main" id="{48C70526-7ACD-4694-BF67-85072DA6415B}"/>
              </a:ext>
            </a:extLst>
          </p:cNvPr>
          <p:cNvSpPr>
            <a:spLocks xmlns:a="http://schemas.openxmlformats.org/drawingml/2006/main" noGrp="1"/>
          </p:cNvSpPr>
          <p:nvPr/>
        </p:nvSpPr>
        <p:spPr>
          <a:xfrm xmlns:a="http://schemas.openxmlformats.org/drawingml/2006/main">
            <a:off x="619125" y="182880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26D0C3"/>
                </a:solidFill>
              </a:defRPr>
            </a:pPr>
            <a:r>
              <a:rPr sz="3150" b="1">
                <a:solidFill>
                  <a:srgbClr val="26D0C3"/>
                </a:solidFill>
              </a:rPr>
              <a:t>$786.2k</a:t>
            </a:r>
          </a:p>
        </p:txBody>
      </p:sp>
      <p:sp>
        <p:nvSpPr>
          <p:cNvPr id="7" name="">
            <a:extLst xmlns:a="http://schemas.openxmlformats.org/drawingml/2006/main">
              <a:ext uri="{FF2B5EF4-FFF2-40B4-BE49-F238E27FC236}">
                <a16:creationId xmlns:a16="http://schemas.microsoft.com/office/drawing/2014/main" id="{83A264B1-BEF9-4574-919B-6E9BFCC08AE6}"/>
              </a:ext>
            </a:extLst>
          </p:cNvPr>
          <p:cNvSpPr>
            <a:spLocks xmlns:a="http://schemas.openxmlformats.org/drawingml/2006/main" noGrp="1"/>
          </p:cNvSpPr>
          <p:nvPr/>
        </p:nvSpPr>
        <p:spPr>
          <a:xfrm xmlns:a="http://schemas.openxmlformats.org/drawingml/2006/main">
            <a:off x="619125" y="23717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total sales</a:t>
            </a:r>
          </a:p>
        </p:txBody>
      </p:sp>
      <p:sp>
        <p:nvSpPr>
          <p:cNvPr id="8" name="">
            <a:extLst xmlns:a="http://schemas.openxmlformats.org/drawingml/2006/main">
              <a:ext uri="{FF2B5EF4-FFF2-40B4-BE49-F238E27FC236}">
                <a16:creationId xmlns:a16="http://schemas.microsoft.com/office/drawing/2014/main" id="{59016E5A-0ABC-4D28-8BE6-88519DC7E11B}"/>
              </a:ext>
            </a:extLst>
          </p:cNvPr>
          <p:cNvSpPr>
            <a:spLocks xmlns:a="http://schemas.openxmlformats.org/drawingml/2006/main" noGrp="1"/>
          </p:cNvSpPr>
          <p:nvPr/>
        </p:nvSpPr>
        <p:spPr>
          <a:xfrm xmlns:a="http://schemas.openxmlformats.org/drawingml/2006/main">
            <a:off x="2762250" y="182880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68D8FF"/>
                </a:solidFill>
              </a:defRPr>
            </a:pPr>
            <a:r>
              <a:rPr sz="3150" b="1">
                <a:solidFill>
                  <a:srgbClr val="68D8FF"/>
                </a:solidFill>
              </a:rPr>
              <a:t>$73.3k</a:t>
            </a:r>
          </a:p>
        </p:txBody>
      </p:sp>
      <p:sp>
        <p:nvSpPr>
          <p:cNvPr id="9" name="">
            <a:extLst xmlns:a="http://schemas.openxmlformats.org/drawingml/2006/main">
              <a:ext uri="{FF2B5EF4-FFF2-40B4-BE49-F238E27FC236}">
                <a16:creationId xmlns:a16="http://schemas.microsoft.com/office/drawing/2014/main" id="{BF363C37-370E-4FBC-A89C-AF6831C08D51}"/>
              </a:ext>
            </a:extLst>
          </p:cNvPr>
          <p:cNvSpPr>
            <a:spLocks xmlns:a="http://schemas.openxmlformats.org/drawingml/2006/main" noGrp="1"/>
          </p:cNvSpPr>
          <p:nvPr/>
        </p:nvSpPr>
        <p:spPr>
          <a:xfrm xmlns:a="http://schemas.openxmlformats.org/drawingml/2006/main">
            <a:off x="2762250" y="23717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total profit</a:t>
            </a:r>
          </a:p>
        </p:txBody>
      </p:sp>
      <p:sp>
        <p:nvSpPr>
          <p:cNvPr id="10" name="">
            <a:extLst xmlns:a="http://schemas.openxmlformats.org/drawingml/2006/main">
              <a:ext uri="{FF2B5EF4-FFF2-40B4-BE49-F238E27FC236}">
                <a16:creationId xmlns:a16="http://schemas.microsoft.com/office/drawing/2014/main" id="{89065C62-1351-489C-9CC3-788C58380AEF}"/>
              </a:ext>
            </a:extLst>
          </p:cNvPr>
          <p:cNvSpPr>
            <a:spLocks xmlns:a="http://schemas.openxmlformats.org/drawingml/2006/main" noGrp="1"/>
          </p:cNvSpPr>
          <p:nvPr/>
        </p:nvSpPr>
        <p:spPr>
          <a:xfrm xmlns:a="http://schemas.openxmlformats.org/drawingml/2006/main">
            <a:off x="4905375" y="1828800"/>
            <a:ext cx="171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F5F8FB"/>
                </a:solidFill>
              </a:defRPr>
            </a:pPr>
            <a:r>
              <a:rPr sz="3150" b="1">
                <a:solidFill>
                  <a:srgbClr val="F5F8FB"/>
                </a:solidFill>
              </a:rPr>
              <a:t>2,000</a:t>
            </a:r>
          </a:p>
        </p:txBody>
      </p:sp>
      <p:sp>
        <p:nvSpPr>
          <p:cNvPr id="11" name="">
            <a:extLst xmlns:a="http://schemas.openxmlformats.org/drawingml/2006/main">
              <a:ext uri="{FF2B5EF4-FFF2-40B4-BE49-F238E27FC236}">
                <a16:creationId xmlns:a16="http://schemas.microsoft.com/office/drawing/2014/main" id="{EB810B51-5B23-46BA-94D8-409F26754A09}"/>
              </a:ext>
            </a:extLst>
          </p:cNvPr>
          <p:cNvSpPr>
            <a:spLocks xmlns:a="http://schemas.openxmlformats.org/drawingml/2006/main" noGrp="1"/>
          </p:cNvSpPr>
          <p:nvPr/>
        </p:nvSpPr>
        <p:spPr>
          <a:xfrm xmlns:a="http://schemas.openxmlformats.org/drawingml/2006/main">
            <a:off x="4905375" y="23717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orders</a:t>
            </a:r>
          </a:p>
        </p:txBody>
      </p:sp>
      <p:sp>
        <p:nvSpPr>
          <p:cNvPr id="12" name="">
            <a:extLst xmlns:a="http://schemas.openxmlformats.org/drawingml/2006/main">
              <a:ext uri="{FF2B5EF4-FFF2-40B4-BE49-F238E27FC236}">
                <a16:creationId xmlns:a16="http://schemas.microsoft.com/office/drawing/2014/main" id="{523A9146-FE91-4004-A6D1-4357B49B0ADB}"/>
              </a:ext>
            </a:extLst>
          </p:cNvPr>
          <p:cNvSpPr>
            <a:spLocks xmlns:a="http://schemas.openxmlformats.org/drawingml/2006/main" noGrp="1"/>
          </p:cNvSpPr>
          <p:nvPr/>
        </p:nvSpPr>
        <p:spPr>
          <a:xfrm xmlns:a="http://schemas.openxmlformats.org/drawingml/2006/main">
            <a:off x="6667500" y="1828800"/>
            <a:ext cx="171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F5F8FB"/>
                </a:solidFill>
              </a:defRPr>
            </a:pPr>
            <a:r>
              <a:rPr sz="3150" b="1">
                <a:solidFill>
                  <a:srgbClr val="F5F8FB"/>
                </a:solidFill>
              </a:rPr>
              <a:t>12,030</a:t>
            </a:r>
          </a:p>
        </p:txBody>
      </p:sp>
      <p:sp>
        <p:nvSpPr>
          <p:cNvPr id="13" name="">
            <a:extLst xmlns:a="http://schemas.openxmlformats.org/drawingml/2006/main">
              <a:ext uri="{FF2B5EF4-FFF2-40B4-BE49-F238E27FC236}">
                <a16:creationId xmlns:a16="http://schemas.microsoft.com/office/drawing/2014/main" id="{26DACBA0-C63B-456E-AE5A-AEABBC048239}"/>
              </a:ext>
            </a:extLst>
          </p:cNvPr>
          <p:cNvSpPr>
            <a:spLocks xmlns:a="http://schemas.openxmlformats.org/drawingml/2006/main" noGrp="1"/>
          </p:cNvSpPr>
          <p:nvPr/>
        </p:nvSpPr>
        <p:spPr>
          <a:xfrm xmlns:a="http://schemas.openxmlformats.org/drawingml/2006/main">
            <a:off x="6667500" y="23717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units</a:t>
            </a:r>
          </a:p>
        </p:txBody>
      </p:sp>
      <p:sp>
        <p:nvSpPr>
          <p:cNvPr id="14" name="">
            <a:extLst xmlns:a="http://schemas.openxmlformats.org/drawingml/2006/main">
              <a:ext uri="{FF2B5EF4-FFF2-40B4-BE49-F238E27FC236}">
                <a16:creationId xmlns:a16="http://schemas.microsoft.com/office/drawing/2014/main" id="{FB76522D-748D-4F97-8326-008996537B71}"/>
              </a:ext>
            </a:extLst>
          </p:cNvPr>
          <p:cNvSpPr>
            <a:spLocks xmlns:a="http://schemas.openxmlformats.org/drawingml/2006/main" noGrp="1"/>
          </p:cNvSpPr>
          <p:nvPr/>
        </p:nvSpPr>
        <p:spPr>
          <a:xfrm xmlns:a="http://schemas.openxmlformats.org/drawingml/2006/main">
            <a:off x="8429625" y="1828800"/>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64E4A3"/>
                </a:solidFill>
              </a:defRPr>
            </a:pPr>
            <a:r>
              <a:rPr sz="3150" b="1">
                <a:solidFill>
                  <a:srgbClr val="64E4A3"/>
                </a:solidFill>
              </a:rPr>
              <a:t>9.33%</a:t>
            </a:r>
          </a:p>
        </p:txBody>
      </p:sp>
      <p:sp>
        <p:nvSpPr>
          <p:cNvPr id="15" name="">
            <a:extLst xmlns:a="http://schemas.openxmlformats.org/drawingml/2006/main">
              <a:ext uri="{FF2B5EF4-FFF2-40B4-BE49-F238E27FC236}">
                <a16:creationId xmlns:a16="http://schemas.microsoft.com/office/drawing/2014/main" id="{4E448C31-162E-4995-89C0-900EEAC900FD}"/>
              </a:ext>
            </a:extLst>
          </p:cNvPr>
          <p:cNvSpPr>
            <a:spLocks xmlns:a="http://schemas.openxmlformats.org/drawingml/2006/main" noGrp="1"/>
          </p:cNvSpPr>
          <p:nvPr/>
        </p:nvSpPr>
        <p:spPr>
          <a:xfrm xmlns:a="http://schemas.openxmlformats.org/drawingml/2006/main">
            <a:off x="8429625" y="23717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profit margin</a:t>
            </a:r>
          </a:p>
        </p:txBody>
      </p:sp>
      <p:graphicFrame>
        <p:nvGraphicFramePr>
          <p:cNvPr id="35" name="Chart"/>
          <p:cNvGraphicFramePr/>
          <p:nvPr/>
        </p:nvGraphicFramePr>
        <p:xfrm>
          <a:off xmlns:a="http://schemas.openxmlformats.org/drawingml/2006/main" x="762000" y="3333750"/>
          <a:ext xmlns:a="http://schemas.openxmlformats.org/drawingml/2006/main" cx="6858000" cy="2571750"/>
        </p:xfrm>
        <a:graphic xmlns:a="http://schemas.openxmlformats.org/drawingml/2006/main">
          <a:graphicData uri="http://schemas.openxmlformats.org/drawingml/2006/chart">
            <c:chart xmlns:r="http://schemas.openxmlformats.org/officeDocument/2006/relationships" xmlns:c="http://schemas.openxmlformats.org/drawingml/2006/chart" r:id="R7a8d24913fc2425f"/>
          </a:graphicData>
        </a:graphic>
      </p:graphicFrame>
      <p:sp>
        <p:nvSpPr>
          <p:cNvPr id="17" name="">
            <a:extLst xmlns:a="http://schemas.openxmlformats.org/drawingml/2006/main">
              <a:ext uri="{FF2B5EF4-FFF2-40B4-BE49-F238E27FC236}">
                <a16:creationId xmlns:a16="http://schemas.microsoft.com/office/drawing/2014/main" id="{6F00780A-4383-4843-9DB7-FF32E48DD6CE}"/>
              </a:ext>
            </a:extLst>
          </p:cNvPr>
          <p:cNvSpPr>
            <a:spLocks xmlns:a="http://schemas.openxmlformats.org/drawingml/2006/main" noGrp="1"/>
          </p:cNvSpPr>
          <p:nvPr/>
        </p:nvSpPr>
        <p:spPr>
          <a:xfrm xmlns:a="http://schemas.openxmlformats.org/drawingml/2006/main">
            <a:off x="8143875" y="3571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5F8FB"/>
                </a:solidFill>
              </a:defRPr>
            </a:pPr>
            <a:r>
              <a:rPr sz="2025" b="1">
                <a:solidFill>
                  <a:srgbClr val="F5F8FB"/>
                </a:solidFill>
              </a:rPr>
              <a:t>West leads sales</a:t>
            </a:r>
          </a:p>
        </p:txBody>
      </p:sp>
      <p:sp>
        <p:nvSpPr>
          <p:cNvPr id="18" name="">
            <a:extLst xmlns:a="http://schemas.openxmlformats.org/drawingml/2006/main">
              <a:ext uri="{FF2B5EF4-FFF2-40B4-BE49-F238E27FC236}">
                <a16:creationId xmlns:a16="http://schemas.microsoft.com/office/drawing/2014/main" id="{1975115D-C3BD-4D64-8AAC-3C544E08E363}"/>
              </a:ext>
            </a:extLst>
          </p:cNvPr>
          <p:cNvSpPr>
            <a:spLocks xmlns:a="http://schemas.openxmlformats.org/drawingml/2006/main" noGrp="1"/>
          </p:cNvSpPr>
          <p:nvPr/>
        </p:nvSpPr>
        <p:spPr>
          <a:xfrm xmlns:a="http://schemas.openxmlformats.org/drawingml/2006/main">
            <a:off x="8143875" y="40481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26D0C3"/>
                </a:solidFill>
              </a:defRPr>
            </a:pPr>
            <a:r>
              <a:rPr sz="2700" b="1">
                <a:solidFill>
                  <a:srgbClr val="26D0C3"/>
                </a:solidFill>
              </a:rPr>
              <a:t>$213,841.94</a:t>
            </a:r>
          </a:p>
        </p:txBody>
      </p:sp>
      <p:sp>
        <p:nvSpPr>
          <p:cNvPr id="19" name="">
            <a:extLst xmlns:a="http://schemas.openxmlformats.org/drawingml/2006/main">
              <a:ext uri="{FF2B5EF4-FFF2-40B4-BE49-F238E27FC236}">
                <a16:creationId xmlns:a16="http://schemas.microsoft.com/office/drawing/2014/main" id="{51C44B42-FB6A-49DE-A121-555B24640060}"/>
              </a:ext>
            </a:extLst>
          </p:cNvPr>
          <p:cNvSpPr>
            <a:spLocks xmlns:a="http://schemas.openxmlformats.org/drawingml/2006/main" noGrp="1"/>
          </p:cNvSpPr>
          <p:nvPr/>
        </p:nvSpPr>
        <p:spPr>
          <a:xfrm xmlns:a="http://schemas.openxmlformats.org/drawingml/2006/main">
            <a:off x="8143875" y="466725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EC0CB"/>
                </a:solidFill>
              </a:defRPr>
            </a:pPr>
            <a:r>
              <a:rPr sz="1350" b="0">
                <a:solidFill>
                  <a:srgbClr val="AEC0CB"/>
                </a:solidFill>
              </a:rPr>
              <a:t>Technology leads category profit at $25,339.79 — narrowly ahead of Office Supplies.</a:t>
            </a:r>
          </a:p>
        </p:txBody>
      </p:sp>
    </p:spTree>
    <p:extLst>
      <p:ext uri="{BB962C8B-B14F-4D97-AF65-F5344CB8AC3E}">
        <p14:creationId xmlns:p14="http://schemas.microsoft.com/office/powerpoint/2010/main" val="802245572"/>
      </p:ext>
    </p:extLst>
  </p:cSld>
</p:sld>
</file>

<file path=ppt/slides/slide8.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BF691EA-D282-40FE-B41B-5291C8F369D4}"/>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3AF5859C-5D45-429D-8FBC-DD8061BEAFBC}"/>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AI MODEL STRATEGY</a:t>
            </a:r>
          </a:p>
        </p:txBody>
      </p:sp>
      <p:sp>
        <p:nvSpPr>
          <p:cNvPr id="3" name="title-8">
            <a:extLst xmlns:a="http://schemas.openxmlformats.org/drawingml/2006/main">
              <a:ext uri="{FF2B5EF4-FFF2-40B4-BE49-F238E27FC236}">
                <a16:creationId xmlns:a16="http://schemas.microsoft.com/office/drawing/2014/main" id="{FA5E4FB7-AF7F-4C7D-9A58-383ACF673698}"/>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Hosted flexibility — deterministic fallback — one validation boundary</a:t>
            </a:r>
          </a:p>
        </p:txBody>
      </p:sp>
      <p:sp>
        <p:nvSpPr>
          <p:cNvPr id="4" name="">
            <a:extLst xmlns:a="http://schemas.openxmlformats.org/drawingml/2006/main">
              <a:ext uri="{FF2B5EF4-FFF2-40B4-BE49-F238E27FC236}">
                <a16:creationId xmlns:a16="http://schemas.microsoft.com/office/drawing/2014/main" id="{A8B25DF8-88C9-42A7-BE10-73290BE6CD0B}"/>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3F775898-B589-4E74-91E4-DEB999C3AE5C}"/>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08</a:t>
            </a:r>
          </a:p>
        </p:txBody>
      </p:sp>
      <p:sp>
        <p:nvSpPr>
          <p:cNvPr id="6" name="">
            <a:extLst xmlns:a="http://schemas.openxmlformats.org/drawingml/2006/main">
              <a:ext uri="{FF2B5EF4-FFF2-40B4-BE49-F238E27FC236}">
                <a16:creationId xmlns:a16="http://schemas.microsoft.com/office/drawing/2014/main" id="{16456067-F5C7-45A1-A9E2-529F3CBB7383}"/>
              </a:ext>
            </a:extLst>
          </p:cNvPr>
          <p:cNvSpPr>
            <a:spLocks xmlns:a="http://schemas.openxmlformats.org/drawingml/2006/main" noGrp="1"/>
          </p:cNvSpPr>
          <p:nvPr/>
        </p:nvSpPr>
        <p:spPr>
          <a:xfrm xmlns:a="http://schemas.openxmlformats.org/drawingml/2006/main">
            <a:off x="762000" y="21240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6D0C3"/>
                </a:solidFill>
              </a:defRPr>
            </a:pPr>
            <a:r>
              <a:rPr sz="1125" b="1">
                <a:solidFill>
                  <a:srgbClr val="26D0C3"/>
                </a:solidFill>
              </a:rPr>
              <a:t>LOCAL</a:t>
            </a:r>
          </a:p>
        </p:txBody>
      </p:sp>
      <p:sp>
        <p:nvSpPr>
          <p:cNvPr id="7" name="">
            <a:extLst xmlns:a="http://schemas.openxmlformats.org/drawingml/2006/main">
              <a:ext uri="{FF2B5EF4-FFF2-40B4-BE49-F238E27FC236}">
                <a16:creationId xmlns:a16="http://schemas.microsoft.com/office/drawing/2014/main" id="{03AD6B48-F8DD-4C14-9FC8-62988306B896}"/>
              </a:ext>
            </a:extLst>
          </p:cNvPr>
          <p:cNvSpPr>
            <a:spLocks xmlns:a="http://schemas.openxmlformats.org/drawingml/2006/main" noGrp="1"/>
          </p:cNvSpPr>
          <p:nvPr/>
        </p:nvSpPr>
        <p:spPr>
          <a:xfrm xmlns:a="http://schemas.openxmlformats.org/drawingml/2006/main">
            <a:off x="762000" y="252412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5F8FB"/>
                </a:solidFill>
              </a:defRPr>
            </a:pPr>
            <a:r>
              <a:rPr sz="2250" b="1">
                <a:solidFill>
                  <a:srgbClr val="F5F8FB"/>
                </a:solidFill>
              </a:rPr>
              <a:t>Deterministic planner</a:t>
            </a:r>
          </a:p>
        </p:txBody>
      </p:sp>
      <p:sp>
        <p:nvSpPr>
          <p:cNvPr id="8" name="">
            <a:extLst xmlns:a="http://schemas.openxmlformats.org/drawingml/2006/main">
              <a:ext uri="{FF2B5EF4-FFF2-40B4-BE49-F238E27FC236}">
                <a16:creationId xmlns:a16="http://schemas.microsoft.com/office/drawing/2014/main" id="{A136324D-43C0-4CD1-9DB6-BA5F2E37C701}"/>
              </a:ext>
            </a:extLst>
          </p:cNvPr>
          <p:cNvSpPr>
            <a:spLocks xmlns:a="http://schemas.openxmlformats.org/drawingml/2006/main" noGrp="1"/>
          </p:cNvSpPr>
          <p:nvPr/>
        </p:nvSpPr>
        <p:spPr>
          <a:xfrm xmlns:a="http://schemas.openxmlformats.org/drawingml/2006/main">
            <a:off x="762000" y="3143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EC0CB"/>
                </a:solidFill>
              </a:defRPr>
            </a:pPr>
            <a:r>
              <a:rPr sz="1350" b="0">
                <a:solidFill>
                  <a:srgbClr val="AEC0CB"/>
                </a:solidFill>
              </a:rPr>
              <a:t>No key · private · reproducible</a:t>
            </a:r>
          </a:p>
          <a:p xmlns:a="http://schemas.openxmlformats.org/drawingml/2006/main">
            <a:pPr algn="l">
              <a:defRPr sz="1350" b="0">
                <a:solidFill>
                  <a:srgbClr val="AEC0CB"/>
                </a:solidFill>
              </a:defRPr>
            </a:pPr>
            <a:r>
              <a:rPr sz="1350" b="0">
                <a:solidFill>
                  <a:srgbClr val="AEC0CB"/>
                </a:solidFill>
              </a:rPr>
              <a:t>Covers known e-commerce intents</a:t>
            </a:r>
          </a:p>
        </p:txBody>
      </p:sp>
      <p:sp>
        <p:nvSpPr>
          <p:cNvPr id="9" name="">
            <a:extLst xmlns:a="http://schemas.openxmlformats.org/drawingml/2006/main">
              <a:ext uri="{FF2B5EF4-FFF2-40B4-BE49-F238E27FC236}">
                <a16:creationId xmlns:a16="http://schemas.microsoft.com/office/drawing/2014/main" id="{B2AED2C1-51C8-46EE-AA6F-3BADA9A48848}"/>
              </a:ext>
            </a:extLst>
          </p:cNvPr>
          <p:cNvSpPr>
            <a:spLocks xmlns:a="http://schemas.openxmlformats.org/drawingml/2006/main" noGrp="1"/>
          </p:cNvSpPr>
          <p:nvPr/>
        </p:nvSpPr>
        <p:spPr>
          <a:xfrm xmlns:a="http://schemas.openxmlformats.org/drawingml/2006/main">
            <a:off x="4333875" y="2009775"/>
            <a:ext cx="28575" cy="3143250"/>
          </a:xfrm>
          <a:prstGeom xmlns:a="http://schemas.openxmlformats.org/drawingml/2006/main" prst="rect">
            <a:avLst/>
          </a:prstGeom>
          <a:solidFill xmlns:a="http://schemas.openxmlformats.org/drawingml/2006/main">
            <a:srgbClr val="29495B"/>
          </a:solidFill>
          <a:ln xmlns:a="http://schemas.openxmlformats.org/drawingml/2006/main" w="9525">
            <a:solidFill>
              <a:srgbClr val="29495B"/>
            </a:solidFill>
            <a:prstDash val="solid"/>
          </a:ln>
        </p:spPr>
      </p:sp>
      <p:sp>
        <p:nvSpPr>
          <p:cNvPr id="10" name="">
            <a:extLst xmlns:a="http://schemas.openxmlformats.org/drawingml/2006/main">
              <a:ext uri="{FF2B5EF4-FFF2-40B4-BE49-F238E27FC236}">
                <a16:creationId xmlns:a16="http://schemas.microsoft.com/office/drawing/2014/main" id="{54D24C64-5BA0-4691-AEDE-CD38A2AC130C}"/>
              </a:ext>
            </a:extLst>
          </p:cNvPr>
          <p:cNvSpPr>
            <a:spLocks xmlns:a="http://schemas.openxmlformats.org/drawingml/2006/main" noGrp="1"/>
          </p:cNvSpPr>
          <p:nvPr/>
        </p:nvSpPr>
        <p:spPr>
          <a:xfrm xmlns:a="http://schemas.openxmlformats.org/drawingml/2006/main">
            <a:off x="4905375" y="21240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68D8FF"/>
                </a:solidFill>
              </a:defRPr>
            </a:pPr>
            <a:r>
              <a:rPr sz="1125" b="1">
                <a:solidFill>
                  <a:srgbClr val="68D8FF"/>
                </a:solidFill>
              </a:rPr>
              <a:t>HOSTED / LOCAL MODEL</a:t>
            </a:r>
          </a:p>
        </p:txBody>
      </p:sp>
      <p:sp>
        <p:nvSpPr>
          <p:cNvPr id="11" name="">
            <a:extLst xmlns:a="http://schemas.openxmlformats.org/drawingml/2006/main">
              <a:ext uri="{FF2B5EF4-FFF2-40B4-BE49-F238E27FC236}">
                <a16:creationId xmlns:a16="http://schemas.microsoft.com/office/drawing/2014/main" id="{2F5D3524-06CA-486C-85A9-F6AB3B280C32}"/>
              </a:ext>
            </a:extLst>
          </p:cNvPr>
          <p:cNvSpPr>
            <a:spLocks xmlns:a="http://schemas.openxmlformats.org/drawingml/2006/main" noGrp="1"/>
          </p:cNvSpPr>
          <p:nvPr/>
        </p:nvSpPr>
        <p:spPr>
          <a:xfrm xmlns:a="http://schemas.openxmlformats.org/drawingml/2006/main">
            <a:off x="4905375" y="2524125"/>
            <a:ext cx="438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5F8FB"/>
                </a:solidFill>
              </a:defRPr>
            </a:pPr>
            <a:r>
              <a:rPr sz="2250" b="1">
                <a:solidFill>
                  <a:srgbClr val="F5F8FB"/>
                </a:solidFill>
              </a:rPr>
              <a:t>Gemini · OpenAI · Ollama</a:t>
            </a:r>
          </a:p>
        </p:txBody>
      </p:sp>
      <p:sp>
        <p:nvSpPr>
          <p:cNvPr id="12" name="">
            <a:extLst xmlns:a="http://schemas.openxmlformats.org/drawingml/2006/main">
              <a:ext uri="{FF2B5EF4-FFF2-40B4-BE49-F238E27FC236}">
                <a16:creationId xmlns:a16="http://schemas.microsoft.com/office/drawing/2014/main" id="{EE237C19-C715-4795-85DF-FBA49A33039A}"/>
              </a:ext>
            </a:extLst>
          </p:cNvPr>
          <p:cNvSpPr>
            <a:spLocks xmlns:a="http://schemas.openxmlformats.org/drawingml/2006/main" noGrp="1"/>
          </p:cNvSpPr>
          <p:nvPr/>
        </p:nvSpPr>
        <p:spPr>
          <a:xfrm xmlns:a="http://schemas.openxmlformats.org/drawingml/2006/main">
            <a:off x="4905375" y="31432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EC0CB"/>
                </a:solidFill>
              </a:defRPr>
            </a:pPr>
            <a:r>
              <a:rPr sz="1350" b="0">
                <a:solidFill>
                  <a:srgbClr val="AEC0CB"/>
                </a:solidFill>
              </a:rPr>
              <a:t>Schema-constrained GeneratedQuery</a:t>
            </a:r>
          </a:p>
          <a:p xmlns:a="http://schemas.openxmlformats.org/drawingml/2006/main">
            <a:pPr algn="l">
              <a:defRPr sz="1350" b="0">
                <a:solidFill>
                  <a:srgbClr val="AEC0CB"/>
                </a:solidFill>
              </a:defRPr>
            </a:pPr>
            <a:r>
              <a:rPr sz="1350" b="0">
                <a:solidFill>
                  <a:srgbClr val="AEC0CB"/>
                </a:solidFill>
              </a:rPr>
              <a:t>Provider-neutral adapter · bounded retry</a:t>
            </a:r>
          </a:p>
        </p:txBody>
      </p:sp>
      <p:sp>
        <p:nvSpPr>
          <p:cNvPr id="13" name="">
            <a:extLst xmlns:a="http://schemas.openxmlformats.org/drawingml/2006/main">
              <a:ext uri="{FF2B5EF4-FFF2-40B4-BE49-F238E27FC236}">
                <a16:creationId xmlns:a16="http://schemas.microsoft.com/office/drawing/2014/main" id="{AF6CC61C-DA0A-40C5-8F56-CAA48C79336A}"/>
              </a:ext>
            </a:extLst>
          </p:cNvPr>
          <p:cNvSpPr>
            <a:spLocks xmlns:a="http://schemas.openxmlformats.org/drawingml/2006/main" noGrp="1"/>
          </p:cNvSpPr>
          <p:nvPr/>
        </p:nvSpPr>
        <p:spPr>
          <a:xfrm xmlns:a="http://schemas.openxmlformats.org/drawingml/2006/main">
            <a:off x="4905375" y="442912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6D0C3"/>
                </a:solidFill>
              </a:defRPr>
            </a:pPr>
            <a:r>
              <a:rPr sz="1050" b="1">
                <a:solidFill>
                  <a:srgbClr val="26D0C3"/>
                </a:solidFill>
              </a:rPr>
              <a:t>FAST</a:t>
            </a:r>
          </a:p>
        </p:txBody>
      </p:sp>
      <p:sp>
        <p:nvSpPr>
          <p:cNvPr id="14" name="">
            <a:extLst xmlns:a="http://schemas.openxmlformats.org/drawingml/2006/main">
              <a:ext uri="{FF2B5EF4-FFF2-40B4-BE49-F238E27FC236}">
                <a16:creationId xmlns:a16="http://schemas.microsoft.com/office/drawing/2014/main" id="{555A437D-5F7F-48B5-8370-A5C4795CCD7A}"/>
              </a:ext>
            </a:extLst>
          </p:cNvPr>
          <p:cNvSpPr>
            <a:spLocks xmlns:a="http://schemas.openxmlformats.org/drawingml/2006/main" noGrp="1"/>
          </p:cNvSpPr>
          <p:nvPr/>
        </p:nvSpPr>
        <p:spPr>
          <a:xfrm xmlns:a="http://schemas.openxmlformats.org/drawingml/2006/main">
            <a:off x="6810375" y="442912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8D8FF"/>
                </a:solidFill>
              </a:defRPr>
            </a:pPr>
            <a:r>
              <a:rPr sz="1050" b="1">
                <a:solidFill>
                  <a:srgbClr val="68D8FF"/>
                </a:solidFill>
              </a:rPr>
              <a:t>BALANCED</a:t>
            </a:r>
          </a:p>
        </p:txBody>
      </p:sp>
      <p:sp>
        <p:nvSpPr>
          <p:cNvPr id="15" name="">
            <a:extLst xmlns:a="http://schemas.openxmlformats.org/drawingml/2006/main">
              <a:ext uri="{FF2B5EF4-FFF2-40B4-BE49-F238E27FC236}">
                <a16:creationId xmlns:a16="http://schemas.microsoft.com/office/drawing/2014/main" id="{AFFA9791-6074-44BA-B216-5326428FEF68}"/>
              </a:ext>
            </a:extLst>
          </p:cNvPr>
          <p:cNvSpPr>
            <a:spLocks xmlns:a="http://schemas.openxmlformats.org/drawingml/2006/main" noGrp="1"/>
          </p:cNvSpPr>
          <p:nvPr/>
        </p:nvSpPr>
        <p:spPr>
          <a:xfrm xmlns:a="http://schemas.openxmlformats.org/drawingml/2006/main">
            <a:off x="9096375" y="442912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5B642"/>
                </a:solidFill>
              </a:defRPr>
            </a:pPr>
            <a:r>
              <a:rPr sz="1050" b="1">
                <a:solidFill>
                  <a:srgbClr val="F5B642"/>
                </a:solidFill>
              </a:rPr>
              <a:t>DEEP</a:t>
            </a:r>
          </a:p>
        </p:txBody>
      </p:sp>
      <p:sp>
        <p:nvSpPr>
          <p:cNvPr id="16" name="">
            <a:extLst xmlns:a="http://schemas.openxmlformats.org/drawingml/2006/main">
              <a:ext uri="{FF2B5EF4-FFF2-40B4-BE49-F238E27FC236}">
                <a16:creationId xmlns:a16="http://schemas.microsoft.com/office/drawing/2014/main" id="{D18A1467-CD78-4412-9596-73B667048CF1}"/>
              </a:ext>
            </a:extLst>
          </p:cNvPr>
          <p:cNvSpPr>
            <a:spLocks xmlns:a="http://schemas.openxmlformats.org/drawingml/2006/main" noGrp="1"/>
          </p:cNvSpPr>
          <p:nvPr/>
        </p:nvSpPr>
        <p:spPr>
          <a:xfrm xmlns:a="http://schemas.openxmlformats.org/drawingml/2006/main">
            <a:off x="4905375" y="47625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5F8FB"/>
                </a:solidFill>
              </a:defRPr>
            </a:pPr>
            <a:r>
              <a:rPr sz="1275" b="0">
                <a:solidFill>
                  <a:srgbClr val="F5F8FB"/>
                </a:solidFill>
              </a:rPr>
              <a:t>low effort</a:t>
            </a:r>
          </a:p>
        </p:txBody>
      </p:sp>
      <p:sp>
        <p:nvSpPr>
          <p:cNvPr id="17" name="">
            <a:extLst xmlns:a="http://schemas.openxmlformats.org/drawingml/2006/main">
              <a:ext uri="{FF2B5EF4-FFF2-40B4-BE49-F238E27FC236}">
                <a16:creationId xmlns:a16="http://schemas.microsoft.com/office/drawing/2014/main" id="{891D9A4B-2092-42C0-A9CD-731B695BAB66}"/>
              </a:ext>
            </a:extLst>
          </p:cNvPr>
          <p:cNvSpPr>
            <a:spLocks xmlns:a="http://schemas.openxmlformats.org/drawingml/2006/main" noGrp="1"/>
          </p:cNvSpPr>
          <p:nvPr/>
        </p:nvSpPr>
        <p:spPr>
          <a:xfrm xmlns:a="http://schemas.openxmlformats.org/drawingml/2006/main">
            <a:off x="6810375" y="47625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5F8FB"/>
                </a:solidFill>
              </a:defRPr>
            </a:pPr>
            <a:r>
              <a:rPr sz="1275" b="0">
                <a:solidFill>
                  <a:srgbClr val="F5F8FB"/>
                </a:solidFill>
              </a:rPr>
              <a:t>default</a:t>
            </a:r>
          </a:p>
        </p:txBody>
      </p:sp>
      <p:sp>
        <p:nvSpPr>
          <p:cNvPr id="18" name="">
            <a:extLst xmlns:a="http://schemas.openxmlformats.org/drawingml/2006/main">
              <a:ext uri="{FF2B5EF4-FFF2-40B4-BE49-F238E27FC236}">
                <a16:creationId xmlns:a16="http://schemas.microsoft.com/office/drawing/2014/main" id="{0E0F1420-7E7B-40FA-8BFA-8A12BCE6ECEF}"/>
              </a:ext>
            </a:extLst>
          </p:cNvPr>
          <p:cNvSpPr>
            <a:spLocks xmlns:a="http://schemas.openxmlformats.org/drawingml/2006/main" noGrp="1"/>
          </p:cNvSpPr>
          <p:nvPr/>
        </p:nvSpPr>
        <p:spPr>
          <a:xfrm xmlns:a="http://schemas.openxmlformats.org/drawingml/2006/main">
            <a:off x="9096375" y="47625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5F8FB"/>
                </a:solidFill>
              </a:defRPr>
            </a:pPr>
            <a:r>
              <a:rPr sz="1275" b="0">
                <a:solidFill>
                  <a:srgbClr val="F5F8FB"/>
                </a:solidFill>
              </a:rPr>
              <a:t>high effort</a:t>
            </a:r>
          </a:p>
        </p:txBody>
      </p:sp>
      <p:sp>
        <p:nvSpPr>
          <p:cNvPr id="19" name="">
            <a:extLst xmlns:a="http://schemas.openxmlformats.org/drawingml/2006/main">
              <a:ext uri="{FF2B5EF4-FFF2-40B4-BE49-F238E27FC236}">
                <a16:creationId xmlns:a16="http://schemas.microsoft.com/office/drawing/2014/main" id="{3E0F30C9-B677-4B6F-908F-810EB6E92D35}"/>
              </a:ext>
            </a:extLst>
          </p:cNvPr>
          <p:cNvSpPr>
            <a:spLocks xmlns:a="http://schemas.openxmlformats.org/drawingml/2006/main" noGrp="1"/>
          </p:cNvSpPr>
          <p:nvPr/>
        </p:nvSpPr>
        <p:spPr>
          <a:xfrm xmlns:a="http://schemas.openxmlformats.org/drawingml/2006/main">
            <a:off x="2333625" y="56388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6D0C3"/>
                </a:solidFill>
              </a:defRPr>
            </a:pPr>
            <a:r>
              <a:rPr sz="1650" b="1">
                <a:solidFill>
                  <a:srgbClr val="26D0C3"/>
                </a:solidFill>
              </a:rPr>
              <a:t>No foundation model was trained or fine-tuned in this project.</a:t>
            </a:r>
          </a:p>
        </p:txBody>
      </p:sp>
    </p:spTree>
    <p:extLst>
      <p:ext uri="{BB962C8B-B14F-4D97-AF65-F5344CB8AC3E}">
        <p14:creationId xmlns:p14="http://schemas.microsoft.com/office/powerpoint/2010/main" val="2117626861"/>
      </p:ext>
    </p:extLst>
  </p:cSld>
</p:sld>
</file>

<file path=ppt/slides/slide9.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0D94C8F-837D-4621-9BCD-B5145D32F0B0}"/>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5992E9B5-2370-45EC-904C-630BA9208DDB}"/>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SECURE NATURAL-LANGUAGE WORKFLOW</a:t>
            </a:r>
          </a:p>
        </p:txBody>
      </p:sp>
      <p:sp>
        <p:nvSpPr>
          <p:cNvPr id="3" name="title-9">
            <a:extLst xmlns:a="http://schemas.openxmlformats.org/drawingml/2006/main">
              <a:ext uri="{FF2B5EF4-FFF2-40B4-BE49-F238E27FC236}">
                <a16:creationId xmlns:a16="http://schemas.microsoft.com/office/drawing/2014/main" id="{92F1CDE2-1AF2-48D3-AF8D-9C17BA3D26FB}"/>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One corrected-query attempt — never eval or exec</a:t>
            </a:r>
          </a:p>
        </p:txBody>
      </p:sp>
      <p:sp>
        <p:nvSpPr>
          <p:cNvPr id="4" name="">
            <a:extLst xmlns:a="http://schemas.openxmlformats.org/drawingml/2006/main">
              <a:ext uri="{FF2B5EF4-FFF2-40B4-BE49-F238E27FC236}">
                <a16:creationId xmlns:a16="http://schemas.microsoft.com/office/drawing/2014/main" id="{99BD1464-F98E-45DA-8B0F-8F99291929A1}"/>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982A7EDB-9D98-4373-8B91-A4A0B025AA9F}"/>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09</a:t>
            </a:r>
          </a:p>
        </p:txBody>
      </p:sp>
      <p:sp>
        <p:nvSpPr>
          <p:cNvPr id="6" name="">
            <a:extLst xmlns:a="http://schemas.openxmlformats.org/drawingml/2006/main">
              <a:ext uri="{FF2B5EF4-FFF2-40B4-BE49-F238E27FC236}">
                <a16:creationId xmlns:a16="http://schemas.microsoft.com/office/drawing/2014/main" id="{C09EBC67-F587-4BEC-86BE-E50ED2E37A10}"/>
              </a:ext>
            </a:extLst>
          </p:cNvPr>
          <p:cNvSpPr>
            <a:spLocks xmlns:a="http://schemas.openxmlformats.org/drawingml/2006/main" noGrp="1"/>
          </p:cNvSpPr>
          <p:nvPr/>
        </p:nvSpPr>
        <p:spPr>
          <a:xfrm xmlns:a="http://schemas.openxmlformats.org/drawingml/2006/main">
            <a:off x="666750" y="2190750"/>
            <a:ext cx="552450" cy="552450"/>
          </a:xfrm>
          <a:prstGeom xmlns:a="http://schemas.openxmlformats.org/drawingml/2006/main" prst="rect">
            <a:avLst/>
          </a:prstGeom>
          <a:solidFill xmlns:a="http://schemas.openxmlformats.org/drawingml/2006/main">
            <a:srgbClr val="102A3D"/>
          </a:solidFill>
          <a:ln xmlns:a="http://schemas.openxmlformats.org/drawingml/2006/main" w="9525">
            <a:solidFill>
              <a:srgbClr val="29495B"/>
            </a:solidFill>
            <a:prstDash val="solid"/>
          </a:ln>
        </p:spPr>
        <p:txBody>
          <a:bodyPr xmlns:a="http://schemas.openxmlformats.org/drawingml/2006/main"/>
          <a:lstStyle xmlns:a="http://schemas.openxmlformats.org/drawingml/2006/main"/>
          <a:p xmlns:a="http://schemas.openxmlformats.org/drawingml/2006/main">
            <a:pPr algn="ctr">
              <a:defRPr sz="2850" b="1">
                <a:solidFill>
                  <a:srgbClr val="F5F8FB"/>
                </a:solidFill>
              </a:defRPr>
            </a:pPr>
            <a:r>
              <a:rPr sz="2850" b="1">
                <a:solidFill>
                  <a:srgbClr val="F5F8FB"/>
                </a:solidFill>
              </a:rPr>
              <a:t>1</a:t>
            </a:r>
          </a:p>
        </p:txBody>
      </p:sp>
      <p:sp>
        <p:nvSpPr>
          <p:cNvPr id="7" name="">
            <a:extLst xmlns:a="http://schemas.openxmlformats.org/drawingml/2006/main">
              <a:ext uri="{FF2B5EF4-FFF2-40B4-BE49-F238E27FC236}">
                <a16:creationId xmlns:a16="http://schemas.microsoft.com/office/drawing/2014/main" id="{E84AD3DC-833E-43A7-AEA8-50C8C0E36FDE}"/>
              </a:ext>
            </a:extLst>
          </p:cNvPr>
          <p:cNvSpPr>
            <a:spLocks xmlns:a="http://schemas.openxmlformats.org/drawingml/2006/main" noGrp="1"/>
          </p:cNvSpPr>
          <p:nvPr/>
        </p:nvSpPr>
        <p:spPr>
          <a:xfrm xmlns:a="http://schemas.openxmlformats.org/drawingml/2006/main">
            <a:off x="666750" y="29718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68D8FF"/>
                </a:solidFill>
              </a:defRPr>
            </a:pPr>
            <a:r>
              <a:rPr sz="1350" b="1">
                <a:solidFill>
                  <a:srgbClr val="68D8FF"/>
                </a:solidFill>
              </a:rPr>
              <a:t>GROUND</a:t>
            </a:r>
          </a:p>
        </p:txBody>
      </p:sp>
      <p:sp>
        <p:nvSpPr>
          <p:cNvPr id="8" name="">
            <a:extLst xmlns:a="http://schemas.openxmlformats.org/drawingml/2006/main">
              <a:ext uri="{FF2B5EF4-FFF2-40B4-BE49-F238E27FC236}">
                <a16:creationId xmlns:a16="http://schemas.microsoft.com/office/drawing/2014/main" id="{B763243A-A16E-446A-B310-7D35B28FE117}"/>
              </a:ext>
            </a:extLst>
          </p:cNvPr>
          <p:cNvSpPr>
            <a:spLocks xmlns:a="http://schemas.openxmlformats.org/drawingml/2006/main" noGrp="1"/>
          </p:cNvSpPr>
          <p:nvPr/>
        </p:nvSpPr>
        <p:spPr>
          <a:xfrm xmlns:a="http://schemas.openxmlformats.org/drawingml/2006/main">
            <a:off x="666750" y="3390900"/>
            <a:ext cx="1733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EC0CB"/>
                </a:solidFill>
              </a:defRPr>
            </a:pPr>
            <a:r>
              <a:rPr sz="1275" b="0">
                <a:solidFill>
                  <a:srgbClr val="AEC0CB"/>
                </a:solidFill>
              </a:rPr>
              <a:t>schema · aliases</a:t>
            </a:r>
          </a:p>
          <a:p xmlns:a="http://schemas.openxmlformats.org/drawingml/2006/main">
            <a:pPr algn="l">
              <a:defRPr sz="1275" b="0">
                <a:solidFill>
                  <a:srgbClr val="AEC0CB"/>
                </a:solidFill>
              </a:defRPr>
            </a:pPr>
            <a:r>
              <a:rPr sz="1275" b="0">
                <a:solidFill>
                  <a:srgbClr val="AEC0CB"/>
                </a:solidFill>
              </a:rPr>
              <a:t>active filters</a:t>
            </a:r>
          </a:p>
        </p:txBody>
      </p:sp>
      <p:sp>
        <p:nvSpPr>
          <p:cNvPr id="9" name="">
            <a:extLst xmlns:a="http://schemas.openxmlformats.org/drawingml/2006/main">
              <a:ext uri="{FF2B5EF4-FFF2-40B4-BE49-F238E27FC236}">
                <a16:creationId xmlns:a16="http://schemas.microsoft.com/office/drawing/2014/main" id="{7BF611A9-2414-4C5D-ADC6-14E849717651}"/>
              </a:ext>
            </a:extLst>
          </p:cNvPr>
          <p:cNvSpPr>
            <a:spLocks xmlns:a="http://schemas.openxmlformats.org/drawingml/2006/main" noGrp="1"/>
          </p:cNvSpPr>
          <p:nvPr/>
        </p:nvSpPr>
        <p:spPr>
          <a:xfrm xmlns:a="http://schemas.openxmlformats.org/drawingml/2006/main">
            <a:off x="2428875" y="234315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26D0C3"/>
                </a:solidFill>
              </a:defRPr>
            </a:pPr>
            <a:r>
              <a:rPr sz="2025" b="1">
                <a:solidFill>
                  <a:srgbClr val="26D0C3"/>
                </a:solidFill>
              </a:rPr>
              <a:t>→</a:t>
            </a:r>
          </a:p>
        </p:txBody>
      </p:sp>
      <p:sp>
        <p:nvSpPr>
          <p:cNvPr id="10" name="">
            <a:extLst xmlns:a="http://schemas.openxmlformats.org/drawingml/2006/main">
              <a:ext uri="{FF2B5EF4-FFF2-40B4-BE49-F238E27FC236}">
                <a16:creationId xmlns:a16="http://schemas.microsoft.com/office/drawing/2014/main" id="{9A59944C-620B-4C78-B741-EA683CF6A30F}"/>
              </a:ext>
            </a:extLst>
          </p:cNvPr>
          <p:cNvSpPr>
            <a:spLocks xmlns:a="http://schemas.openxmlformats.org/drawingml/2006/main" noGrp="1"/>
          </p:cNvSpPr>
          <p:nvPr/>
        </p:nvSpPr>
        <p:spPr>
          <a:xfrm xmlns:a="http://schemas.openxmlformats.org/drawingml/2006/main">
            <a:off x="2933700" y="2190750"/>
            <a:ext cx="552450" cy="552450"/>
          </a:xfrm>
          <a:prstGeom xmlns:a="http://schemas.openxmlformats.org/drawingml/2006/main" prst="rect">
            <a:avLst/>
          </a:prstGeom>
          <a:solidFill xmlns:a="http://schemas.openxmlformats.org/drawingml/2006/main">
            <a:srgbClr val="102A3D"/>
          </a:solidFill>
          <a:ln xmlns:a="http://schemas.openxmlformats.org/drawingml/2006/main" w="9525">
            <a:solidFill>
              <a:srgbClr val="29495B"/>
            </a:solidFill>
            <a:prstDash val="solid"/>
          </a:ln>
        </p:spPr>
        <p:txBody>
          <a:bodyPr xmlns:a="http://schemas.openxmlformats.org/drawingml/2006/main"/>
          <a:lstStyle xmlns:a="http://schemas.openxmlformats.org/drawingml/2006/main"/>
          <a:p xmlns:a="http://schemas.openxmlformats.org/drawingml/2006/main">
            <a:pPr algn="ctr">
              <a:defRPr sz="2850" b="1">
                <a:solidFill>
                  <a:srgbClr val="F5F8FB"/>
                </a:solidFill>
              </a:defRPr>
            </a:pPr>
            <a:r>
              <a:rPr sz="2850" b="1">
                <a:solidFill>
                  <a:srgbClr val="F5F8FB"/>
                </a:solidFill>
              </a:rPr>
              <a:t>2</a:t>
            </a:r>
          </a:p>
        </p:txBody>
      </p:sp>
      <p:sp>
        <p:nvSpPr>
          <p:cNvPr id="11" name="">
            <a:extLst xmlns:a="http://schemas.openxmlformats.org/drawingml/2006/main">
              <a:ext uri="{FF2B5EF4-FFF2-40B4-BE49-F238E27FC236}">
                <a16:creationId xmlns:a16="http://schemas.microsoft.com/office/drawing/2014/main" id="{7F4D9488-D9D5-457A-AC15-42B3548C799F}"/>
              </a:ext>
            </a:extLst>
          </p:cNvPr>
          <p:cNvSpPr>
            <a:spLocks xmlns:a="http://schemas.openxmlformats.org/drawingml/2006/main" noGrp="1"/>
          </p:cNvSpPr>
          <p:nvPr/>
        </p:nvSpPr>
        <p:spPr>
          <a:xfrm xmlns:a="http://schemas.openxmlformats.org/drawingml/2006/main">
            <a:off x="2933700" y="29718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68D8FF"/>
                </a:solidFill>
              </a:defRPr>
            </a:pPr>
            <a:r>
              <a:rPr sz="1350" b="1">
                <a:solidFill>
                  <a:srgbClr val="68D8FF"/>
                </a:solidFill>
              </a:rPr>
              <a:t>PLAN</a:t>
            </a:r>
          </a:p>
        </p:txBody>
      </p:sp>
      <p:sp>
        <p:nvSpPr>
          <p:cNvPr id="12" name="">
            <a:extLst xmlns:a="http://schemas.openxmlformats.org/drawingml/2006/main">
              <a:ext uri="{FF2B5EF4-FFF2-40B4-BE49-F238E27FC236}">
                <a16:creationId xmlns:a16="http://schemas.microsoft.com/office/drawing/2014/main" id="{7C9D47B0-20AA-46D1-A0B3-27BA1732C06E}"/>
              </a:ext>
            </a:extLst>
          </p:cNvPr>
          <p:cNvSpPr>
            <a:spLocks xmlns:a="http://schemas.openxmlformats.org/drawingml/2006/main" noGrp="1"/>
          </p:cNvSpPr>
          <p:nvPr/>
        </p:nvSpPr>
        <p:spPr>
          <a:xfrm xmlns:a="http://schemas.openxmlformats.org/drawingml/2006/main">
            <a:off x="2933700" y="3390900"/>
            <a:ext cx="1733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EC0CB"/>
                </a:solidFill>
              </a:defRPr>
            </a:pPr>
            <a:r>
              <a:rPr sz="1275" b="0">
                <a:solidFill>
                  <a:srgbClr val="AEC0CB"/>
                </a:solidFill>
              </a:rPr>
              <a:t>typed SQL or</a:t>
            </a:r>
          </a:p>
          <a:p xmlns:a="http://schemas.openxmlformats.org/drawingml/2006/main">
            <a:pPr algn="l">
              <a:defRPr sz="1275" b="0">
                <a:solidFill>
                  <a:srgbClr val="AEC0CB"/>
                </a:solidFill>
              </a:defRPr>
            </a:pPr>
            <a:r>
              <a:rPr sz="1275" b="0">
                <a:solidFill>
                  <a:srgbClr val="AEC0CB"/>
                </a:solidFill>
              </a:rPr>
              <a:t>restricted pandas</a:t>
            </a:r>
          </a:p>
        </p:txBody>
      </p:sp>
      <p:sp>
        <p:nvSpPr>
          <p:cNvPr id="13" name="">
            <a:extLst xmlns:a="http://schemas.openxmlformats.org/drawingml/2006/main">
              <a:ext uri="{FF2B5EF4-FFF2-40B4-BE49-F238E27FC236}">
                <a16:creationId xmlns:a16="http://schemas.microsoft.com/office/drawing/2014/main" id="{70A008AB-494A-44EB-888A-CAA2843633B1}"/>
              </a:ext>
            </a:extLst>
          </p:cNvPr>
          <p:cNvSpPr>
            <a:spLocks xmlns:a="http://schemas.openxmlformats.org/drawingml/2006/main" noGrp="1"/>
          </p:cNvSpPr>
          <p:nvPr/>
        </p:nvSpPr>
        <p:spPr>
          <a:xfrm xmlns:a="http://schemas.openxmlformats.org/drawingml/2006/main">
            <a:off x="4695825" y="234315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26D0C3"/>
                </a:solidFill>
              </a:defRPr>
            </a:pPr>
            <a:r>
              <a:rPr sz="2025" b="1">
                <a:solidFill>
                  <a:srgbClr val="26D0C3"/>
                </a:solidFill>
              </a:rPr>
              <a:t>→</a:t>
            </a:r>
          </a:p>
        </p:txBody>
      </p:sp>
      <p:sp>
        <p:nvSpPr>
          <p:cNvPr id="14" name="">
            <a:extLst xmlns:a="http://schemas.openxmlformats.org/drawingml/2006/main">
              <a:ext uri="{FF2B5EF4-FFF2-40B4-BE49-F238E27FC236}">
                <a16:creationId xmlns:a16="http://schemas.microsoft.com/office/drawing/2014/main" id="{3A53ADBE-2D14-41AC-B251-43C3A16A62B8}"/>
              </a:ext>
            </a:extLst>
          </p:cNvPr>
          <p:cNvSpPr>
            <a:spLocks xmlns:a="http://schemas.openxmlformats.org/drawingml/2006/main" noGrp="1"/>
          </p:cNvSpPr>
          <p:nvPr/>
        </p:nvSpPr>
        <p:spPr>
          <a:xfrm xmlns:a="http://schemas.openxmlformats.org/drawingml/2006/main">
            <a:off x="5200650" y="2190750"/>
            <a:ext cx="552450" cy="552450"/>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txBody>
          <a:bodyPr xmlns:a="http://schemas.openxmlformats.org/drawingml/2006/main"/>
          <a:lstStyle xmlns:a="http://schemas.openxmlformats.org/drawingml/2006/main"/>
          <a:p xmlns:a="http://schemas.openxmlformats.org/drawingml/2006/main">
            <a:pPr algn="ctr">
              <a:defRPr sz="2850" b="1">
                <a:solidFill>
                  <a:srgbClr val="06131F"/>
                </a:solidFill>
              </a:defRPr>
            </a:pPr>
            <a:r>
              <a:rPr sz="2850" b="1">
                <a:solidFill>
                  <a:srgbClr val="06131F"/>
                </a:solidFill>
              </a:rPr>
              <a:t>3</a:t>
            </a:r>
          </a:p>
        </p:txBody>
      </p:sp>
      <p:sp>
        <p:nvSpPr>
          <p:cNvPr id="15" name="">
            <a:extLst xmlns:a="http://schemas.openxmlformats.org/drawingml/2006/main">
              <a:ext uri="{FF2B5EF4-FFF2-40B4-BE49-F238E27FC236}">
                <a16:creationId xmlns:a16="http://schemas.microsoft.com/office/drawing/2014/main" id="{EB0BCEC7-1CEF-4CE9-B4C2-F7621A535FEA}"/>
              </a:ext>
            </a:extLst>
          </p:cNvPr>
          <p:cNvSpPr>
            <a:spLocks xmlns:a="http://schemas.openxmlformats.org/drawingml/2006/main" noGrp="1"/>
          </p:cNvSpPr>
          <p:nvPr/>
        </p:nvSpPr>
        <p:spPr>
          <a:xfrm xmlns:a="http://schemas.openxmlformats.org/drawingml/2006/main">
            <a:off x="5200650" y="29718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6D0C3"/>
                </a:solidFill>
              </a:defRPr>
            </a:pPr>
            <a:r>
              <a:rPr sz="1350" b="1">
                <a:solidFill>
                  <a:srgbClr val="26D0C3"/>
                </a:solidFill>
              </a:rPr>
              <a:t>VALIDATE</a:t>
            </a:r>
          </a:p>
        </p:txBody>
      </p:sp>
      <p:sp>
        <p:nvSpPr>
          <p:cNvPr id="16" name="">
            <a:extLst xmlns:a="http://schemas.openxmlformats.org/drawingml/2006/main">
              <a:ext uri="{FF2B5EF4-FFF2-40B4-BE49-F238E27FC236}">
                <a16:creationId xmlns:a16="http://schemas.microsoft.com/office/drawing/2014/main" id="{1ECD56BD-991B-4704-B811-FCD8258C4038}"/>
              </a:ext>
            </a:extLst>
          </p:cNvPr>
          <p:cNvSpPr>
            <a:spLocks xmlns:a="http://schemas.openxmlformats.org/drawingml/2006/main" noGrp="1"/>
          </p:cNvSpPr>
          <p:nvPr/>
        </p:nvSpPr>
        <p:spPr>
          <a:xfrm xmlns:a="http://schemas.openxmlformats.org/drawingml/2006/main">
            <a:off x="5200650" y="3390900"/>
            <a:ext cx="1733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EC0CB"/>
                </a:solidFill>
              </a:defRPr>
            </a:pPr>
            <a:r>
              <a:rPr sz="1275" b="0">
                <a:solidFill>
                  <a:srgbClr val="AEC0CB"/>
                </a:solidFill>
              </a:rPr>
              <a:t>Pydantic + SQL/</a:t>
            </a:r>
          </a:p>
          <a:p xmlns:a="http://schemas.openxmlformats.org/drawingml/2006/main">
            <a:pPr algn="l">
              <a:defRPr sz="1275" b="0">
                <a:solidFill>
                  <a:srgbClr val="AEC0CB"/>
                </a:solidFill>
              </a:defRPr>
            </a:pPr>
            <a:r>
              <a:rPr sz="1275" b="0">
                <a:solidFill>
                  <a:srgbClr val="AEC0CB"/>
                </a:solidFill>
              </a:rPr>
              <a:t>pandas AST allowlist</a:t>
            </a:r>
          </a:p>
        </p:txBody>
      </p:sp>
      <p:sp>
        <p:nvSpPr>
          <p:cNvPr id="17" name="">
            <a:extLst xmlns:a="http://schemas.openxmlformats.org/drawingml/2006/main">
              <a:ext uri="{FF2B5EF4-FFF2-40B4-BE49-F238E27FC236}">
                <a16:creationId xmlns:a16="http://schemas.microsoft.com/office/drawing/2014/main" id="{6FF55A5E-416D-4BF8-B099-3CA0DE2C8694}"/>
              </a:ext>
            </a:extLst>
          </p:cNvPr>
          <p:cNvSpPr>
            <a:spLocks xmlns:a="http://schemas.openxmlformats.org/drawingml/2006/main" noGrp="1"/>
          </p:cNvSpPr>
          <p:nvPr/>
        </p:nvSpPr>
        <p:spPr>
          <a:xfrm xmlns:a="http://schemas.openxmlformats.org/drawingml/2006/main">
            <a:off x="6962775" y="234315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26D0C3"/>
                </a:solidFill>
              </a:defRPr>
            </a:pPr>
            <a:r>
              <a:rPr sz="2025" b="1">
                <a:solidFill>
                  <a:srgbClr val="26D0C3"/>
                </a:solidFill>
              </a:rPr>
              <a:t>→</a:t>
            </a:r>
          </a:p>
        </p:txBody>
      </p:sp>
      <p:sp>
        <p:nvSpPr>
          <p:cNvPr id="18" name="">
            <a:extLst xmlns:a="http://schemas.openxmlformats.org/drawingml/2006/main">
              <a:ext uri="{FF2B5EF4-FFF2-40B4-BE49-F238E27FC236}">
                <a16:creationId xmlns:a16="http://schemas.microsoft.com/office/drawing/2014/main" id="{D129CDB7-9114-4CFB-9BB2-677AAA114F18}"/>
              </a:ext>
            </a:extLst>
          </p:cNvPr>
          <p:cNvSpPr>
            <a:spLocks xmlns:a="http://schemas.openxmlformats.org/drawingml/2006/main" noGrp="1"/>
          </p:cNvSpPr>
          <p:nvPr/>
        </p:nvSpPr>
        <p:spPr>
          <a:xfrm xmlns:a="http://schemas.openxmlformats.org/drawingml/2006/main">
            <a:off x="7467600" y="2190750"/>
            <a:ext cx="552450" cy="552450"/>
          </a:xfrm>
          <a:prstGeom xmlns:a="http://schemas.openxmlformats.org/drawingml/2006/main" prst="rect">
            <a:avLst/>
          </a:prstGeom>
          <a:solidFill xmlns:a="http://schemas.openxmlformats.org/drawingml/2006/main">
            <a:srgbClr val="102A3D"/>
          </a:solidFill>
          <a:ln xmlns:a="http://schemas.openxmlformats.org/drawingml/2006/main" w="9525">
            <a:solidFill>
              <a:srgbClr val="29495B"/>
            </a:solidFill>
            <a:prstDash val="solid"/>
          </a:ln>
        </p:spPr>
        <p:txBody>
          <a:bodyPr xmlns:a="http://schemas.openxmlformats.org/drawingml/2006/main"/>
          <a:lstStyle xmlns:a="http://schemas.openxmlformats.org/drawingml/2006/main"/>
          <a:p xmlns:a="http://schemas.openxmlformats.org/drawingml/2006/main">
            <a:pPr algn="ctr">
              <a:defRPr sz="2850" b="1">
                <a:solidFill>
                  <a:srgbClr val="F5F8FB"/>
                </a:solidFill>
              </a:defRPr>
            </a:pPr>
            <a:r>
              <a:rPr sz="2850" b="1">
                <a:solidFill>
                  <a:srgbClr val="F5F8FB"/>
                </a:solidFill>
              </a:rPr>
              <a:t>4</a:t>
            </a:r>
          </a:p>
        </p:txBody>
      </p:sp>
      <p:sp>
        <p:nvSpPr>
          <p:cNvPr id="19" name="">
            <a:extLst xmlns:a="http://schemas.openxmlformats.org/drawingml/2006/main">
              <a:ext uri="{FF2B5EF4-FFF2-40B4-BE49-F238E27FC236}">
                <a16:creationId xmlns:a16="http://schemas.microsoft.com/office/drawing/2014/main" id="{168C9F30-F6E4-4A71-B9D2-57A7B8DAC123}"/>
              </a:ext>
            </a:extLst>
          </p:cNvPr>
          <p:cNvSpPr>
            <a:spLocks xmlns:a="http://schemas.openxmlformats.org/drawingml/2006/main" noGrp="1"/>
          </p:cNvSpPr>
          <p:nvPr/>
        </p:nvSpPr>
        <p:spPr>
          <a:xfrm xmlns:a="http://schemas.openxmlformats.org/drawingml/2006/main">
            <a:off x="7467600" y="29718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68D8FF"/>
                </a:solidFill>
              </a:defRPr>
            </a:pPr>
            <a:r>
              <a:rPr sz="1350" b="1">
                <a:solidFill>
                  <a:srgbClr val="68D8FF"/>
                </a:solidFill>
              </a:rPr>
              <a:t>EXECUTE</a:t>
            </a:r>
          </a:p>
        </p:txBody>
      </p:sp>
      <p:sp>
        <p:nvSpPr>
          <p:cNvPr id="20" name="">
            <a:extLst xmlns:a="http://schemas.openxmlformats.org/drawingml/2006/main">
              <a:ext uri="{FF2B5EF4-FFF2-40B4-BE49-F238E27FC236}">
                <a16:creationId xmlns:a16="http://schemas.microsoft.com/office/drawing/2014/main" id="{29BF802E-9357-4A8A-BCA8-110B2C23BFA4}"/>
              </a:ext>
            </a:extLst>
          </p:cNvPr>
          <p:cNvSpPr>
            <a:spLocks xmlns:a="http://schemas.openxmlformats.org/drawingml/2006/main" noGrp="1"/>
          </p:cNvSpPr>
          <p:nvPr/>
        </p:nvSpPr>
        <p:spPr>
          <a:xfrm xmlns:a="http://schemas.openxmlformats.org/drawingml/2006/main">
            <a:off x="7467600" y="3390900"/>
            <a:ext cx="1733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EC0CB"/>
                </a:solidFill>
              </a:defRPr>
            </a:pPr>
            <a:r>
              <a:rPr sz="1275" b="0">
                <a:solidFill>
                  <a:srgbClr val="AEC0CB"/>
                </a:solidFill>
              </a:rPr>
              <a:t>parameters · 10 s</a:t>
            </a:r>
          </a:p>
          <a:p xmlns:a="http://schemas.openxmlformats.org/drawingml/2006/main">
            <a:pPr algn="l">
              <a:defRPr sz="1275" b="0">
                <a:solidFill>
                  <a:srgbClr val="AEC0CB"/>
                </a:solidFill>
              </a:defRPr>
            </a:pPr>
            <a:r>
              <a:rPr sz="1275" b="0">
                <a:solidFill>
                  <a:srgbClr val="AEC0CB"/>
                </a:solidFill>
              </a:rPr>
              <a:t>1,000-row ceiling</a:t>
            </a:r>
          </a:p>
        </p:txBody>
      </p:sp>
      <p:sp>
        <p:nvSpPr>
          <p:cNvPr id="21" name="">
            <a:extLst xmlns:a="http://schemas.openxmlformats.org/drawingml/2006/main">
              <a:ext uri="{FF2B5EF4-FFF2-40B4-BE49-F238E27FC236}">
                <a16:creationId xmlns:a16="http://schemas.microsoft.com/office/drawing/2014/main" id="{A608684E-8102-4CE8-A070-4E59D4C8D3F2}"/>
              </a:ext>
            </a:extLst>
          </p:cNvPr>
          <p:cNvSpPr>
            <a:spLocks xmlns:a="http://schemas.openxmlformats.org/drawingml/2006/main" noGrp="1"/>
          </p:cNvSpPr>
          <p:nvPr/>
        </p:nvSpPr>
        <p:spPr>
          <a:xfrm xmlns:a="http://schemas.openxmlformats.org/drawingml/2006/main">
            <a:off x="9229725" y="234315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26D0C3"/>
                </a:solidFill>
              </a:defRPr>
            </a:pPr>
            <a:r>
              <a:rPr sz="2025" b="1">
                <a:solidFill>
                  <a:srgbClr val="26D0C3"/>
                </a:solidFill>
              </a:rPr>
              <a:t>→</a:t>
            </a:r>
          </a:p>
        </p:txBody>
      </p:sp>
      <p:sp>
        <p:nvSpPr>
          <p:cNvPr id="22" name="">
            <a:extLst xmlns:a="http://schemas.openxmlformats.org/drawingml/2006/main">
              <a:ext uri="{FF2B5EF4-FFF2-40B4-BE49-F238E27FC236}">
                <a16:creationId xmlns:a16="http://schemas.microsoft.com/office/drawing/2014/main" id="{2F89002A-115B-4EB3-B0C7-BA1950913DD1}"/>
              </a:ext>
            </a:extLst>
          </p:cNvPr>
          <p:cNvSpPr>
            <a:spLocks xmlns:a="http://schemas.openxmlformats.org/drawingml/2006/main" noGrp="1"/>
          </p:cNvSpPr>
          <p:nvPr/>
        </p:nvSpPr>
        <p:spPr>
          <a:xfrm xmlns:a="http://schemas.openxmlformats.org/drawingml/2006/main">
            <a:off x="9734550" y="2190750"/>
            <a:ext cx="552450" cy="552450"/>
          </a:xfrm>
          <a:prstGeom xmlns:a="http://schemas.openxmlformats.org/drawingml/2006/main" prst="rect">
            <a:avLst/>
          </a:prstGeom>
          <a:solidFill xmlns:a="http://schemas.openxmlformats.org/drawingml/2006/main">
            <a:srgbClr val="102A3D"/>
          </a:solidFill>
          <a:ln xmlns:a="http://schemas.openxmlformats.org/drawingml/2006/main" w="9525">
            <a:solidFill>
              <a:srgbClr val="29495B"/>
            </a:solidFill>
            <a:prstDash val="solid"/>
          </a:ln>
        </p:spPr>
        <p:txBody>
          <a:bodyPr xmlns:a="http://schemas.openxmlformats.org/drawingml/2006/main"/>
          <a:lstStyle xmlns:a="http://schemas.openxmlformats.org/drawingml/2006/main"/>
          <a:p xmlns:a="http://schemas.openxmlformats.org/drawingml/2006/main">
            <a:pPr algn="ctr">
              <a:defRPr sz="2850" b="1">
                <a:solidFill>
                  <a:srgbClr val="F5F8FB"/>
                </a:solidFill>
              </a:defRPr>
            </a:pPr>
            <a:r>
              <a:rPr sz="2850" b="1">
                <a:solidFill>
                  <a:srgbClr val="F5F8FB"/>
                </a:solidFill>
              </a:rPr>
              <a:t>5</a:t>
            </a:r>
          </a:p>
        </p:txBody>
      </p:sp>
      <p:sp>
        <p:nvSpPr>
          <p:cNvPr id="23" name="">
            <a:extLst xmlns:a="http://schemas.openxmlformats.org/drawingml/2006/main">
              <a:ext uri="{FF2B5EF4-FFF2-40B4-BE49-F238E27FC236}">
                <a16:creationId xmlns:a16="http://schemas.microsoft.com/office/drawing/2014/main" id="{8605BA5A-711A-4798-BF2B-63C16A3B2798}"/>
              </a:ext>
            </a:extLst>
          </p:cNvPr>
          <p:cNvSpPr>
            <a:spLocks xmlns:a="http://schemas.openxmlformats.org/drawingml/2006/main" noGrp="1"/>
          </p:cNvSpPr>
          <p:nvPr/>
        </p:nvSpPr>
        <p:spPr>
          <a:xfrm xmlns:a="http://schemas.openxmlformats.org/drawingml/2006/main">
            <a:off x="9734550" y="29718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68D8FF"/>
                </a:solidFill>
              </a:defRPr>
            </a:pPr>
            <a:r>
              <a:rPr sz="1350" b="1">
                <a:solidFill>
                  <a:srgbClr val="68D8FF"/>
                </a:solidFill>
              </a:rPr>
              <a:t>EVIDENCE</a:t>
            </a:r>
          </a:p>
        </p:txBody>
      </p:sp>
      <p:sp>
        <p:nvSpPr>
          <p:cNvPr id="24" name="">
            <a:extLst xmlns:a="http://schemas.openxmlformats.org/drawingml/2006/main">
              <a:ext uri="{FF2B5EF4-FFF2-40B4-BE49-F238E27FC236}">
                <a16:creationId xmlns:a16="http://schemas.microsoft.com/office/drawing/2014/main" id="{299DE265-A76C-4EAA-9C1B-8C5E62A27E97}"/>
              </a:ext>
            </a:extLst>
          </p:cNvPr>
          <p:cNvSpPr>
            <a:spLocks xmlns:a="http://schemas.openxmlformats.org/drawingml/2006/main" noGrp="1"/>
          </p:cNvSpPr>
          <p:nvPr/>
        </p:nvSpPr>
        <p:spPr>
          <a:xfrm xmlns:a="http://schemas.openxmlformats.org/drawingml/2006/main">
            <a:off x="9734550" y="3390900"/>
            <a:ext cx="1733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EC0CB"/>
                </a:solidFill>
              </a:defRPr>
            </a:pPr>
            <a:r>
              <a:rPr sz="1275" b="0">
                <a:solidFill>
                  <a:srgbClr val="AEC0CB"/>
                </a:solidFill>
              </a:rPr>
              <a:t>summary · chart</a:t>
            </a:r>
          </a:p>
          <a:p xmlns:a="http://schemas.openxmlformats.org/drawingml/2006/main">
            <a:pPr algn="l">
              <a:defRPr sz="1275" b="0">
                <a:solidFill>
                  <a:srgbClr val="AEC0CB"/>
                </a:solidFill>
              </a:defRPr>
            </a:pPr>
            <a:r>
              <a:rPr sz="1275" b="0">
                <a:solidFill>
                  <a:srgbClr val="AEC0CB"/>
                </a:solidFill>
              </a:rPr>
              <a:t>grounded answer</a:t>
            </a:r>
          </a:p>
        </p:txBody>
      </p:sp>
      <p:sp>
        <p:nvSpPr>
          <p:cNvPr id="25" name="">
            <a:extLst xmlns:a="http://schemas.openxmlformats.org/drawingml/2006/main">
              <a:ext uri="{FF2B5EF4-FFF2-40B4-BE49-F238E27FC236}">
                <a16:creationId xmlns:a16="http://schemas.microsoft.com/office/drawing/2014/main" id="{6F42B6EF-8E05-4943-82D7-D1BA16FDA563}"/>
              </a:ext>
            </a:extLst>
          </p:cNvPr>
          <p:cNvSpPr>
            <a:spLocks xmlns:a="http://schemas.openxmlformats.org/drawingml/2006/main" noGrp="1"/>
          </p:cNvSpPr>
          <p:nvPr/>
        </p:nvSpPr>
        <p:spPr>
          <a:xfrm xmlns:a="http://schemas.openxmlformats.org/drawingml/2006/main">
            <a:off x="666750" y="4619625"/>
            <a:ext cx="10858500" cy="19050"/>
          </a:xfrm>
          <a:prstGeom xmlns:a="http://schemas.openxmlformats.org/drawingml/2006/main" prst="rect">
            <a:avLst/>
          </a:prstGeom>
          <a:solidFill xmlns:a="http://schemas.openxmlformats.org/drawingml/2006/main">
            <a:srgbClr val="29495B"/>
          </a:solidFill>
          <a:ln xmlns:a="http://schemas.openxmlformats.org/drawingml/2006/main" w="9525">
            <a:solidFill>
              <a:srgbClr val="29495B"/>
            </a:solidFill>
            <a:prstDash val="solid"/>
          </a:ln>
        </p:spPr>
      </p:sp>
      <p:sp>
        <p:nvSpPr>
          <p:cNvPr id="26" name="">
            <a:extLst xmlns:a="http://schemas.openxmlformats.org/drawingml/2006/main">
              <a:ext uri="{FF2B5EF4-FFF2-40B4-BE49-F238E27FC236}">
                <a16:creationId xmlns:a16="http://schemas.microsoft.com/office/drawing/2014/main" id="{25AF5185-133B-434F-8AB3-926457A4F1FB}"/>
              </a:ext>
            </a:extLst>
          </p:cNvPr>
          <p:cNvSpPr>
            <a:spLocks xmlns:a="http://schemas.openxmlformats.org/drawingml/2006/main" noGrp="1"/>
          </p:cNvSpPr>
          <p:nvPr/>
        </p:nvSpPr>
        <p:spPr>
          <a:xfrm xmlns:a="http://schemas.openxmlformats.org/drawingml/2006/main">
            <a:off x="904875" y="49530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27" name="">
            <a:extLst xmlns:a="http://schemas.openxmlformats.org/drawingml/2006/main">
              <a:ext uri="{FF2B5EF4-FFF2-40B4-BE49-F238E27FC236}">
                <a16:creationId xmlns:a16="http://schemas.microsoft.com/office/drawing/2014/main" id="{DE25A2A0-4479-4EA4-92C3-D877F094B424}"/>
              </a:ext>
            </a:extLst>
          </p:cNvPr>
          <p:cNvSpPr>
            <a:spLocks xmlns:a="http://schemas.openxmlformats.org/drawingml/2006/main" noGrp="1"/>
          </p:cNvSpPr>
          <p:nvPr/>
        </p:nvSpPr>
        <p:spPr>
          <a:xfrm xmlns:a="http://schemas.openxmlformats.org/drawingml/2006/main">
            <a:off x="1171575" y="4953000"/>
            <a:ext cx="9829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Single SELECT/WITH · dataset table only</a:t>
            </a:r>
          </a:p>
        </p:txBody>
      </p:sp>
      <p:sp>
        <p:nvSpPr>
          <p:cNvPr id="28" name="">
            <a:extLst xmlns:a="http://schemas.openxmlformats.org/drawingml/2006/main">
              <a:ext uri="{FF2B5EF4-FFF2-40B4-BE49-F238E27FC236}">
                <a16:creationId xmlns:a16="http://schemas.microsoft.com/office/drawing/2014/main" id="{6BBFED40-DF01-491C-9030-2F71379F088B}"/>
              </a:ext>
            </a:extLst>
          </p:cNvPr>
          <p:cNvSpPr>
            <a:spLocks xmlns:a="http://schemas.openxmlformats.org/drawingml/2006/main" noGrp="1"/>
          </p:cNvSpPr>
          <p:nvPr/>
        </p:nvSpPr>
        <p:spPr>
          <a:xfrm xmlns:a="http://schemas.openxmlformats.org/drawingml/2006/main">
            <a:off x="904875" y="536257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29" name="">
            <a:extLst xmlns:a="http://schemas.openxmlformats.org/drawingml/2006/main">
              <a:ext uri="{FF2B5EF4-FFF2-40B4-BE49-F238E27FC236}">
                <a16:creationId xmlns:a16="http://schemas.microsoft.com/office/drawing/2014/main" id="{AD715F03-0DC3-4F50-9F88-C033B1E9DFBA}"/>
              </a:ext>
            </a:extLst>
          </p:cNvPr>
          <p:cNvSpPr>
            <a:spLocks xmlns:a="http://schemas.openxmlformats.org/drawingml/2006/main" noGrp="1"/>
          </p:cNvSpPr>
          <p:nvPr/>
        </p:nvSpPr>
        <p:spPr>
          <a:xfrm xmlns:a="http://schemas.openxmlformats.org/drawingml/2006/main">
            <a:off x="1171575" y="5362575"/>
            <a:ext cx="9829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No filesystem, network, imports, DDL, DML, or multiple statements</a:t>
            </a:r>
          </a:p>
        </p:txBody>
      </p:sp>
      <p:sp>
        <p:nvSpPr>
          <p:cNvPr id="30" name="">
            <a:extLst xmlns:a="http://schemas.openxmlformats.org/drawingml/2006/main">
              <a:ext uri="{FF2B5EF4-FFF2-40B4-BE49-F238E27FC236}">
                <a16:creationId xmlns:a16="http://schemas.microsoft.com/office/drawing/2014/main" id="{5ED9FFD2-9532-4925-8CF9-D8CD6B5070BE}"/>
              </a:ext>
            </a:extLst>
          </p:cNvPr>
          <p:cNvSpPr>
            <a:spLocks xmlns:a="http://schemas.openxmlformats.org/drawingml/2006/main" noGrp="1"/>
          </p:cNvSpPr>
          <p:nvPr/>
        </p:nvSpPr>
        <p:spPr>
          <a:xfrm xmlns:a="http://schemas.openxmlformats.org/drawingml/2006/main">
            <a:off x="904875" y="57721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31" name="">
            <a:extLst xmlns:a="http://schemas.openxmlformats.org/drawingml/2006/main">
              <a:ext uri="{FF2B5EF4-FFF2-40B4-BE49-F238E27FC236}">
                <a16:creationId xmlns:a16="http://schemas.microsoft.com/office/drawing/2014/main" id="{A81BA57D-8B9D-482C-9240-49A012930C29}"/>
              </a:ext>
            </a:extLst>
          </p:cNvPr>
          <p:cNvSpPr>
            <a:spLocks xmlns:a="http://schemas.openxmlformats.org/drawingml/2006/main" noGrp="1"/>
          </p:cNvSpPr>
          <p:nvPr/>
        </p:nvSpPr>
        <p:spPr>
          <a:xfrm xmlns:a="http://schemas.openxmlformats.org/drawingml/2006/main">
            <a:off x="1171575" y="5772150"/>
            <a:ext cx="9829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Cell text is quoted, truncated, and treated as untrusted data</a:t>
            </a:r>
          </a:p>
        </p:txBody>
      </p:sp>
    </p:spTree>
    <p:extLst>
      <p:ext uri="{BB962C8B-B14F-4D97-AF65-F5344CB8AC3E}">
        <p14:creationId xmlns:p14="http://schemas.microsoft.com/office/powerpoint/2010/main" val="1868555132"/>
      </p:ext>
    </p:extLst>
  </p:cSld>
</p:sld>
</file>

<file path=ppt/slides/slide10.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23AC375-9028-4FBD-A256-705FDADB4CFD}"/>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F3C0E51B-109A-4B82-A996-41D1E1DB9897}"/>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USER EXPERIENCE</a:t>
            </a:r>
          </a:p>
        </p:txBody>
      </p:sp>
      <p:sp>
        <p:nvSpPr>
          <p:cNvPr id="3" name="title-10">
            <a:extLst xmlns:a="http://schemas.openxmlformats.org/drawingml/2006/main">
              <a:ext uri="{FF2B5EF4-FFF2-40B4-BE49-F238E27FC236}">
                <a16:creationId xmlns:a16="http://schemas.microsoft.com/office/drawing/2014/main" id="{8196AFF2-D5AB-4D63-BD4D-34DEBF714DBA}"/>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Responsive, accessible, explicit about data and AI state</a:t>
            </a:r>
          </a:p>
        </p:txBody>
      </p:sp>
      <p:sp>
        <p:nvSpPr>
          <p:cNvPr id="4" name="">
            <a:extLst xmlns:a="http://schemas.openxmlformats.org/drawingml/2006/main">
              <a:ext uri="{FF2B5EF4-FFF2-40B4-BE49-F238E27FC236}">
                <a16:creationId xmlns:a16="http://schemas.microsoft.com/office/drawing/2014/main" id="{FE18D54D-E229-4AFC-B491-7A50F0834AD6}"/>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7227AE3D-7829-46DB-81F9-8073BECF7A0C}"/>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10</a:t>
            </a:r>
          </a:p>
        </p:txBody>
      </p:sp>
      <p:sp>
        <p:nvSpPr>
          <p:cNvPr id="6" name="">
            <a:extLst xmlns:a="http://schemas.openxmlformats.org/drawingml/2006/main">
              <a:ext uri="{FF2B5EF4-FFF2-40B4-BE49-F238E27FC236}">
                <a16:creationId xmlns:a16="http://schemas.microsoft.com/office/drawing/2014/main" id="{C5557B67-5E5B-4461-82DF-10587C0EF981}"/>
              </a:ext>
            </a:extLst>
          </p:cNvPr>
          <p:cNvSpPr>
            <a:spLocks xmlns:a="http://schemas.openxmlformats.org/drawingml/2006/main" noGrp="1"/>
          </p:cNvSpPr>
          <p:nvPr/>
        </p:nvSpPr>
        <p:spPr>
          <a:xfrm xmlns:a="http://schemas.openxmlformats.org/drawingml/2006/main">
            <a:off x="838200" y="2095500"/>
            <a:ext cx="7429500" cy="3714750"/>
          </a:xfrm>
          <a:prstGeom xmlns:a="http://schemas.openxmlformats.org/drawingml/2006/main" prst="roundRect">
            <a:avLst>
              <a:gd name="adj" fmla="val 4103"/>
            </a:avLst>
          </a:prstGeom>
          <a:solidFill xmlns:a="http://schemas.openxmlformats.org/drawingml/2006/main">
            <a:srgbClr val="0D2332"/>
          </a:solidFill>
          <a:ln xmlns:a="http://schemas.openxmlformats.org/drawingml/2006/main" w="9525">
            <a:solidFill>
              <a:srgbClr val="23546C"/>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7052c9ea33747f4"/>
          <a:srcRect xmlns:a="http://schemas.openxmlformats.org/drawingml/2006/main" l="0" t="7581" r="0" b="7581"/>
          <a:stretch xmlns:a="http://schemas.openxmlformats.org/drawingml/2006/main">
            <a:fillRect l="0" t="0" r="0" b="0"/>
          </a:stretch>
        </p:blipFill>
        <p:spPr>
          <a:xfrm xmlns:a="http://schemas.openxmlformats.org/drawingml/2006/main">
            <a:off x="1000125" y="2257425"/>
            <a:ext cx="7105650" cy="3390900"/>
          </a:xfrm>
          <a:prstGeom xmlns:a="http://schemas.openxmlformats.org/drawingml/2006/main" prst="roundRect">
            <a:avLst>
              <a:gd name="adj" fmla="val 3371"/>
            </a:avLst>
          </a:prstGeom>
        </p:spPr>
      </p:pic>
      <p:sp>
        <p:nvSpPr>
          <p:cNvPr id="8" name="">
            <a:extLst xmlns:a="http://schemas.openxmlformats.org/drawingml/2006/main">
              <a:ext uri="{FF2B5EF4-FFF2-40B4-BE49-F238E27FC236}">
                <a16:creationId xmlns:a16="http://schemas.microsoft.com/office/drawing/2014/main" id="{6009BB50-D165-465D-A65F-FED60363519F}"/>
              </a:ext>
            </a:extLst>
          </p:cNvPr>
          <p:cNvSpPr>
            <a:spLocks xmlns:a="http://schemas.openxmlformats.org/drawingml/2006/main" noGrp="1"/>
          </p:cNvSpPr>
          <p:nvPr/>
        </p:nvSpPr>
        <p:spPr>
          <a:xfrm xmlns:a="http://schemas.openxmlformats.org/drawingml/2006/main">
            <a:off x="8763000" y="2190750"/>
            <a:ext cx="2428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26D0C3"/>
                </a:solidFill>
              </a:defRPr>
            </a:pPr>
            <a:r>
              <a:rPr sz="2025" b="1">
                <a:solidFill>
                  <a:srgbClr val="26D0C3"/>
                </a:solidFill>
              </a:rPr>
              <a:t>Six sections</a:t>
            </a:r>
          </a:p>
        </p:txBody>
      </p:sp>
      <p:sp>
        <p:nvSpPr>
          <p:cNvPr id="9" name="">
            <a:extLst xmlns:a="http://schemas.openxmlformats.org/drawingml/2006/main">
              <a:ext uri="{FF2B5EF4-FFF2-40B4-BE49-F238E27FC236}">
                <a16:creationId xmlns:a16="http://schemas.microsoft.com/office/drawing/2014/main" id="{39BC9E83-2BCE-4519-BC9E-EE4AA527F2E8}"/>
              </a:ext>
            </a:extLst>
          </p:cNvPr>
          <p:cNvSpPr>
            <a:spLocks xmlns:a="http://schemas.openxmlformats.org/drawingml/2006/main" noGrp="1"/>
          </p:cNvSpPr>
          <p:nvPr/>
        </p:nvSpPr>
        <p:spPr>
          <a:xfrm xmlns:a="http://schemas.openxmlformats.org/drawingml/2006/main">
            <a:off x="8763000" y="27241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26D0C3"/>
                </a:solidFill>
              </a:defRPr>
            </a:pPr>
            <a:r>
              <a:rPr sz="1425" b="1">
                <a:solidFill>
                  <a:srgbClr val="26D0C3"/>
                </a:solidFill>
              </a:rPr>
              <a:t>•</a:t>
            </a:r>
          </a:p>
        </p:txBody>
      </p:sp>
      <p:sp>
        <p:nvSpPr>
          <p:cNvPr id="10" name="">
            <a:extLst xmlns:a="http://schemas.openxmlformats.org/drawingml/2006/main">
              <a:ext uri="{FF2B5EF4-FFF2-40B4-BE49-F238E27FC236}">
                <a16:creationId xmlns:a16="http://schemas.microsoft.com/office/drawing/2014/main" id="{3A7D20BE-5675-4212-9EBA-8747E171A553}"/>
              </a:ext>
            </a:extLst>
          </p:cNvPr>
          <p:cNvSpPr>
            <a:spLocks xmlns:a="http://schemas.openxmlformats.org/drawingml/2006/main" noGrp="1"/>
          </p:cNvSpPr>
          <p:nvPr/>
        </p:nvSpPr>
        <p:spPr>
          <a:xfrm xmlns:a="http://schemas.openxmlformats.org/drawingml/2006/main">
            <a:off x="9029700" y="2724150"/>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5F8FB"/>
                </a:solidFill>
              </a:defRPr>
            </a:pPr>
            <a:r>
              <a:rPr sz="1275" b="0">
                <a:solidFill>
                  <a:srgbClr val="F5F8FB"/>
                </a:solidFill>
              </a:rPr>
              <a:t>Overview</a:t>
            </a:r>
          </a:p>
        </p:txBody>
      </p:sp>
      <p:sp>
        <p:nvSpPr>
          <p:cNvPr id="11" name="">
            <a:extLst xmlns:a="http://schemas.openxmlformats.org/drawingml/2006/main">
              <a:ext uri="{FF2B5EF4-FFF2-40B4-BE49-F238E27FC236}">
                <a16:creationId xmlns:a16="http://schemas.microsoft.com/office/drawing/2014/main" id="{AC041C6E-45CB-467A-B114-646B5E520892}"/>
              </a:ext>
            </a:extLst>
          </p:cNvPr>
          <p:cNvSpPr>
            <a:spLocks xmlns:a="http://schemas.openxmlformats.org/drawingml/2006/main" noGrp="1"/>
          </p:cNvSpPr>
          <p:nvPr/>
        </p:nvSpPr>
        <p:spPr>
          <a:xfrm xmlns:a="http://schemas.openxmlformats.org/drawingml/2006/main">
            <a:off x="8763000" y="315277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26D0C3"/>
                </a:solidFill>
              </a:defRPr>
            </a:pPr>
            <a:r>
              <a:rPr sz="1425" b="1">
                <a:solidFill>
                  <a:srgbClr val="26D0C3"/>
                </a:solidFill>
              </a:rPr>
              <a:t>•</a:t>
            </a:r>
          </a:p>
        </p:txBody>
      </p:sp>
      <p:sp>
        <p:nvSpPr>
          <p:cNvPr id="12" name="">
            <a:extLst xmlns:a="http://schemas.openxmlformats.org/drawingml/2006/main">
              <a:ext uri="{FF2B5EF4-FFF2-40B4-BE49-F238E27FC236}">
                <a16:creationId xmlns:a16="http://schemas.microsoft.com/office/drawing/2014/main" id="{02B2FE1D-6132-4101-8B8A-0D86C4D7A577}"/>
              </a:ext>
            </a:extLst>
          </p:cNvPr>
          <p:cNvSpPr>
            <a:spLocks xmlns:a="http://schemas.openxmlformats.org/drawingml/2006/main" noGrp="1"/>
          </p:cNvSpPr>
          <p:nvPr/>
        </p:nvSpPr>
        <p:spPr>
          <a:xfrm xmlns:a="http://schemas.openxmlformats.org/drawingml/2006/main">
            <a:off x="9029700" y="3152775"/>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5F8FB"/>
                </a:solidFill>
              </a:defRPr>
            </a:pPr>
            <a:r>
              <a:rPr sz="1275" b="0">
                <a:solidFill>
                  <a:srgbClr val="F5F8FB"/>
                </a:solidFill>
              </a:rPr>
              <a:t>Data Exploration</a:t>
            </a:r>
          </a:p>
        </p:txBody>
      </p:sp>
      <p:sp>
        <p:nvSpPr>
          <p:cNvPr id="13" name="">
            <a:extLst xmlns:a="http://schemas.openxmlformats.org/drawingml/2006/main">
              <a:ext uri="{FF2B5EF4-FFF2-40B4-BE49-F238E27FC236}">
                <a16:creationId xmlns:a16="http://schemas.microsoft.com/office/drawing/2014/main" id="{CC3CD696-CF5D-4AFD-8BAB-755431C50000}"/>
              </a:ext>
            </a:extLst>
          </p:cNvPr>
          <p:cNvSpPr>
            <a:spLocks xmlns:a="http://schemas.openxmlformats.org/drawingml/2006/main" noGrp="1"/>
          </p:cNvSpPr>
          <p:nvPr/>
        </p:nvSpPr>
        <p:spPr>
          <a:xfrm xmlns:a="http://schemas.openxmlformats.org/drawingml/2006/main">
            <a:off x="8763000" y="35814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26D0C3"/>
                </a:solidFill>
              </a:defRPr>
            </a:pPr>
            <a:r>
              <a:rPr sz="1425" b="1">
                <a:solidFill>
                  <a:srgbClr val="26D0C3"/>
                </a:solidFill>
              </a:rPr>
              <a:t>•</a:t>
            </a:r>
          </a:p>
        </p:txBody>
      </p:sp>
      <p:sp>
        <p:nvSpPr>
          <p:cNvPr id="14" name="">
            <a:extLst xmlns:a="http://schemas.openxmlformats.org/drawingml/2006/main">
              <a:ext uri="{FF2B5EF4-FFF2-40B4-BE49-F238E27FC236}">
                <a16:creationId xmlns:a16="http://schemas.microsoft.com/office/drawing/2014/main" id="{859D9D65-AFC9-472B-A8EA-C9CDE1E21B5C}"/>
              </a:ext>
            </a:extLst>
          </p:cNvPr>
          <p:cNvSpPr>
            <a:spLocks xmlns:a="http://schemas.openxmlformats.org/drawingml/2006/main" noGrp="1"/>
          </p:cNvSpPr>
          <p:nvPr/>
        </p:nvSpPr>
        <p:spPr>
          <a:xfrm xmlns:a="http://schemas.openxmlformats.org/drawingml/2006/main">
            <a:off x="9029700" y="3581400"/>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5F8FB"/>
                </a:solidFill>
              </a:defRPr>
            </a:pPr>
            <a:r>
              <a:rPr sz="1275" b="0">
                <a:solidFill>
                  <a:srgbClr val="F5F8FB"/>
                </a:solidFill>
              </a:rPr>
              <a:t>AI Assistant</a:t>
            </a:r>
          </a:p>
        </p:txBody>
      </p:sp>
      <p:sp>
        <p:nvSpPr>
          <p:cNvPr id="15" name="">
            <a:extLst xmlns:a="http://schemas.openxmlformats.org/drawingml/2006/main">
              <a:ext uri="{FF2B5EF4-FFF2-40B4-BE49-F238E27FC236}">
                <a16:creationId xmlns:a16="http://schemas.microsoft.com/office/drawing/2014/main" id="{9CFB34A0-5F0D-4847-B514-690BC6B6F360}"/>
              </a:ext>
            </a:extLst>
          </p:cNvPr>
          <p:cNvSpPr>
            <a:spLocks xmlns:a="http://schemas.openxmlformats.org/drawingml/2006/main" noGrp="1"/>
          </p:cNvSpPr>
          <p:nvPr/>
        </p:nvSpPr>
        <p:spPr>
          <a:xfrm xmlns:a="http://schemas.openxmlformats.org/drawingml/2006/main">
            <a:off x="8763000" y="401002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26D0C3"/>
                </a:solidFill>
              </a:defRPr>
            </a:pPr>
            <a:r>
              <a:rPr sz="1425" b="1">
                <a:solidFill>
                  <a:srgbClr val="26D0C3"/>
                </a:solidFill>
              </a:rPr>
              <a:t>•</a:t>
            </a:r>
          </a:p>
        </p:txBody>
      </p:sp>
      <p:sp>
        <p:nvSpPr>
          <p:cNvPr id="16" name="">
            <a:extLst xmlns:a="http://schemas.openxmlformats.org/drawingml/2006/main">
              <a:ext uri="{FF2B5EF4-FFF2-40B4-BE49-F238E27FC236}">
                <a16:creationId xmlns:a16="http://schemas.microsoft.com/office/drawing/2014/main" id="{8C794E91-B873-4B86-A71A-C04471468BC9}"/>
              </a:ext>
            </a:extLst>
          </p:cNvPr>
          <p:cNvSpPr>
            <a:spLocks xmlns:a="http://schemas.openxmlformats.org/drawingml/2006/main" noGrp="1"/>
          </p:cNvSpPr>
          <p:nvPr/>
        </p:nvSpPr>
        <p:spPr>
          <a:xfrm xmlns:a="http://schemas.openxmlformats.org/drawingml/2006/main">
            <a:off x="9029700" y="4010025"/>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5F8FB"/>
                </a:solidFill>
              </a:defRPr>
            </a:pPr>
            <a:r>
              <a:rPr sz="1275" b="0">
                <a:solidFill>
                  <a:srgbClr val="F5F8FB"/>
                </a:solidFill>
              </a:rPr>
              <a:t>Advanced Analytics</a:t>
            </a:r>
          </a:p>
        </p:txBody>
      </p:sp>
      <p:sp>
        <p:nvSpPr>
          <p:cNvPr id="17" name="">
            <a:extLst xmlns:a="http://schemas.openxmlformats.org/drawingml/2006/main">
              <a:ext uri="{FF2B5EF4-FFF2-40B4-BE49-F238E27FC236}">
                <a16:creationId xmlns:a16="http://schemas.microsoft.com/office/drawing/2014/main" id="{853CCA08-C96A-4617-8177-15816D310EB4}"/>
              </a:ext>
            </a:extLst>
          </p:cNvPr>
          <p:cNvSpPr>
            <a:spLocks xmlns:a="http://schemas.openxmlformats.org/drawingml/2006/main" noGrp="1"/>
          </p:cNvSpPr>
          <p:nvPr/>
        </p:nvSpPr>
        <p:spPr>
          <a:xfrm xmlns:a="http://schemas.openxmlformats.org/drawingml/2006/main">
            <a:off x="8763000" y="44386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26D0C3"/>
                </a:solidFill>
              </a:defRPr>
            </a:pPr>
            <a:r>
              <a:rPr sz="1425" b="1">
                <a:solidFill>
                  <a:srgbClr val="26D0C3"/>
                </a:solidFill>
              </a:rPr>
              <a:t>•</a:t>
            </a:r>
          </a:p>
        </p:txBody>
      </p:sp>
      <p:sp>
        <p:nvSpPr>
          <p:cNvPr id="18" name="">
            <a:extLst xmlns:a="http://schemas.openxmlformats.org/drawingml/2006/main">
              <a:ext uri="{FF2B5EF4-FFF2-40B4-BE49-F238E27FC236}">
                <a16:creationId xmlns:a16="http://schemas.microsoft.com/office/drawing/2014/main" id="{58439F99-20CC-49C1-857F-625CA8D4BD1D}"/>
              </a:ext>
            </a:extLst>
          </p:cNvPr>
          <p:cNvSpPr>
            <a:spLocks xmlns:a="http://schemas.openxmlformats.org/drawingml/2006/main" noGrp="1"/>
          </p:cNvSpPr>
          <p:nvPr/>
        </p:nvSpPr>
        <p:spPr>
          <a:xfrm xmlns:a="http://schemas.openxmlformats.org/drawingml/2006/main">
            <a:off x="9029700" y="4438650"/>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5F8FB"/>
                </a:solidFill>
              </a:defRPr>
            </a:pPr>
            <a:r>
              <a:rPr sz="1275" b="0">
                <a:solidFill>
                  <a:srgbClr val="F5F8FB"/>
                </a:solidFill>
              </a:rPr>
              <a:t>Quality &amp; Performance</a:t>
            </a:r>
          </a:p>
        </p:txBody>
      </p:sp>
      <p:sp>
        <p:nvSpPr>
          <p:cNvPr id="19" name="">
            <a:extLst xmlns:a="http://schemas.openxmlformats.org/drawingml/2006/main">
              <a:ext uri="{FF2B5EF4-FFF2-40B4-BE49-F238E27FC236}">
                <a16:creationId xmlns:a16="http://schemas.microsoft.com/office/drawing/2014/main" id="{36696AB7-949D-4E5D-A955-085682DC55A2}"/>
              </a:ext>
            </a:extLst>
          </p:cNvPr>
          <p:cNvSpPr>
            <a:spLocks xmlns:a="http://schemas.openxmlformats.org/drawingml/2006/main" noGrp="1"/>
          </p:cNvSpPr>
          <p:nvPr/>
        </p:nvSpPr>
        <p:spPr>
          <a:xfrm xmlns:a="http://schemas.openxmlformats.org/drawingml/2006/main">
            <a:off x="8763000" y="486727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26D0C3"/>
                </a:solidFill>
              </a:defRPr>
            </a:pPr>
            <a:r>
              <a:rPr sz="1425" b="1">
                <a:solidFill>
                  <a:srgbClr val="26D0C3"/>
                </a:solidFill>
              </a:rPr>
              <a:t>•</a:t>
            </a:r>
          </a:p>
        </p:txBody>
      </p:sp>
      <p:sp>
        <p:nvSpPr>
          <p:cNvPr id="20" name="">
            <a:extLst xmlns:a="http://schemas.openxmlformats.org/drawingml/2006/main">
              <a:ext uri="{FF2B5EF4-FFF2-40B4-BE49-F238E27FC236}">
                <a16:creationId xmlns:a16="http://schemas.microsoft.com/office/drawing/2014/main" id="{94A05180-DE2B-4E92-82E3-8ED56A1A05A3}"/>
              </a:ext>
            </a:extLst>
          </p:cNvPr>
          <p:cNvSpPr>
            <a:spLocks xmlns:a="http://schemas.openxmlformats.org/drawingml/2006/main" noGrp="1"/>
          </p:cNvSpPr>
          <p:nvPr/>
        </p:nvSpPr>
        <p:spPr>
          <a:xfrm xmlns:a="http://schemas.openxmlformats.org/drawingml/2006/main">
            <a:off x="9029700" y="4867275"/>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5F8FB"/>
                </a:solidFill>
              </a:defRPr>
            </a:pPr>
            <a:r>
              <a:rPr sz="1275" b="0">
                <a:solidFill>
                  <a:srgbClr val="F5F8FB"/>
                </a:solidFill>
              </a:rPr>
              <a:t>Report Export</a:t>
            </a:r>
          </a:p>
        </p:txBody>
      </p:sp>
      <p:sp>
        <p:nvSpPr>
          <p:cNvPr id="21" name="">
            <a:extLst xmlns:a="http://schemas.openxmlformats.org/drawingml/2006/main">
              <a:ext uri="{FF2B5EF4-FFF2-40B4-BE49-F238E27FC236}">
                <a16:creationId xmlns:a16="http://schemas.microsoft.com/office/drawing/2014/main" id="{B9C9CAF6-A57D-46D8-ACEA-F437006618A3}"/>
              </a:ext>
            </a:extLst>
          </p:cNvPr>
          <p:cNvSpPr>
            <a:spLocks xmlns:a="http://schemas.openxmlformats.org/drawingml/2006/main" noGrp="1"/>
          </p:cNvSpPr>
          <p:nvPr/>
        </p:nvSpPr>
        <p:spPr>
          <a:xfrm xmlns:a="http://schemas.openxmlformats.org/drawingml/2006/main">
            <a:off x="8620125" y="5429250"/>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AEC0CB"/>
                </a:solidFill>
              </a:defRPr>
            </a:pPr>
            <a:r>
              <a:rPr sz="1275" b="0">
                <a:solidFill>
                  <a:srgbClr val="AEC0CB"/>
                </a:solidFill>
              </a:rPr>
              <a:t>Persistent filters · five-turn memory · reduced-motion support</a:t>
            </a:r>
          </a:p>
        </p:txBody>
      </p:sp>
    </p:spTree>
    <p:extLst>
      <p:ext uri="{BB962C8B-B14F-4D97-AF65-F5344CB8AC3E}">
        <p14:creationId xmlns:p14="http://schemas.microsoft.com/office/powerpoint/2010/main" val="669031276"/>
      </p:ext>
    </p:extLst>
  </p:cSld>
</p:sld>
</file>

<file path=ppt/slides/slide11.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9985C82-1FFB-4CE7-82D0-08B632A8B625}"/>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C2BC2CF1-F846-4F47-AE52-62E253774E04}"/>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VISUALIZATION SYSTEM</a:t>
            </a:r>
          </a:p>
        </p:txBody>
      </p:sp>
      <p:sp>
        <p:nvSpPr>
          <p:cNvPr id="3" name="title-11">
            <a:extLst xmlns:a="http://schemas.openxmlformats.org/drawingml/2006/main">
              <a:ext uri="{FF2B5EF4-FFF2-40B4-BE49-F238E27FC236}">
                <a16:creationId xmlns:a16="http://schemas.microsoft.com/office/drawing/2014/main" id="{330378BA-5AFB-4090-BA44-1231EE001CA7}"/>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Eight analytical views — one selection and validation policy</a:t>
            </a:r>
          </a:p>
        </p:txBody>
      </p:sp>
      <p:sp>
        <p:nvSpPr>
          <p:cNvPr id="4" name="">
            <a:extLst xmlns:a="http://schemas.openxmlformats.org/drawingml/2006/main">
              <a:ext uri="{FF2B5EF4-FFF2-40B4-BE49-F238E27FC236}">
                <a16:creationId xmlns:a16="http://schemas.microsoft.com/office/drawing/2014/main" id="{89E1265C-EB07-488A-B50D-FA401E9B1558}"/>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AEA510CA-1082-491F-9F36-3FD20F35270D}"/>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11</a:t>
            </a:r>
          </a:p>
        </p:txBody>
      </p:sp>
      <p:sp>
        <p:nvSpPr>
          <p:cNvPr id="6" name="">
            <a:extLst xmlns:a="http://schemas.openxmlformats.org/drawingml/2006/main">
              <a:ext uri="{FF2B5EF4-FFF2-40B4-BE49-F238E27FC236}">
                <a16:creationId xmlns:a16="http://schemas.microsoft.com/office/drawing/2014/main" id="{EDEEEF7C-8B49-475E-90D1-F610C204956D}"/>
              </a:ext>
            </a:extLst>
          </p:cNvPr>
          <p:cNvSpPr>
            <a:spLocks xmlns:a="http://schemas.openxmlformats.org/drawingml/2006/main" noGrp="1"/>
          </p:cNvSpPr>
          <p:nvPr/>
        </p:nvSpPr>
        <p:spPr>
          <a:xfrm xmlns:a="http://schemas.openxmlformats.org/drawingml/2006/main">
            <a:off x="800100" y="1952625"/>
            <a:ext cx="2095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600" b="1">
                <a:solidFill>
                  <a:srgbClr val="26D0C3"/>
                </a:solidFill>
              </a:defRPr>
            </a:pPr>
            <a:r>
              <a:rPr sz="9600" b="1">
                <a:solidFill>
                  <a:srgbClr val="26D0C3"/>
                </a:solidFill>
              </a:rPr>
              <a:t>8</a:t>
            </a:r>
          </a:p>
        </p:txBody>
      </p:sp>
      <p:sp>
        <p:nvSpPr>
          <p:cNvPr id="7" name="">
            <a:extLst xmlns:a="http://schemas.openxmlformats.org/drawingml/2006/main">
              <a:ext uri="{FF2B5EF4-FFF2-40B4-BE49-F238E27FC236}">
                <a16:creationId xmlns:a16="http://schemas.microsoft.com/office/drawing/2014/main" id="{E78683B4-3EB6-472B-A4B5-64A6E8574466}"/>
              </a:ext>
            </a:extLst>
          </p:cNvPr>
          <p:cNvSpPr>
            <a:spLocks xmlns:a="http://schemas.openxmlformats.org/drawingml/2006/main" noGrp="1"/>
          </p:cNvSpPr>
          <p:nvPr/>
        </p:nvSpPr>
        <p:spPr>
          <a:xfrm xmlns:a="http://schemas.openxmlformats.org/drawingml/2006/main">
            <a:off x="790575" y="3486150"/>
            <a:ext cx="214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AEC0CB"/>
                </a:solidFill>
              </a:defRPr>
            </a:pPr>
            <a:r>
              <a:rPr sz="1575" b="1">
                <a:solidFill>
                  <a:srgbClr val="AEC0CB"/>
                </a:solidFill>
              </a:rPr>
              <a:t>required chart families</a:t>
            </a:r>
          </a:p>
        </p:txBody>
      </p:sp>
      <p:sp>
        <p:nvSpPr>
          <p:cNvPr id="8" name="">
            <a:extLst xmlns:a="http://schemas.openxmlformats.org/drawingml/2006/main">
              <a:ext uri="{FF2B5EF4-FFF2-40B4-BE49-F238E27FC236}">
                <a16:creationId xmlns:a16="http://schemas.microsoft.com/office/drawing/2014/main" id="{202AEC87-8570-4EB0-BD51-1D10B2C8C0F5}"/>
              </a:ext>
            </a:extLst>
          </p:cNvPr>
          <p:cNvSpPr>
            <a:spLocks xmlns:a="http://schemas.openxmlformats.org/drawingml/2006/main" noGrp="1"/>
          </p:cNvSpPr>
          <p:nvPr/>
        </p:nvSpPr>
        <p:spPr>
          <a:xfrm xmlns:a="http://schemas.openxmlformats.org/drawingml/2006/main">
            <a:off x="3286125" y="1952625"/>
            <a:ext cx="19050" cy="3429000"/>
          </a:xfrm>
          <a:prstGeom xmlns:a="http://schemas.openxmlformats.org/drawingml/2006/main" prst="rect">
            <a:avLst/>
          </a:prstGeom>
          <a:solidFill xmlns:a="http://schemas.openxmlformats.org/drawingml/2006/main">
            <a:srgbClr val="29495B"/>
          </a:solidFill>
          <a:ln xmlns:a="http://schemas.openxmlformats.org/drawingml/2006/main" w="9525">
            <a:solidFill>
              <a:srgbClr val="29495B"/>
            </a:solidFill>
            <a:prstDash val="solid"/>
          </a:ln>
        </p:spPr>
      </p:sp>
      <p:sp>
        <p:nvSpPr>
          <p:cNvPr id="9" name="">
            <a:extLst xmlns:a="http://schemas.openxmlformats.org/drawingml/2006/main">
              <a:ext uri="{FF2B5EF4-FFF2-40B4-BE49-F238E27FC236}">
                <a16:creationId xmlns:a16="http://schemas.microsoft.com/office/drawing/2014/main" id="{6FEDE64C-DC91-4C51-89D4-2EABC204ED54}"/>
              </a:ext>
            </a:extLst>
          </p:cNvPr>
          <p:cNvSpPr>
            <a:spLocks xmlns:a="http://schemas.openxmlformats.org/drawingml/2006/main" noGrp="1"/>
          </p:cNvSpPr>
          <p:nvPr/>
        </p:nvSpPr>
        <p:spPr>
          <a:xfrm xmlns:a="http://schemas.openxmlformats.org/drawingml/2006/main">
            <a:off x="3857625" y="20764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26D0C3"/>
                </a:solidFill>
              </a:defRPr>
            </a:pPr>
            <a:r>
              <a:rPr sz="1800" b="1">
                <a:solidFill>
                  <a:srgbClr val="26D0C3"/>
                </a:solidFill>
              </a:rPr>
              <a:t>•</a:t>
            </a:r>
          </a:p>
        </p:txBody>
      </p:sp>
      <p:sp>
        <p:nvSpPr>
          <p:cNvPr id="10" name="">
            <a:extLst xmlns:a="http://schemas.openxmlformats.org/drawingml/2006/main">
              <a:ext uri="{FF2B5EF4-FFF2-40B4-BE49-F238E27FC236}">
                <a16:creationId xmlns:a16="http://schemas.microsoft.com/office/drawing/2014/main" id="{932EA563-0791-41B3-9CD9-CDF2B3B9C54D}"/>
              </a:ext>
            </a:extLst>
          </p:cNvPr>
          <p:cNvSpPr>
            <a:spLocks xmlns:a="http://schemas.openxmlformats.org/drawingml/2006/main" noGrp="1"/>
          </p:cNvSpPr>
          <p:nvPr/>
        </p:nvSpPr>
        <p:spPr>
          <a:xfrm xmlns:a="http://schemas.openxmlformats.org/drawingml/2006/main">
            <a:off x="4124325" y="2076450"/>
            <a:ext cx="3067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5F8FB"/>
                </a:solidFill>
              </a:defRPr>
            </a:pPr>
            <a:r>
              <a:rPr sz="1650" b="0">
                <a:solidFill>
                  <a:srgbClr val="F5F8FB"/>
                </a:solidFill>
              </a:rPr>
              <a:t>Time series</a:t>
            </a:r>
          </a:p>
        </p:txBody>
      </p:sp>
      <p:sp>
        <p:nvSpPr>
          <p:cNvPr id="11" name="">
            <a:extLst xmlns:a="http://schemas.openxmlformats.org/drawingml/2006/main">
              <a:ext uri="{FF2B5EF4-FFF2-40B4-BE49-F238E27FC236}">
                <a16:creationId xmlns:a16="http://schemas.microsoft.com/office/drawing/2014/main" id="{B2F56C45-C165-4E67-8A22-7B8A93AABF4D}"/>
              </a:ext>
            </a:extLst>
          </p:cNvPr>
          <p:cNvSpPr>
            <a:spLocks xmlns:a="http://schemas.openxmlformats.org/drawingml/2006/main" noGrp="1"/>
          </p:cNvSpPr>
          <p:nvPr/>
        </p:nvSpPr>
        <p:spPr>
          <a:xfrm xmlns:a="http://schemas.openxmlformats.org/drawingml/2006/main">
            <a:off x="3857625" y="27051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26D0C3"/>
                </a:solidFill>
              </a:defRPr>
            </a:pPr>
            <a:r>
              <a:rPr sz="1800" b="1">
                <a:solidFill>
                  <a:srgbClr val="26D0C3"/>
                </a:solidFill>
              </a:rPr>
              <a:t>•</a:t>
            </a:r>
          </a:p>
        </p:txBody>
      </p:sp>
      <p:sp>
        <p:nvSpPr>
          <p:cNvPr id="12" name="">
            <a:extLst xmlns:a="http://schemas.openxmlformats.org/drawingml/2006/main">
              <a:ext uri="{FF2B5EF4-FFF2-40B4-BE49-F238E27FC236}">
                <a16:creationId xmlns:a16="http://schemas.microsoft.com/office/drawing/2014/main" id="{B4A85BD4-4C03-430C-8111-77A2E8CD61AD}"/>
              </a:ext>
            </a:extLst>
          </p:cNvPr>
          <p:cNvSpPr>
            <a:spLocks xmlns:a="http://schemas.openxmlformats.org/drawingml/2006/main" noGrp="1"/>
          </p:cNvSpPr>
          <p:nvPr/>
        </p:nvSpPr>
        <p:spPr>
          <a:xfrm xmlns:a="http://schemas.openxmlformats.org/drawingml/2006/main">
            <a:off x="4124325" y="2705100"/>
            <a:ext cx="3067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5F8FB"/>
                </a:solidFill>
              </a:defRPr>
            </a:pPr>
            <a:r>
              <a:rPr sz="1650" b="0">
                <a:solidFill>
                  <a:srgbClr val="F5F8FB"/>
                </a:solidFill>
              </a:rPr>
              <a:t>Choropleth + fallback</a:t>
            </a:r>
          </a:p>
        </p:txBody>
      </p:sp>
      <p:sp>
        <p:nvSpPr>
          <p:cNvPr id="13" name="">
            <a:extLst xmlns:a="http://schemas.openxmlformats.org/drawingml/2006/main">
              <a:ext uri="{FF2B5EF4-FFF2-40B4-BE49-F238E27FC236}">
                <a16:creationId xmlns:a16="http://schemas.microsoft.com/office/drawing/2014/main" id="{4626682D-51D5-4DA3-AB88-CF2895D7BA94}"/>
              </a:ext>
            </a:extLst>
          </p:cNvPr>
          <p:cNvSpPr>
            <a:spLocks xmlns:a="http://schemas.openxmlformats.org/drawingml/2006/main" noGrp="1"/>
          </p:cNvSpPr>
          <p:nvPr/>
        </p:nvSpPr>
        <p:spPr>
          <a:xfrm xmlns:a="http://schemas.openxmlformats.org/drawingml/2006/main">
            <a:off x="3857625" y="33337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26D0C3"/>
                </a:solidFill>
              </a:defRPr>
            </a:pPr>
            <a:r>
              <a:rPr sz="1800" b="1">
                <a:solidFill>
                  <a:srgbClr val="26D0C3"/>
                </a:solidFill>
              </a:rPr>
              <a:t>•</a:t>
            </a:r>
          </a:p>
        </p:txBody>
      </p:sp>
      <p:sp>
        <p:nvSpPr>
          <p:cNvPr id="14" name="">
            <a:extLst xmlns:a="http://schemas.openxmlformats.org/drawingml/2006/main">
              <a:ext uri="{FF2B5EF4-FFF2-40B4-BE49-F238E27FC236}">
                <a16:creationId xmlns:a16="http://schemas.microsoft.com/office/drawing/2014/main" id="{A573CE49-B768-4E71-8BCB-B8F51450AF6D}"/>
              </a:ext>
            </a:extLst>
          </p:cNvPr>
          <p:cNvSpPr>
            <a:spLocks xmlns:a="http://schemas.openxmlformats.org/drawingml/2006/main" noGrp="1"/>
          </p:cNvSpPr>
          <p:nvPr/>
        </p:nvSpPr>
        <p:spPr>
          <a:xfrm xmlns:a="http://schemas.openxmlformats.org/drawingml/2006/main">
            <a:off x="4124325" y="3333750"/>
            <a:ext cx="3067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5F8FB"/>
                </a:solidFill>
              </a:defRPr>
            </a:pPr>
            <a:r>
              <a:rPr sz="1650" b="0">
                <a:solidFill>
                  <a:srgbClr val="F5F8FB"/>
                </a:solidFill>
              </a:rPr>
              <a:t>Correlation heatmap</a:t>
            </a:r>
          </a:p>
        </p:txBody>
      </p:sp>
      <p:sp>
        <p:nvSpPr>
          <p:cNvPr id="15" name="">
            <a:extLst xmlns:a="http://schemas.openxmlformats.org/drawingml/2006/main">
              <a:ext uri="{FF2B5EF4-FFF2-40B4-BE49-F238E27FC236}">
                <a16:creationId xmlns:a16="http://schemas.microsoft.com/office/drawing/2014/main" id="{1189DA3D-50D6-41AE-AE65-5DC4859D794C}"/>
              </a:ext>
            </a:extLst>
          </p:cNvPr>
          <p:cNvSpPr>
            <a:spLocks xmlns:a="http://schemas.openxmlformats.org/drawingml/2006/main" noGrp="1"/>
          </p:cNvSpPr>
          <p:nvPr/>
        </p:nvSpPr>
        <p:spPr>
          <a:xfrm xmlns:a="http://schemas.openxmlformats.org/drawingml/2006/main">
            <a:off x="3857625" y="39624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26D0C3"/>
                </a:solidFill>
              </a:defRPr>
            </a:pPr>
            <a:r>
              <a:rPr sz="1800" b="1">
                <a:solidFill>
                  <a:srgbClr val="26D0C3"/>
                </a:solidFill>
              </a:rPr>
              <a:t>•</a:t>
            </a:r>
          </a:p>
        </p:txBody>
      </p:sp>
      <p:sp>
        <p:nvSpPr>
          <p:cNvPr id="16" name="">
            <a:extLst xmlns:a="http://schemas.openxmlformats.org/drawingml/2006/main">
              <a:ext uri="{FF2B5EF4-FFF2-40B4-BE49-F238E27FC236}">
                <a16:creationId xmlns:a16="http://schemas.microsoft.com/office/drawing/2014/main" id="{7887A81C-D661-4E20-AC12-C17795B22759}"/>
              </a:ext>
            </a:extLst>
          </p:cNvPr>
          <p:cNvSpPr>
            <a:spLocks xmlns:a="http://schemas.openxmlformats.org/drawingml/2006/main" noGrp="1"/>
          </p:cNvSpPr>
          <p:nvPr/>
        </p:nvSpPr>
        <p:spPr>
          <a:xfrm xmlns:a="http://schemas.openxmlformats.org/drawingml/2006/main">
            <a:off x="4124325" y="3962400"/>
            <a:ext cx="3067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5F8FB"/>
                </a:solidFill>
              </a:defRPr>
            </a:pPr>
            <a:r>
              <a:rPr sz="1650" b="0">
                <a:solidFill>
                  <a:srgbClr val="F5F8FB"/>
                </a:solidFill>
              </a:rPr>
              <a:t>Histogram / box</a:t>
            </a:r>
          </a:p>
        </p:txBody>
      </p:sp>
      <p:sp>
        <p:nvSpPr>
          <p:cNvPr id="17" name="">
            <a:extLst xmlns:a="http://schemas.openxmlformats.org/drawingml/2006/main">
              <a:ext uri="{FF2B5EF4-FFF2-40B4-BE49-F238E27FC236}">
                <a16:creationId xmlns:a16="http://schemas.microsoft.com/office/drawing/2014/main" id="{B330C201-DE17-4C17-931D-C6D95A889976}"/>
              </a:ext>
            </a:extLst>
          </p:cNvPr>
          <p:cNvSpPr>
            <a:spLocks xmlns:a="http://schemas.openxmlformats.org/drawingml/2006/main" noGrp="1"/>
          </p:cNvSpPr>
          <p:nvPr/>
        </p:nvSpPr>
        <p:spPr>
          <a:xfrm xmlns:a="http://schemas.openxmlformats.org/drawingml/2006/main">
            <a:off x="7524750" y="20764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26D0C3"/>
                </a:solidFill>
              </a:defRPr>
            </a:pPr>
            <a:r>
              <a:rPr sz="1800" b="1">
                <a:solidFill>
                  <a:srgbClr val="26D0C3"/>
                </a:solidFill>
              </a:rPr>
              <a:t>•</a:t>
            </a:r>
          </a:p>
        </p:txBody>
      </p:sp>
      <p:sp>
        <p:nvSpPr>
          <p:cNvPr id="18" name="">
            <a:extLst xmlns:a="http://schemas.openxmlformats.org/drawingml/2006/main">
              <a:ext uri="{FF2B5EF4-FFF2-40B4-BE49-F238E27FC236}">
                <a16:creationId xmlns:a16="http://schemas.microsoft.com/office/drawing/2014/main" id="{04C419FE-C3BE-4304-81A5-15EE29A7FFED}"/>
              </a:ext>
            </a:extLst>
          </p:cNvPr>
          <p:cNvSpPr>
            <a:spLocks xmlns:a="http://schemas.openxmlformats.org/drawingml/2006/main" noGrp="1"/>
          </p:cNvSpPr>
          <p:nvPr/>
        </p:nvSpPr>
        <p:spPr>
          <a:xfrm xmlns:a="http://schemas.openxmlformats.org/drawingml/2006/main">
            <a:off x="7791450" y="2076450"/>
            <a:ext cx="3448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5F8FB"/>
                </a:solidFill>
              </a:defRPr>
            </a:pPr>
            <a:r>
              <a:rPr sz="1650" b="0">
                <a:solidFill>
                  <a:srgbClr val="F5F8FB"/>
                </a:solidFill>
              </a:rPr>
              <a:t>Sunburst / treemap</a:t>
            </a:r>
          </a:p>
        </p:txBody>
      </p:sp>
      <p:sp>
        <p:nvSpPr>
          <p:cNvPr id="19" name="">
            <a:extLst xmlns:a="http://schemas.openxmlformats.org/drawingml/2006/main">
              <a:ext uri="{FF2B5EF4-FFF2-40B4-BE49-F238E27FC236}">
                <a16:creationId xmlns:a16="http://schemas.microsoft.com/office/drawing/2014/main" id="{AD887598-0068-4BF7-8FAE-64FA231BEB68}"/>
              </a:ext>
            </a:extLst>
          </p:cNvPr>
          <p:cNvSpPr>
            <a:spLocks xmlns:a="http://schemas.openxmlformats.org/drawingml/2006/main" noGrp="1"/>
          </p:cNvSpPr>
          <p:nvPr/>
        </p:nvSpPr>
        <p:spPr>
          <a:xfrm xmlns:a="http://schemas.openxmlformats.org/drawingml/2006/main">
            <a:off x="7524750" y="27051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26D0C3"/>
                </a:solidFill>
              </a:defRPr>
            </a:pPr>
            <a:r>
              <a:rPr sz="1800" b="1">
                <a:solidFill>
                  <a:srgbClr val="26D0C3"/>
                </a:solidFill>
              </a:rPr>
              <a:t>•</a:t>
            </a:r>
          </a:p>
        </p:txBody>
      </p:sp>
      <p:sp>
        <p:nvSpPr>
          <p:cNvPr id="20" name="">
            <a:extLst xmlns:a="http://schemas.openxmlformats.org/drawingml/2006/main">
              <a:ext uri="{FF2B5EF4-FFF2-40B4-BE49-F238E27FC236}">
                <a16:creationId xmlns:a16="http://schemas.microsoft.com/office/drawing/2014/main" id="{404CCE96-F983-461C-B8BF-8DDB08185C41}"/>
              </a:ext>
            </a:extLst>
          </p:cNvPr>
          <p:cNvSpPr>
            <a:spLocks xmlns:a="http://schemas.openxmlformats.org/drawingml/2006/main" noGrp="1"/>
          </p:cNvSpPr>
          <p:nvPr/>
        </p:nvSpPr>
        <p:spPr>
          <a:xfrm xmlns:a="http://schemas.openxmlformats.org/drawingml/2006/main">
            <a:off x="7791450" y="2705100"/>
            <a:ext cx="3448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5F8FB"/>
                </a:solidFill>
              </a:defRPr>
            </a:pPr>
            <a:r>
              <a:rPr sz="1650" b="0">
                <a:solidFill>
                  <a:srgbClr val="F5F8FB"/>
                </a:solidFill>
              </a:rPr>
              <a:t>Grouped / stacked bar</a:t>
            </a:r>
          </a:p>
        </p:txBody>
      </p:sp>
      <p:sp>
        <p:nvSpPr>
          <p:cNvPr id="21" name="">
            <a:extLst xmlns:a="http://schemas.openxmlformats.org/drawingml/2006/main">
              <a:ext uri="{FF2B5EF4-FFF2-40B4-BE49-F238E27FC236}">
                <a16:creationId xmlns:a16="http://schemas.microsoft.com/office/drawing/2014/main" id="{7D67957D-DEB9-4F6D-8D65-08FD0EC794BE}"/>
              </a:ext>
            </a:extLst>
          </p:cNvPr>
          <p:cNvSpPr>
            <a:spLocks xmlns:a="http://schemas.openxmlformats.org/drawingml/2006/main" noGrp="1"/>
          </p:cNvSpPr>
          <p:nvPr/>
        </p:nvSpPr>
        <p:spPr>
          <a:xfrm xmlns:a="http://schemas.openxmlformats.org/drawingml/2006/main">
            <a:off x="7524750" y="33337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26D0C3"/>
                </a:solidFill>
              </a:defRPr>
            </a:pPr>
            <a:r>
              <a:rPr sz="1800" b="1">
                <a:solidFill>
                  <a:srgbClr val="26D0C3"/>
                </a:solidFill>
              </a:rPr>
              <a:t>•</a:t>
            </a:r>
          </a:p>
        </p:txBody>
      </p:sp>
      <p:sp>
        <p:nvSpPr>
          <p:cNvPr id="22" name="">
            <a:extLst xmlns:a="http://schemas.openxmlformats.org/drawingml/2006/main">
              <a:ext uri="{FF2B5EF4-FFF2-40B4-BE49-F238E27FC236}">
                <a16:creationId xmlns:a16="http://schemas.microsoft.com/office/drawing/2014/main" id="{24A24B6D-AB56-4A3D-9644-62D86712916C}"/>
              </a:ext>
            </a:extLst>
          </p:cNvPr>
          <p:cNvSpPr>
            <a:spLocks xmlns:a="http://schemas.openxmlformats.org/drawingml/2006/main" noGrp="1"/>
          </p:cNvSpPr>
          <p:nvPr/>
        </p:nvSpPr>
        <p:spPr>
          <a:xfrm xmlns:a="http://schemas.openxmlformats.org/drawingml/2006/main">
            <a:off x="7791450" y="3333750"/>
            <a:ext cx="3448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5F8FB"/>
                </a:solidFill>
              </a:defRPr>
            </a:pPr>
            <a:r>
              <a:rPr sz="1650" b="0">
                <a:solidFill>
                  <a:srgbClr val="F5F8FB"/>
                </a:solidFill>
              </a:rPr>
              <a:t>Scatter + trend line</a:t>
            </a:r>
          </a:p>
        </p:txBody>
      </p:sp>
      <p:sp>
        <p:nvSpPr>
          <p:cNvPr id="23" name="">
            <a:extLst xmlns:a="http://schemas.openxmlformats.org/drawingml/2006/main">
              <a:ext uri="{FF2B5EF4-FFF2-40B4-BE49-F238E27FC236}">
                <a16:creationId xmlns:a16="http://schemas.microsoft.com/office/drawing/2014/main" id="{AB777663-44C8-4906-89FD-B257C4178D06}"/>
              </a:ext>
            </a:extLst>
          </p:cNvPr>
          <p:cNvSpPr>
            <a:spLocks xmlns:a="http://schemas.openxmlformats.org/drawingml/2006/main" noGrp="1"/>
          </p:cNvSpPr>
          <p:nvPr/>
        </p:nvSpPr>
        <p:spPr>
          <a:xfrm xmlns:a="http://schemas.openxmlformats.org/drawingml/2006/main">
            <a:off x="7524750" y="39624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26D0C3"/>
                </a:solidFill>
              </a:defRPr>
            </a:pPr>
            <a:r>
              <a:rPr sz="1800" b="1">
                <a:solidFill>
                  <a:srgbClr val="26D0C3"/>
                </a:solidFill>
              </a:rPr>
              <a:t>•</a:t>
            </a:r>
          </a:p>
        </p:txBody>
      </p:sp>
      <p:sp>
        <p:nvSpPr>
          <p:cNvPr id="24" name="">
            <a:extLst xmlns:a="http://schemas.openxmlformats.org/drawingml/2006/main">
              <a:ext uri="{FF2B5EF4-FFF2-40B4-BE49-F238E27FC236}">
                <a16:creationId xmlns:a16="http://schemas.microsoft.com/office/drawing/2014/main" id="{05E92075-DCD1-452B-A0D1-E1D3DBEBE045}"/>
              </a:ext>
            </a:extLst>
          </p:cNvPr>
          <p:cNvSpPr>
            <a:spLocks xmlns:a="http://schemas.openxmlformats.org/drawingml/2006/main" noGrp="1"/>
          </p:cNvSpPr>
          <p:nvPr/>
        </p:nvSpPr>
        <p:spPr>
          <a:xfrm xmlns:a="http://schemas.openxmlformats.org/drawingml/2006/main">
            <a:off x="7791450" y="3962400"/>
            <a:ext cx="34480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5F8FB"/>
                </a:solidFill>
              </a:defRPr>
            </a:pPr>
            <a:r>
              <a:rPr sz="1650" b="0">
                <a:solidFill>
                  <a:srgbClr val="F5F8FB"/>
                </a:solidFill>
              </a:rPr>
              <a:t>Animated time chart</a:t>
            </a:r>
          </a:p>
        </p:txBody>
      </p:sp>
      <p:sp>
        <p:nvSpPr>
          <p:cNvPr id="25" name="">
            <a:extLst xmlns:a="http://schemas.openxmlformats.org/drawingml/2006/main">
              <a:ext uri="{FF2B5EF4-FFF2-40B4-BE49-F238E27FC236}">
                <a16:creationId xmlns:a16="http://schemas.microsoft.com/office/drawing/2014/main" id="{BABCA308-B183-4C7E-82EB-1A7641F8124C}"/>
              </a:ext>
            </a:extLst>
          </p:cNvPr>
          <p:cNvSpPr>
            <a:spLocks xmlns:a="http://schemas.openxmlformats.org/drawingml/2006/main" noGrp="1"/>
          </p:cNvSpPr>
          <p:nvPr/>
        </p:nvSpPr>
        <p:spPr>
          <a:xfrm xmlns:a="http://schemas.openxmlformats.org/drawingml/2006/main">
            <a:off x="3857625" y="5029200"/>
            <a:ext cx="723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68D8FF"/>
                </a:solidFill>
              </a:defRPr>
            </a:pPr>
            <a:r>
              <a:rPr sz="1500" b="1">
                <a:solidFill>
                  <a:srgbClr val="68D8FF"/>
                </a:solidFill>
              </a:rPr>
              <a:t>Typed columns determine the recommendation. Users can override it. Captions are checked against computed summaries.</a:t>
            </a:r>
          </a:p>
        </p:txBody>
      </p:sp>
    </p:spTree>
    <p:extLst>
      <p:ext uri="{BB962C8B-B14F-4D97-AF65-F5344CB8AC3E}">
        <p14:creationId xmlns:p14="http://schemas.microsoft.com/office/powerpoint/2010/main" val="1850969676"/>
      </p:ext>
    </p:extLst>
  </p:cSld>
</p:sld>
</file>

<file path=ppt/slides/slide12.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6E8D92-52D8-4674-9C87-E2E0BC99F049}"/>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9A90F22C-73E4-48CD-BC17-32E9C3CB7F17}"/>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ADVANCED ANALYTICS I</a:t>
            </a:r>
          </a:p>
        </p:txBody>
      </p:sp>
      <p:sp>
        <p:nvSpPr>
          <p:cNvPr id="3" name="title-12">
            <a:extLst xmlns:a="http://schemas.openxmlformats.org/drawingml/2006/main">
              <a:ext uri="{FF2B5EF4-FFF2-40B4-BE49-F238E27FC236}">
                <a16:creationId xmlns:a16="http://schemas.microsoft.com/office/drawing/2014/main" id="{40E033C7-451A-4042-824A-72D71522DF60}"/>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Anomaly detection separates statistical facts from interpretation</a:t>
            </a:r>
          </a:p>
        </p:txBody>
      </p:sp>
      <p:sp>
        <p:nvSpPr>
          <p:cNvPr id="4" name="">
            <a:extLst xmlns:a="http://schemas.openxmlformats.org/drawingml/2006/main">
              <a:ext uri="{FF2B5EF4-FFF2-40B4-BE49-F238E27FC236}">
                <a16:creationId xmlns:a16="http://schemas.microsoft.com/office/drawing/2014/main" id="{33707C85-654D-413A-B270-0A7316F622C2}"/>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D9D17773-D829-4013-8CA9-6BCCE0D09162}"/>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12</a:t>
            </a:r>
          </a:p>
        </p:txBody>
      </p:sp>
      <p:graphicFrame>
        <p:nvGraphicFramePr>
          <p:cNvPr id="19" name="Chart"/>
          <p:cNvGraphicFramePr/>
          <p:nvPr/>
        </p:nvGraphicFramePr>
        <p:xfrm>
          <a:off xmlns:a="http://schemas.openxmlformats.org/drawingml/2006/main" x="666750" y="2114550"/>
          <a:ext xmlns:a="http://schemas.openxmlformats.org/drawingml/2006/main" cx="6191250" cy="3429000"/>
        </p:xfrm>
        <a:graphic xmlns:a="http://schemas.openxmlformats.org/drawingml/2006/main">
          <a:graphicData uri="http://schemas.openxmlformats.org/drawingml/2006/chart">
            <c:chart xmlns:r="http://schemas.openxmlformats.org/officeDocument/2006/relationships" xmlns:c="http://schemas.openxmlformats.org/drawingml/2006/chart" r:id="R3dc9d2b3b30e4cf7"/>
          </a:graphicData>
        </a:graphic>
      </p:graphicFrame>
      <p:sp>
        <p:nvSpPr>
          <p:cNvPr id="7" name="">
            <a:extLst xmlns:a="http://schemas.openxmlformats.org/drawingml/2006/main">
              <a:ext uri="{FF2B5EF4-FFF2-40B4-BE49-F238E27FC236}">
                <a16:creationId xmlns:a16="http://schemas.microsoft.com/office/drawing/2014/main" id="{BE4AA41B-AB89-40AF-8D64-2887A96BFC44}"/>
              </a:ext>
            </a:extLst>
          </p:cNvPr>
          <p:cNvSpPr>
            <a:spLocks xmlns:a="http://schemas.openxmlformats.org/drawingml/2006/main" noGrp="1"/>
          </p:cNvSpPr>
          <p:nvPr/>
        </p:nvSpPr>
        <p:spPr>
          <a:xfrm xmlns:a="http://schemas.openxmlformats.org/drawingml/2006/main">
            <a:off x="7524750" y="21717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5B642"/>
                </a:solidFill>
              </a:defRPr>
            </a:pPr>
            <a:r>
              <a:rPr sz="1350" b="1">
                <a:solidFill>
                  <a:srgbClr val="F5B642"/>
                </a:solidFill>
              </a:rPr>
              <a:t>IQR</a:t>
            </a:r>
          </a:p>
        </p:txBody>
      </p:sp>
      <p:sp>
        <p:nvSpPr>
          <p:cNvPr id="8" name="">
            <a:extLst xmlns:a="http://schemas.openxmlformats.org/drawingml/2006/main">
              <a:ext uri="{FF2B5EF4-FFF2-40B4-BE49-F238E27FC236}">
                <a16:creationId xmlns:a16="http://schemas.microsoft.com/office/drawing/2014/main" id="{E418D277-25BE-4831-803B-8D22AE514836}"/>
              </a:ext>
            </a:extLst>
          </p:cNvPr>
          <p:cNvSpPr>
            <a:spLocks xmlns:a="http://schemas.openxmlformats.org/drawingml/2006/main" noGrp="1"/>
          </p:cNvSpPr>
          <p:nvPr/>
        </p:nvSpPr>
        <p:spPr>
          <a:xfrm xmlns:a="http://schemas.openxmlformats.org/drawingml/2006/main">
            <a:off x="7524750" y="25717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5F8FB"/>
                </a:solidFill>
              </a:defRPr>
            </a:pPr>
            <a:r>
              <a:rPr sz="2550" b="1">
                <a:solidFill>
                  <a:srgbClr val="F5F8FB"/>
                </a:solidFill>
              </a:rPr>
              <a:t>251 rows</a:t>
            </a:r>
          </a:p>
        </p:txBody>
      </p:sp>
      <p:sp>
        <p:nvSpPr>
          <p:cNvPr id="9" name="">
            <a:extLst xmlns:a="http://schemas.openxmlformats.org/drawingml/2006/main">
              <a:ext uri="{FF2B5EF4-FFF2-40B4-BE49-F238E27FC236}">
                <a16:creationId xmlns:a16="http://schemas.microsoft.com/office/drawing/2014/main" id="{FCF9B81B-423F-4A1C-87A3-E802045C9388}"/>
              </a:ext>
            </a:extLst>
          </p:cNvPr>
          <p:cNvSpPr>
            <a:spLocks xmlns:a="http://schemas.openxmlformats.org/drawingml/2006/main" noGrp="1"/>
          </p:cNvSpPr>
          <p:nvPr/>
        </p:nvSpPr>
        <p:spPr>
          <a:xfrm xmlns:a="http://schemas.openxmlformats.org/drawingml/2006/main">
            <a:off x="7524750" y="3067050"/>
            <a:ext cx="323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EC0CB"/>
                </a:solidFill>
              </a:defRPr>
            </a:pPr>
            <a:r>
              <a:rPr sz="1350" b="0">
                <a:solidFill>
                  <a:srgbClr val="AEC0CB"/>
                </a:solidFill>
              </a:rPr>
              <a:t>Transparent quartile rule</a:t>
            </a:r>
          </a:p>
          <a:p xmlns:a="http://schemas.openxmlformats.org/drawingml/2006/main">
            <a:pPr algn="l">
              <a:defRPr sz="1350" b="0">
                <a:solidFill>
                  <a:srgbClr val="AEC0CB"/>
                </a:solidFill>
              </a:defRPr>
            </a:pPr>
            <a:r>
              <a:rPr sz="1350" b="0">
                <a:solidFill>
                  <a:srgbClr val="AEC0CB"/>
                </a:solidFill>
              </a:rPr>
              <a:t>1.5×IQR threshold</a:t>
            </a:r>
          </a:p>
        </p:txBody>
      </p:sp>
      <p:sp>
        <p:nvSpPr>
          <p:cNvPr id="10" name="">
            <a:extLst xmlns:a="http://schemas.openxmlformats.org/drawingml/2006/main">
              <a:ext uri="{FF2B5EF4-FFF2-40B4-BE49-F238E27FC236}">
                <a16:creationId xmlns:a16="http://schemas.microsoft.com/office/drawing/2014/main" id="{590BD7F9-5FE2-47CC-8018-4FA9B11DD3A0}"/>
              </a:ext>
            </a:extLst>
          </p:cNvPr>
          <p:cNvSpPr>
            <a:spLocks xmlns:a="http://schemas.openxmlformats.org/drawingml/2006/main" noGrp="1"/>
          </p:cNvSpPr>
          <p:nvPr/>
        </p:nvSpPr>
        <p:spPr>
          <a:xfrm xmlns:a="http://schemas.openxmlformats.org/drawingml/2006/main">
            <a:off x="7524750" y="39624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6D0C3"/>
                </a:solidFill>
              </a:defRPr>
            </a:pPr>
            <a:r>
              <a:rPr sz="1350" b="1">
                <a:solidFill>
                  <a:srgbClr val="26D0C3"/>
                </a:solidFill>
              </a:rPr>
              <a:t>Isolation Forest</a:t>
            </a:r>
          </a:p>
        </p:txBody>
      </p:sp>
      <p:sp>
        <p:nvSpPr>
          <p:cNvPr id="11" name="">
            <a:extLst xmlns:a="http://schemas.openxmlformats.org/drawingml/2006/main">
              <a:ext uri="{FF2B5EF4-FFF2-40B4-BE49-F238E27FC236}">
                <a16:creationId xmlns:a16="http://schemas.microsoft.com/office/drawing/2014/main" id="{BF833605-2515-4521-BA2F-4E35E9213AB0}"/>
              </a:ext>
            </a:extLst>
          </p:cNvPr>
          <p:cNvSpPr>
            <a:spLocks xmlns:a="http://schemas.openxmlformats.org/drawingml/2006/main" noGrp="1"/>
          </p:cNvSpPr>
          <p:nvPr/>
        </p:nvSpPr>
        <p:spPr>
          <a:xfrm xmlns:a="http://schemas.openxmlformats.org/drawingml/2006/main">
            <a:off x="7524750" y="43624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5F8FB"/>
                </a:solidFill>
              </a:defRPr>
            </a:pPr>
            <a:r>
              <a:rPr sz="2550" b="1">
                <a:solidFill>
                  <a:srgbClr val="F5F8FB"/>
                </a:solidFill>
              </a:rPr>
              <a:t>100 rows</a:t>
            </a:r>
          </a:p>
        </p:txBody>
      </p:sp>
      <p:sp>
        <p:nvSpPr>
          <p:cNvPr id="12" name="">
            <a:extLst xmlns:a="http://schemas.openxmlformats.org/drawingml/2006/main">
              <a:ext uri="{FF2B5EF4-FFF2-40B4-BE49-F238E27FC236}">
                <a16:creationId xmlns:a16="http://schemas.microsoft.com/office/drawing/2014/main" id="{6DEECA74-5BC7-4DF9-AC45-1EA27BB445E5}"/>
              </a:ext>
            </a:extLst>
          </p:cNvPr>
          <p:cNvSpPr>
            <a:spLocks xmlns:a="http://schemas.openxmlformats.org/drawingml/2006/main" noGrp="1"/>
          </p:cNvSpPr>
          <p:nvPr/>
        </p:nvSpPr>
        <p:spPr>
          <a:xfrm xmlns:a="http://schemas.openxmlformats.org/drawingml/2006/main">
            <a:off x="7524750" y="48577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EC0CB"/>
                </a:solidFill>
              </a:defRPr>
            </a:pPr>
            <a:r>
              <a:rPr sz="1350" b="0">
                <a:solidFill>
                  <a:srgbClr val="AEC0CB"/>
                </a:solidFill>
              </a:rPr>
              <a:t>150 trees · contamination 0.05</a:t>
            </a:r>
          </a:p>
          <a:p xmlns:a="http://schemas.openxmlformats.org/drawingml/2006/main">
            <a:pPr algn="l">
              <a:defRPr sz="1350" b="0">
                <a:solidFill>
                  <a:srgbClr val="AEC0CB"/>
                </a:solidFill>
              </a:defRPr>
            </a:pPr>
            <a:r>
              <a:rPr sz="1350" b="0">
                <a:solidFill>
                  <a:srgbClr val="AEC0CB"/>
                </a:solidFill>
              </a:rPr>
              <a:t>random_state 42</a:t>
            </a:r>
          </a:p>
        </p:txBody>
      </p:sp>
      <p:sp>
        <p:nvSpPr>
          <p:cNvPr id="13" name="">
            <a:extLst xmlns:a="http://schemas.openxmlformats.org/drawingml/2006/main">
              <a:ext uri="{FF2B5EF4-FFF2-40B4-BE49-F238E27FC236}">
                <a16:creationId xmlns:a16="http://schemas.microsoft.com/office/drawing/2014/main" id="{70957183-541D-4182-B61C-68C9F8AF577F}"/>
              </a:ext>
            </a:extLst>
          </p:cNvPr>
          <p:cNvSpPr>
            <a:spLocks xmlns:a="http://schemas.openxmlformats.org/drawingml/2006/main" noGrp="1"/>
          </p:cNvSpPr>
          <p:nvPr/>
        </p:nvSpPr>
        <p:spPr>
          <a:xfrm xmlns:a="http://schemas.openxmlformats.org/drawingml/2006/main">
            <a:off x="7429500" y="56959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68D8FF"/>
                </a:solidFill>
              </a:defRPr>
            </a:pPr>
            <a:r>
              <a:rPr sz="1275" b="1">
                <a:solidFill>
                  <a:srgbClr val="68D8FF"/>
                </a:solidFill>
              </a:rPr>
              <a:t>No labels → no valid confusion matrix or accuracy claim</a:t>
            </a:r>
          </a:p>
        </p:txBody>
      </p:sp>
    </p:spTree>
    <p:extLst>
      <p:ext uri="{BB962C8B-B14F-4D97-AF65-F5344CB8AC3E}">
        <p14:creationId xmlns:p14="http://schemas.microsoft.com/office/powerpoint/2010/main" val="702845376"/>
      </p:ext>
    </p:extLst>
  </p:cSld>
</p:sld>
</file>

<file path=ppt/slides/slide13.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5F5CFD0-CDBA-45F5-82E8-228A0CEA6674}"/>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783A24F2-4424-4774-9369-A38373A1E3A4}"/>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ADVANCED ANALYTICS II</a:t>
            </a:r>
          </a:p>
        </p:txBody>
      </p:sp>
      <p:sp>
        <p:nvSpPr>
          <p:cNvPr id="3" name="title-13">
            <a:extLst xmlns:a="http://schemas.openxmlformats.org/drawingml/2006/main">
              <a:ext uri="{FF2B5EF4-FFF2-40B4-BE49-F238E27FC236}">
                <a16:creationId xmlns:a16="http://schemas.microsoft.com/office/drawing/2014/main" id="{21A8ED1F-1F3A-40B7-9EE4-AE8C3CF15C87}"/>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West creates more value with fewer orders</a:t>
            </a:r>
          </a:p>
        </p:txBody>
      </p:sp>
      <p:sp>
        <p:nvSpPr>
          <p:cNvPr id="4" name="">
            <a:extLst xmlns:a="http://schemas.openxmlformats.org/drawingml/2006/main">
              <a:ext uri="{FF2B5EF4-FFF2-40B4-BE49-F238E27FC236}">
                <a16:creationId xmlns:a16="http://schemas.microsoft.com/office/drawing/2014/main" id="{A31AC32A-DA4E-4B7E-B908-02C0BF425205}"/>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4EC1B98E-8011-4B4A-8BCC-F61A93EF55B8}"/>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13</a:t>
            </a:r>
          </a:p>
        </p:txBody>
      </p:sp>
      <p:graphicFrame>
        <p:nvGraphicFramePr>
          <p:cNvPr id="22" name="Chart"/>
          <p:cNvGraphicFramePr/>
          <p:nvPr/>
        </p:nvGraphicFramePr>
        <p:xfrm>
          <a:off xmlns:a="http://schemas.openxmlformats.org/drawingml/2006/main" x="571500" y="2133600"/>
          <a:ext xmlns:a="http://schemas.openxmlformats.org/drawingml/2006/main" cx="6762750" cy="3524250"/>
        </p:xfrm>
        <a:graphic xmlns:a="http://schemas.openxmlformats.org/drawingml/2006/main">
          <a:graphicData uri="http://schemas.openxmlformats.org/drawingml/2006/chart">
            <c:chart xmlns:r="http://schemas.openxmlformats.org/officeDocument/2006/relationships" xmlns:c="http://schemas.openxmlformats.org/drawingml/2006/chart" r:id="R591886d0f8274cb4"/>
          </a:graphicData>
        </a:graphic>
      </p:graphicFrame>
      <p:sp>
        <p:nvSpPr>
          <p:cNvPr id="7" name="">
            <a:extLst xmlns:a="http://schemas.openxmlformats.org/drawingml/2006/main">
              <a:ext uri="{FF2B5EF4-FFF2-40B4-BE49-F238E27FC236}">
                <a16:creationId xmlns:a16="http://schemas.microsoft.com/office/drawing/2014/main" id="{B6AE645B-3486-435D-AFB7-98CF2479103F}"/>
              </a:ext>
            </a:extLst>
          </p:cNvPr>
          <p:cNvSpPr>
            <a:spLocks xmlns:a="http://schemas.openxmlformats.org/drawingml/2006/main" noGrp="1"/>
          </p:cNvSpPr>
          <p:nvPr/>
        </p:nvSpPr>
        <p:spPr>
          <a:xfrm xmlns:a="http://schemas.openxmlformats.org/drawingml/2006/main">
            <a:off x="7620000" y="22669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26D0C3"/>
                </a:solidFill>
              </a:defRPr>
            </a:pPr>
            <a:r>
              <a:rPr sz="2550" b="1">
                <a:solidFill>
                  <a:srgbClr val="26D0C3"/>
                </a:solidFill>
              </a:rPr>
              <a:t>+15.23%</a:t>
            </a:r>
          </a:p>
        </p:txBody>
      </p:sp>
      <p:sp>
        <p:nvSpPr>
          <p:cNvPr id="8" name="">
            <a:extLst xmlns:a="http://schemas.openxmlformats.org/drawingml/2006/main">
              <a:ext uri="{FF2B5EF4-FFF2-40B4-BE49-F238E27FC236}">
                <a16:creationId xmlns:a16="http://schemas.microsoft.com/office/drawing/2014/main" id="{903ABAFA-E4D5-4FC9-99CF-DC02CC37A107}"/>
              </a:ext>
            </a:extLst>
          </p:cNvPr>
          <p:cNvSpPr>
            <a:spLocks xmlns:a="http://schemas.openxmlformats.org/drawingml/2006/main" noGrp="1"/>
          </p:cNvSpPr>
          <p:nvPr/>
        </p:nvSpPr>
        <p:spPr>
          <a:xfrm xmlns:a="http://schemas.openxmlformats.org/drawingml/2006/main">
            <a:off x="7620000" y="28003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sales</a:t>
            </a:r>
          </a:p>
        </p:txBody>
      </p:sp>
      <p:sp>
        <p:nvSpPr>
          <p:cNvPr id="9" name="">
            <a:extLst xmlns:a="http://schemas.openxmlformats.org/drawingml/2006/main">
              <a:ext uri="{FF2B5EF4-FFF2-40B4-BE49-F238E27FC236}">
                <a16:creationId xmlns:a16="http://schemas.microsoft.com/office/drawing/2014/main" id="{11D4A643-0A27-43D5-87BB-5C63D96E23D9}"/>
              </a:ext>
            </a:extLst>
          </p:cNvPr>
          <p:cNvSpPr>
            <a:spLocks xmlns:a="http://schemas.openxmlformats.org/drawingml/2006/main" noGrp="1"/>
          </p:cNvSpPr>
          <p:nvPr/>
        </p:nvSpPr>
        <p:spPr>
          <a:xfrm xmlns:a="http://schemas.openxmlformats.org/drawingml/2006/main">
            <a:off x="9448800" y="22669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68D8FF"/>
                </a:solidFill>
              </a:defRPr>
            </a:pPr>
            <a:r>
              <a:rPr sz="2550" b="1">
                <a:solidFill>
                  <a:srgbClr val="68D8FF"/>
                </a:solidFill>
              </a:rPr>
              <a:t>+50.39%</a:t>
            </a:r>
          </a:p>
        </p:txBody>
      </p:sp>
      <p:sp>
        <p:nvSpPr>
          <p:cNvPr id="10" name="">
            <a:extLst xmlns:a="http://schemas.openxmlformats.org/drawingml/2006/main">
              <a:ext uri="{FF2B5EF4-FFF2-40B4-BE49-F238E27FC236}">
                <a16:creationId xmlns:a16="http://schemas.microsoft.com/office/drawing/2014/main" id="{BFDBA31E-CDDC-4F22-95D8-A6AEDF910B49}"/>
              </a:ext>
            </a:extLst>
          </p:cNvPr>
          <p:cNvSpPr>
            <a:spLocks xmlns:a="http://schemas.openxmlformats.org/drawingml/2006/main" noGrp="1"/>
          </p:cNvSpPr>
          <p:nvPr/>
        </p:nvSpPr>
        <p:spPr>
          <a:xfrm xmlns:a="http://schemas.openxmlformats.org/drawingml/2006/main">
            <a:off x="9448800" y="28003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profit</a:t>
            </a:r>
          </a:p>
        </p:txBody>
      </p:sp>
      <p:sp>
        <p:nvSpPr>
          <p:cNvPr id="11" name="">
            <a:extLst xmlns:a="http://schemas.openxmlformats.org/drawingml/2006/main">
              <a:ext uri="{FF2B5EF4-FFF2-40B4-BE49-F238E27FC236}">
                <a16:creationId xmlns:a16="http://schemas.microsoft.com/office/drawing/2014/main" id="{44951AD6-4699-4F5F-A6B8-D73CFAF2D9E8}"/>
              </a:ext>
            </a:extLst>
          </p:cNvPr>
          <p:cNvSpPr>
            <a:spLocks xmlns:a="http://schemas.openxmlformats.org/drawingml/2006/main" noGrp="1"/>
          </p:cNvSpPr>
          <p:nvPr/>
        </p:nvSpPr>
        <p:spPr>
          <a:xfrm xmlns:a="http://schemas.openxmlformats.org/drawingml/2006/main">
            <a:off x="7620000" y="35242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F5F8FB"/>
                </a:solidFill>
              </a:defRPr>
            </a:pPr>
            <a:r>
              <a:rPr sz="2550" b="1">
                <a:solidFill>
                  <a:srgbClr val="F5F8FB"/>
                </a:solidFill>
              </a:rPr>
              <a:t>+17.81%</a:t>
            </a:r>
          </a:p>
        </p:txBody>
      </p:sp>
      <p:sp>
        <p:nvSpPr>
          <p:cNvPr id="12" name="">
            <a:extLst xmlns:a="http://schemas.openxmlformats.org/drawingml/2006/main">
              <a:ext uri="{FF2B5EF4-FFF2-40B4-BE49-F238E27FC236}">
                <a16:creationId xmlns:a16="http://schemas.microsoft.com/office/drawing/2014/main" id="{100D77B9-92F7-4518-8BAE-466A0FD0C736}"/>
              </a:ext>
            </a:extLst>
          </p:cNvPr>
          <p:cNvSpPr>
            <a:spLocks xmlns:a="http://schemas.openxmlformats.org/drawingml/2006/main" noGrp="1"/>
          </p:cNvSpPr>
          <p:nvPr/>
        </p:nvSpPr>
        <p:spPr>
          <a:xfrm xmlns:a="http://schemas.openxmlformats.org/drawingml/2006/main">
            <a:off x="7620000" y="40576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AOV</a:t>
            </a:r>
          </a:p>
        </p:txBody>
      </p:sp>
      <p:sp>
        <p:nvSpPr>
          <p:cNvPr id="13" name="">
            <a:extLst xmlns:a="http://schemas.openxmlformats.org/drawingml/2006/main">
              <a:ext uri="{FF2B5EF4-FFF2-40B4-BE49-F238E27FC236}">
                <a16:creationId xmlns:a16="http://schemas.microsoft.com/office/drawing/2014/main" id="{25ADEEBA-2986-4C2C-873A-7FBB641AA908}"/>
              </a:ext>
            </a:extLst>
          </p:cNvPr>
          <p:cNvSpPr>
            <a:spLocks xmlns:a="http://schemas.openxmlformats.org/drawingml/2006/main" noGrp="1"/>
          </p:cNvSpPr>
          <p:nvPr/>
        </p:nvSpPr>
        <p:spPr>
          <a:xfrm xmlns:a="http://schemas.openxmlformats.org/drawingml/2006/main">
            <a:off x="9448800" y="35242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64E4A3"/>
                </a:solidFill>
              </a:defRPr>
            </a:pPr>
            <a:r>
              <a:rPr sz="2550" b="1">
                <a:solidFill>
                  <a:srgbClr val="64E4A3"/>
                </a:solidFill>
              </a:rPr>
              <a:t>+2.45 pp</a:t>
            </a:r>
          </a:p>
        </p:txBody>
      </p:sp>
      <p:sp>
        <p:nvSpPr>
          <p:cNvPr id="14" name="">
            <a:extLst xmlns:a="http://schemas.openxmlformats.org/drawingml/2006/main">
              <a:ext uri="{FF2B5EF4-FFF2-40B4-BE49-F238E27FC236}">
                <a16:creationId xmlns:a16="http://schemas.microsoft.com/office/drawing/2014/main" id="{3A91F91B-AF95-427F-8B9B-FB65CEABCEF3}"/>
              </a:ext>
            </a:extLst>
          </p:cNvPr>
          <p:cNvSpPr>
            <a:spLocks xmlns:a="http://schemas.openxmlformats.org/drawingml/2006/main" noGrp="1"/>
          </p:cNvSpPr>
          <p:nvPr/>
        </p:nvSpPr>
        <p:spPr>
          <a:xfrm xmlns:a="http://schemas.openxmlformats.org/drawingml/2006/main">
            <a:off x="9448800" y="40576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margin</a:t>
            </a:r>
          </a:p>
        </p:txBody>
      </p:sp>
      <p:sp>
        <p:nvSpPr>
          <p:cNvPr id="15" name="">
            <a:extLst xmlns:a="http://schemas.openxmlformats.org/drawingml/2006/main">
              <a:ext uri="{FF2B5EF4-FFF2-40B4-BE49-F238E27FC236}">
                <a16:creationId xmlns:a16="http://schemas.microsoft.com/office/drawing/2014/main" id="{5BDE5B0F-FD5D-43CF-BDED-FD0681332ACD}"/>
              </a:ext>
            </a:extLst>
          </p:cNvPr>
          <p:cNvSpPr>
            <a:spLocks xmlns:a="http://schemas.openxmlformats.org/drawingml/2006/main" noGrp="1"/>
          </p:cNvSpPr>
          <p:nvPr/>
        </p:nvSpPr>
        <p:spPr>
          <a:xfrm xmlns:a="http://schemas.openxmlformats.org/drawingml/2006/main">
            <a:off x="7762875" y="48577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AEC0CB"/>
                </a:solidFill>
              </a:defRPr>
            </a:pPr>
            <a:r>
              <a:rPr sz="1350" b="1">
                <a:solidFill>
                  <a:srgbClr val="AEC0CB"/>
                </a:solidFill>
              </a:rPr>
              <a:t>491 West rows vs 502 East rows</a:t>
            </a:r>
          </a:p>
        </p:txBody>
      </p:sp>
      <p:sp>
        <p:nvSpPr>
          <p:cNvPr id="16" name="">
            <a:extLst xmlns:a="http://schemas.openxmlformats.org/drawingml/2006/main">
              <a:ext uri="{FF2B5EF4-FFF2-40B4-BE49-F238E27FC236}">
                <a16:creationId xmlns:a16="http://schemas.microsoft.com/office/drawing/2014/main" id="{629B7BBD-D22A-40E9-AF9C-1210A3F83E5F}"/>
              </a:ext>
            </a:extLst>
          </p:cNvPr>
          <p:cNvSpPr>
            <a:spLocks xmlns:a="http://schemas.openxmlformats.org/drawingml/2006/main" noGrp="1"/>
          </p:cNvSpPr>
          <p:nvPr/>
        </p:nvSpPr>
        <p:spPr>
          <a:xfrm xmlns:a="http://schemas.openxmlformats.org/drawingml/2006/main">
            <a:off x="7762875" y="5381625"/>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5B642"/>
                </a:solidFill>
              </a:defRPr>
            </a:pPr>
            <a:r>
              <a:rPr sz="1500" b="1">
                <a:solidFill>
                  <a:srgbClr val="F5B642"/>
                </a:solidFill>
              </a:rPr>
              <a:t>Descriptive association — not causation</a:t>
            </a:r>
          </a:p>
        </p:txBody>
      </p:sp>
    </p:spTree>
    <p:extLst>
      <p:ext uri="{BB962C8B-B14F-4D97-AF65-F5344CB8AC3E}">
        <p14:creationId xmlns:p14="http://schemas.microsoft.com/office/powerpoint/2010/main" val="1929685864"/>
      </p:ext>
    </p:extLst>
  </p:cSld>
</p:sld>
</file>

<file path=ppt/slides/slide14.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B3204B3-2F17-438C-9C1E-D7678A271BE8}"/>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327A7EFF-8147-4099-A8D2-AADCA06546B2}"/>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TESTING AND SECURITY</a:t>
            </a:r>
          </a:p>
        </p:txBody>
      </p:sp>
      <p:sp>
        <p:nvSpPr>
          <p:cNvPr id="3" name="title-14">
            <a:extLst xmlns:a="http://schemas.openxmlformats.org/drawingml/2006/main">
              <a:ext uri="{FF2B5EF4-FFF2-40B4-BE49-F238E27FC236}">
                <a16:creationId xmlns:a16="http://schemas.microsoft.com/office/drawing/2014/main" id="{FD911BEC-B90E-4138-9E44-84A2C2BF15CA}"/>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Correctness, resilience, and negative controls were automated</a:t>
            </a:r>
          </a:p>
        </p:txBody>
      </p:sp>
      <p:sp>
        <p:nvSpPr>
          <p:cNvPr id="4" name="">
            <a:extLst xmlns:a="http://schemas.openxmlformats.org/drawingml/2006/main">
              <a:ext uri="{FF2B5EF4-FFF2-40B4-BE49-F238E27FC236}">
                <a16:creationId xmlns:a16="http://schemas.microsoft.com/office/drawing/2014/main" id="{B03CF331-B044-4AA4-B607-0681BFCEAE83}"/>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78E43F9C-8BBA-4FE7-82D8-F740DA619706}"/>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14</a:t>
            </a:r>
          </a:p>
        </p:txBody>
      </p:sp>
      <p:sp>
        <p:nvSpPr>
          <p:cNvPr id="6" name="">
            <a:extLst xmlns:a="http://schemas.openxmlformats.org/drawingml/2006/main">
              <a:ext uri="{FF2B5EF4-FFF2-40B4-BE49-F238E27FC236}">
                <a16:creationId xmlns:a16="http://schemas.microsoft.com/office/drawing/2014/main" id="{243467D5-0406-4CB9-B601-A0B8B5BEA811}"/>
              </a:ext>
            </a:extLst>
          </p:cNvPr>
          <p:cNvSpPr>
            <a:spLocks xmlns:a="http://schemas.openxmlformats.org/drawingml/2006/main" noGrp="1"/>
          </p:cNvSpPr>
          <p:nvPr/>
        </p:nvSpPr>
        <p:spPr>
          <a:xfrm xmlns:a="http://schemas.openxmlformats.org/drawingml/2006/main">
            <a:off x="809625" y="2238375"/>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26D0C3"/>
                </a:solidFill>
              </a:defRPr>
            </a:pPr>
            <a:r>
              <a:rPr sz="3150" b="1">
                <a:solidFill>
                  <a:srgbClr val="26D0C3"/>
                </a:solidFill>
              </a:rPr>
              <a:t>72</a:t>
            </a:r>
          </a:p>
        </p:txBody>
      </p:sp>
      <p:sp>
        <p:nvSpPr>
          <p:cNvPr id="7" name="">
            <a:extLst xmlns:a="http://schemas.openxmlformats.org/drawingml/2006/main">
              <a:ext uri="{FF2B5EF4-FFF2-40B4-BE49-F238E27FC236}">
                <a16:creationId xmlns:a16="http://schemas.microsoft.com/office/drawing/2014/main" id="{0AD2D4CF-CAAF-46FB-80E2-ADC1AA3A95A4}"/>
              </a:ext>
            </a:extLst>
          </p:cNvPr>
          <p:cNvSpPr>
            <a:spLocks xmlns:a="http://schemas.openxmlformats.org/drawingml/2006/main" noGrp="1"/>
          </p:cNvSpPr>
          <p:nvPr/>
        </p:nvSpPr>
        <p:spPr>
          <a:xfrm xmlns:a="http://schemas.openxmlformats.org/drawingml/2006/main">
            <a:off x="809625" y="27813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tests passed</a:t>
            </a:r>
          </a:p>
        </p:txBody>
      </p:sp>
      <p:sp>
        <p:nvSpPr>
          <p:cNvPr id="8" name="">
            <a:extLst xmlns:a="http://schemas.openxmlformats.org/drawingml/2006/main">
              <a:ext uri="{FF2B5EF4-FFF2-40B4-BE49-F238E27FC236}">
                <a16:creationId xmlns:a16="http://schemas.microsoft.com/office/drawing/2014/main" id="{03EFB703-8D19-4C0B-90FC-EBF7202E45F1}"/>
              </a:ext>
            </a:extLst>
          </p:cNvPr>
          <p:cNvSpPr>
            <a:spLocks xmlns:a="http://schemas.openxmlformats.org/drawingml/2006/main" noGrp="1"/>
          </p:cNvSpPr>
          <p:nvPr/>
        </p:nvSpPr>
        <p:spPr>
          <a:xfrm xmlns:a="http://schemas.openxmlformats.org/drawingml/2006/main">
            <a:off x="3333750" y="223837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68D8FF"/>
                </a:solidFill>
              </a:defRPr>
            </a:pPr>
            <a:r>
              <a:rPr sz="3150" b="1">
                <a:solidFill>
                  <a:srgbClr val="68D8FF"/>
                </a:solidFill>
              </a:rPr>
              <a:t>84%</a:t>
            </a:r>
          </a:p>
        </p:txBody>
      </p:sp>
      <p:sp>
        <p:nvSpPr>
          <p:cNvPr id="9" name="">
            <a:extLst xmlns:a="http://schemas.openxmlformats.org/drawingml/2006/main">
              <a:ext uri="{FF2B5EF4-FFF2-40B4-BE49-F238E27FC236}">
                <a16:creationId xmlns:a16="http://schemas.microsoft.com/office/drawing/2014/main" id="{EE6277F5-D45F-4E32-9D14-5D17FE589B5B}"/>
              </a:ext>
            </a:extLst>
          </p:cNvPr>
          <p:cNvSpPr>
            <a:spLocks xmlns:a="http://schemas.openxmlformats.org/drawingml/2006/main" noGrp="1"/>
          </p:cNvSpPr>
          <p:nvPr/>
        </p:nvSpPr>
        <p:spPr>
          <a:xfrm xmlns:a="http://schemas.openxmlformats.org/drawingml/2006/main">
            <a:off x="3333750" y="27813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statement coverage</a:t>
            </a:r>
          </a:p>
        </p:txBody>
      </p:sp>
      <p:sp>
        <p:nvSpPr>
          <p:cNvPr id="10" name="">
            <a:extLst xmlns:a="http://schemas.openxmlformats.org/drawingml/2006/main">
              <a:ext uri="{FF2B5EF4-FFF2-40B4-BE49-F238E27FC236}">
                <a16:creationId xmlns:a16="http://schemas.microsoft.com/office/drawing/2014/main" id="{2D5E9722-3C29-45B2-AC52-B50DDD9C34F0}"/>
              </a:ext>
            </a:extLst>
          </p:cNvPr>
          <p:cNvSpPr>
            <a:spLocks xmlns:a="http://schemas.openxmlformats.org/drawingml/2006/main" noGrp="1"/>
          </p:cNvSpPr>
          <p:nvPr/>
        </p:nvSpPr>
        <p:spPr>
          <a:xfrm xmlns:a="http://schemas.openxmlformats.org/drawingml/2006/main">
            <a:off x="6048375" y="2238375"/>
            <a:ext cx="219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64E4A3"/>
                </a:solidFill>
              </a:defRPr>
            </a:pPr>
            <a:r>
              <a:rPr sz="3150" b="1">
                <a:solidFill>
                  <a:srgbClr val="64E4A3"/>
                </a:solidFill>
              </a:rPr>
              <a:t>0</a:t>
            </a:r>
          </a:p>
        </p:txBody>
      </p:sp>
      <p:sp>
        <p:nvSpPr>
          <p:cNvPr id="11" name="">
            <a:extLst xmlns:a="http://schemas.openxmlformats.org/drawingml/2006/main">
              <a:ext uri="{FF2B5EF4-FFF2-40B4-BE49-F238E27FC236}">
                <a16:creationId xmlns:a16="http://schemas.microsoft.com/office/drawing/2014/main" id="{31A8F6A8-47C7-4483-BD50-0BD846CB0FDB}"/>
              </a:ext>
            </a:extLst>
          </p:cNvPr>
          <p:cNvSpPr>
            <a:spLocks xmlns:a="http://schemas.openxmlformats.org/drawingml/2006/main" noGrp="1"/>
          </p:cNvSpPr>
          <p:nvPr/>
        </p:nvSpPr>
        <p:spPr>
          <a:xfrm xmlns:a="http://schemas.openxmlformats.org/drawingml/2006/main">
            <a:off x="6048375" y="27813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Bandit findings</a:t>
            </a:r>
          </a:p>
        </p:txBody>
      </p:sp>
      <p:sp>
        <p:nvSpPr>
          <p:cNvPr id="12" name="">
            <a:extLst xmlns:a="http://schemas.openxmlformats.org/drawingml/2006/main">
              <a:ext uri="{FF2B5EF4-FFF2-40B4-BE49-F238E27FC236}">
                <a16:creationId xmlns:a16="http://schemas.microsoft.com/office/drawing/2014/main" id="{A69DD75D-E3DE-4E6A-A030-A35025D5BF4B}"/>
              </a:ext>
            </a:extLst>
          </p:cNvPr>
          <p:cNvSpPr>
            <a:spLocks xmlns:a="http://schemas.openxmlformats.org/drawingml/2006/main" noGrp="1"/>
          </p:cNvSpPr>
          <p:nvPr/>
        </p:nvSpPr>
        <p:spPr>
          <a:xfrm xmlns:a="http://schemas.openxmlformats.org/drawingml/2006/main">
            <a:off x="8477250" y="2238375"/>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64E4A3"/>
                </a:solidFill>
              </a:defRPr>
            </a:pPr>
            <a:r>
              <a:rPr sz="3150" b="1">
                <a:solidFill>
                  <a:srgbClr val="64E4A3"/>
                </a:solidFill>
              </a:rPr>
              <a:t>0</a:t>
            </a:r>
          </a:p>
        </p:txBody>
      </p:sp>
      <p:sp>
        <p:nvSpPr>
          <p:cNvPr id="13" name="">
            <a:extLst xmlns:a="http://schemas.openxmlformats.org/drawingml/2006/main">
              <a:ext uri="{FF2B5EF4-FFF2-40B4-BE49-F238E27FC236}">
                <a16:creationId xmlns:a16="http://schemas.microsoft.com/office/drawing/2014/main" id="{565A33E1-56C2-4A29-8D4F-42DA95326963}"/>
              </a:ext>
            </a:extLst>
          </p:cNvPr>
          <p:cNvSpPr>
            <a:spLocks xmlns:a="http://schemas.openxmlformats.org/drawingml/2006/main" noGrp="1"/>
          </p:cNvSpPr>
          <p:nvPr/>
        </p:nvSpPr>
        <p:spPr>
          <a:xfrm xmlns:a="http://schemas.openxmlformats.org/drawingml/2006/main">
            <a:off x="8477250" y="27813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EC0CB"/>
                </a:solidFill>
              </a:defRPr>
            </a:pPr>
            <a:r>
              <a:rPr sz="1200" b="1">
                <a:solidFill>
                  <a:srgbClr val="AEC0CB"/>
                </a:solidFill>
              </a:rPr>
              <a:t>known vulnerabilities</a:t>
            </a:r>
          </a:p>
        </p:txBody>
      </p:sp>
      <p:sp>
        <p:nvSpPr>
          <p:cNvPr id="14" name="">
            <a:extLst xmlns:a="http://schemas.openxmlformats.org/drawingml/2006/main">
              <a:ext uri="{FF2B5EF4-FFF2-40B4-BE49-F238E27FC236}">
                <a16:creationId xmlns:a16="http://schemas.microsoft.com/office/drawing/2014/main" id="{800E30BF-5827-492F-8CCC-5C517D352D04}"/>
              </a:ext>
            </a:extLst>
          </p:cNvPr>
          <p:cNvSpPr>
            <a:spLocks xmlns:a="http://schemas.openxmlformats.org/drawingml/2006/main" noGrp="1"/>
          </p:cNvSpPr>
          <p:nvPr/>
        </p:nvSpPr>
        <p:spPr>
          <a:xfrm xmlns:a="http://schemas.openxmlformats.org/drawingml/2006/main">
            <a:off x="809625" y="3524250"/>
            <a:ext cx="10334625" cy="19050"/>
          </a:xfrm>
          <a:prstGeom xmlns:a="http://schemas.openxmlformats.org/drawingml/2006/main" prst="rect">
            <a:avLst/>
          </a:prstGeom>
          <a:solidFill xmlns:a="http://schemas.openxmlformats.org/drawingml/2006/main">
            <a:srgbClr val="29495B"/>
          </a:solidFill>
          <a:ln xmlns:a="http://schemas.openxmlformats.org/drawingml/2006/main" w="9525">
            <a:solidFill>
              <a:srgbClr val="29495B"/>
            </a:solidFill>
            <a:prstDash val="solid"/>
          </a:ln>
        </p:spPr>
      </p:sp>
      <p:sp>
        <p:nvSpPr>
          <p:cNvPr id="15" name="">
            <a:extLst xmlns:a="http://schemas.openxmlformats.org/drawingml/2006/main">
              <a:ext uri="{FF2B5EF4-FFF2-40B4-BE49-F238E27FC236}">
                <a16:creationId xmlns:a16="http://schemas.microsoft.com/office/drawing/2014/main" id="{8628179D-B05A-46B8-9ED6-759367AE91B3}"/>
              </a:ext>
            </a:extLst>
          </p:cNvPr>
          <p:cNvSpPr>
            <a:spLocks xmlns:a="http://schemas.openxmlformats.org/drawingml/2006/main" noGrp="1"/>
          </p:cNvSpPr>
          <p:nvPr/>
        </p:nvSpPr>
        <p:spPr>
          <a:xfrm xmlns:a="http://schemas.openxmlformats.org/drawingml/2006/main">
            <a:off x="1000125" y="393382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16" name="">
            <a:extLst xmlns:a="http://schemas.openxmlformats.org/drawingml/2006/main">
              <a:ext uri="{FF2B5EF4-FFF2-40B4-BE49-F238E27FC236}">
                <a16:creationId xmlns:a16="http://schemas.microsoft.com/office/drawing/2014/main" id="{7B9DD8A4-5B0E-490D-B521-3195309CF60E}"/>
              </a:ext>
            </a:extLst>
          </p:cNvPr>
          <p:cNvSpPr>
            <a:spLocks xmlns:a="http://schemas.openxmlformats.org/drawingml/2006/main" noGrp="1"/>
          </p:cNvSpPr>
          <p:nvPr/>
        </p:nvSpPr>
        <p:spPr>
          <a:xfrm xmlns:a="http://schemas.openxmlformats.org/drawingml/2006/main">
            <a:off x="1266825" y="3933825"/>
            <a:ext cx="963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Loaders, aliases, cleaning logs, profiling, duplicates, and source immutability</a:t>
            </a:r>
          </a:p>
        </p:txBody>
      </p:sp>
      <p:sp>
        <p:nvSpPr>
          <p:cNvPr id="17" name="">
            <a:extLst xmlns:a="http://schemas.openxmlformats.org/drawingml/2006/main">
              <a:ext uri="{FF2B5EF4-FFF2-40B4-BE49-F238E27FC236}">
                <a16:creationId xmlns:a16="http://schemas.microsoft.com/office/drawing/2014/main" id="{D1F5167A-F622-4787-A284-E9783409A29C}"/>
              </a:ext>
            </a:extLst>
          </p:cNvPr>
          <p:cNvSpPr>
            <a:spLocks xmlns:a="http://schemas.openxmlformats.org/drawingml/2006/main" noGrp="1"/>
          </p:cNvSpPr>
          <p:nvPr/>
        </p:nvSpPr>
        <p:spPr>
          <a:xfrm xmlns:a="http://schemas.openxmlformats.org/drawingml/2006/main">
            <a:off x="1000125" y="43815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18" name="">
            <a:extLst xmlns:a="http://schemas.openxmlformats.org/drawingml/2006/main">
              <a:ext uri="{FF2B5EF4-FFF2-40B4-BE49-F238E27FC236}">
                <a16:creationId xmlns:a16="http://schemas.microsoft.com/office/drawing/2014/main" id="{35616AD0-D832-4009-83B2-811606069ED6}"/>
              </a:ext>
            </a:extLst>
          </p:cNvPr>
          <p:cNvSpPr>
            <a:spLocks xmlns:a="http://schemas.openxmlformats.org/drawingml/2006/main" noGrp="1"/>
          </p:cNvSpPr>
          <p:nvPr/>
        </p:nvSpPr>
        <p:spPr>
          <a:xfrm xmlns:a="http://schemas.openxmlformats.org/drawingml/2006/main">
            <a:off x="1266825" y="4381500"/>
            <a:ext cx="963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Every aggregation/filter mode, empty results, row limits, interruption, and timings</a:t>
            </a:r>
          </a:p>
        </p:txBody>
      </p:sp>
      <p:sp>
        <p:nvSpPr>
          <p:cNvPr id="19" name="">
            <a:extLst xmlns:a="http://schemas.openxmlformats.org/drawingml/2006/main">
              <a:ext uri="{FF2B5EF4-FFF2-40B4-BE49-F238E27FC236}">
                <a16:creationId xmlns:a16="http://schemas.microsoft.com/office/drawing/2014/main" id="{57FF3108-32AC-48F3-A788-0110F9B98AB5}"/>
              </a:ext>
            </a:extLst>
          </p:cNvPr>
          <p:cNvSpPr>
            <a:spLocks xmlns:a="http://schemas.openxmlformats.org/drawingml/2006/main" noGrp="1"/>
          </p:cNvSpPr>
          <p:nvPr/>
        </p:nvSpPr>
        <p:spPr>
          <a:xfrm xmlns:a="http://schemas.openxmlformats.org/drawingml/2006/main">
            <a:off x="1000125" y="482917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20" name="">
            <a:extLst xmlns:a="http://schemas.openxmlformats.org/drawingml/2006/main">
              <a:ext uri="{FF2B5EF4-FFF2-40B4-BE49-F238E27FC236}">
                <a16:creationId xmlns:a16="http://schemas.microsoft.com/office/drawing/2014/main" id="{81CCF2BE-BE24-4942-A195-3F3C027F6DFA}"/>
              </a:ext>
            </a:extLst>
          </p:cNvPr>
          <p:cNvSpPr>
            <a:spLocks xmlns:a="http://schemas.openxmlformats.org/drawingml/2006/main" noGrp="1"/>
          </p:cNvSpPr>
          <p:nvPr/>
        </p:nvSpPr>
        <p:spPr>
          <a:xfrm xmlns:a="http://schemas.openxmlformats.org/drawingml/2006/main">
            <a:off x="1266825" y="4829175"/>
            <a:ext cx="963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DDL/DML, multiple SQL, external scans, imports, dangerous attributes, and injection cells</a:t>
            </a:r>
          </a:p>
        </p:txBody>
      </p:sp>
      <p:sp>
        <p:nvSpPr>
          <p:cNvPr id="21" name="">
            <a:extLst xmlns:a="http://schemas.openxmlformats.org/drawingml/2006/main">
              <a:ext uri="{FF2B5EF4-FFF2-40B4-BE49-F238E27FC236}">
                <a16:creationId xmlns:a16="http://schemas.microsoft.com/office/drawing/2014/main" id="{ACCCF704-CB0A-499B-A3F5-24B356F0A2DF}"/>
              </a:ext>
            </a:extLst>
          </p:cNvPr>
          <p:cNvSpPr>
            <a:spLocks xmlns:a="http://schemas.openxmlformats.org/drawingml/2006/main" noGrp="1"/>
          </p:cNvSpPr>
          <p:nvPr/>
        </p:nvSpPr>
        <p:spPr>
          <a:xfrm xmlns:a="http://schemas.openxmlformats.org/drawingml/2006/main">
            <a:off x="1000125" y="52768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22" name="">
            <a:extLst xmlns:a="http://schemas.openxmlformats.org/drawingml/2006/main">
              <a:ext uri="{FF2B5EF4-FFF2-40B4-BE49-F238E27FC236}">
                <a16:creationId xmlns:a16="http://schemas.microsoft.com/office/drawing/2014/main" id="{9AA7D2B9-41D8-493F-A844-2890414CB350}"/>
              </a:ext>
            </a:extLst>
          </p:cNvPr>
          <p:cNvSpPr>
            <a:spLocks xmlns:a="http://schemas.openxmlformats.org/drawingml/2006/main" noGrp="1"/>
          </p:cNvSpPr>
          <p:nvPr/>
        </p:nvSpPr>
        <p:spPr>
          <a:xfrm xmlns:a="http://schemas.openxmlformats.org/drawingml/2006/main">
            <a:off x="1266825" y="5276850"/>
            <a:ext cx="963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Eight Plotly constructors, advanced edge cases, Word/PDF/PNG/SVG, and Streamlit AppTest</a:t>
            </a:r>
          </a:p>
        </p:txBody>
      </p:sp>
      <p:sp>
        <p:nvSpPr>
          <p:cNvPr id="23" name="">
            <a:extLst xmlns:a="http://schemas.openxmlformats.org/drawingml/2006/main">
              <a:ext uri="{FF2B5EF4-FFF2-40B4-BE49-F238E27FC236}">
                <a16:creationId xmlns:a16="http://schemas.microsoft.com/office/drawing/2014/main" id="{2CE8F693-FCE6-4DAB-BEF5-593F9E3B4F6F}"/>
              </a:ext>
            </a:extLst>
          </p:cNvPr>
          <p:cNvSpPr>
            <a:spLocks xmlns:a="http://schemas.openxmlformats.org/drawingml/2006/main" noGrp="1"/>
          </p:cNvSpPr>
          <p:nvPr/>
        </p:nvSpPr>
        <p:spPr>
          <a:xfrm xmlns:a="http://schemas.openxmlformats.org/drawingml/2006/main">
            <a:off x="1571625" y="5857875"/>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5B642"/>
                </a:solidFill>
              </a:defRPr>
            </a:pPr>
            <a:r>
              <a:rPr sz="1275" b="1">
                <a:solidFill>
                  <a:srgbClr val="F5B642"/>
                </a:solidFill>
              </a:rPr>
              <a:t>Docker runtime build: not run — Docker was unavailable on the test workstation</a:t>
            </a:r>
          </a:p>
        </p:txBody>
      </p:sp>
    </p:spTree>
    <p:extLst>
      <p:ext uri="{BB962C8B-B14F-4D97-AF65-F5344CB8AC3E}">
        <p14:creationId xmlns:p14="http://schemas.microsoft.com/office/powerpoint/2010/main" val="627238142"/>
      </p:ext>
    </p:extLst>
  </p:cSld>
</p:sld>
</file>

<file path=ppt/slides/slide15.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C473D6-9A58-406E-8457-3C7765DF8C77}"/>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58B77E80-1499-4123-8FCC-B53904ABD7D0}"/>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PERFORMANCE EVALUATION</a:t>
            </a:r>
          </a:p>
        </p:txBody>
      </p:sp>
      <p:sp>
        <p:nvSpPr>
          <p:cNvPr id="3" name="title-15">
            <a:extLst xmlns:a="http://schemas.openxmlformats.org/drawingml/2006/main">
              <a:ext uri="{FF2B5EF4-FFF2-40B4-BE49-F238E27FC236}">
                <a16:creationId xmlns:a16="http://schemas.microsoft.com/office/drawing/2014/main" id="{44713C26-32D3-41B5-B4B3-C0800151517E}"/>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Warmed local analytics remains comfortably below the target</a:t>
            </a:r>
          </a:p>
        </p:txBody>
      </p:sp>
      <p:sp>
        <p:nvSpPr>
          <p:cNvPr id="4" name="">
            <a:extLst xmlns:a="http://schemas.openxmlformats.org/drawingml/2006/main">
              <a:ext uri="{FF2B5EF4-FFF2-40B4-BE49-F238E27FC236}">
                <a16:creationId xmlns:a16="http://schemas.microsoft.com/office/drawing/2014/main" id="{07BF1619-E428-4B67-8D2D-9C3B6764CE9B}"/>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423AD9A1-5684-4677-8CD1-538B39AE4104}"/>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15</a:t>
            </a:r>
          </a:p>
        </p:txBody>
      </p:sp>
      <p:graphicFrame>
        <p:nvGraphicFramePr>
          <p:cNvPr id="18" name="Chart"/>
          <p:cNvGraphicFramePr/>
          <p:nvPr/>
        </p:nvGraphicFramePr>
        <p:xfrm>
          <a:off xmlns:a="http://schemas.openxmlformats.org/drawingml/2006/main" x="714375" y="2095500"/>
          <a:ext xmlns:a="http://schemas.openxmlformats.org/drawingml/2006/main" cx="7239000" cy="3524250"/>
        </p:xfrm>
        <a:graphic xmlns:a="http://schemas.openxmlformats.org/drawingml/2006/main">
          <a:graphicData uri="http://schemas.openxmlformats.org/drawingml/2006/chart">
            <c:chart xmlns:r="http://schemas.openxmlformats.org/officeDocument/2006/relationships" xmlns:c="http://schemas.openxmlformats.org/drawingml/2006/chart" r:id="Rf83d7a7799c543e5"/>
          </a:graphicData>
        </a:graphic>
      </p:graphicFrame>
      <p:sp>
        <p:nvSpPr>
          <p:cNvPr id="7" name="">
            <a:extLst xmlns:a="http://schemas.openxmlformats.org/drawingml/2006/main">
              <a:ext uri="{FF2B5EF4-FFF2-40B4-BE49-F238E27FC236}">
                <a16:creationId xmlns:a16="http://schemas.microsoft.com/office/drawing/2014/main" id="{71AF882A-082D-4BDC-A081-46F86B939120}"/>
              </a:ext>
            </a:extLst>
          </p:cNvPr>
          <p:cNvSpPr>
            <a:spLocks xmlns:a="http://schemas.openxmlformats.org/drawingml/2006/main" noGrp="1"/>
          </p:cNvSpPr>
          <p:nvPr/>
        </p:nvSpPr>
        <p:spPr>
          <a:xfrm xmlns:a="http://schemas.openxmlformats.org/drawingml/2006/main">
            <a:off x="8572500" y="24003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450" b="1">
                <a:solidFill>
                  <a:srgbClr val="64E4A3"/>
                </a:solidFill>
              </a:defRPr>
            </a:pPr>
            <a:r>
              <a:rPr sz="3450" b="1">
                <a:solidFill>
                  <a:srgbClr val="64E4A3"/>
                </a:solidFill>
              </a:rPr>
              <a:t>&lt; 500 ms</a:t>
            </a:r>
          </a:p>
        </p:txBody>
      </p:sp>
      <p:sp>
        <p:nvSpPr>
          <p:cNvPr id="8" name="">
            <a:extLst xmlns:a="http://schemas.openxmlformats.org/drawingml/2006/main">
              <a:ext uri="{FF2B5EF4-FFF2-40B4-BE49-F238E27FC236}">
                <a16:creationId xmlns:a16="http://schemas.microsoft.com/office/drawing/2014/main" id="{19ECAF05-8106-4B9E-9821-D8F1429EF86A}"/>
              </a:ext>
            </a:extLst>
          </p:cNvPr>
          <p:cNvSpPr>
            <a:spLocks xmlns:a="http://schemas.openxmlformats.org/drawingml/2006/main" noGrp="1"/>
          </p:cNvSpPr>
          <p:nvPr/>
        </p:nvSpPr>
        <p:spPr>
          <a:xfrm xmlns:a="http://schemas.openxmlformats.org/drawingml/2006/main">
            <a:off x="8572500" y="30480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AEC0CB"/>
                </a:solidFill>
              </a:defRPr>
            </a:pPr>
            <a:r>
              <a:rPr sz="1275" b="1">
                <a:solidFill>
                  <a:srgbClr val="AEC0CB"/>
                </a:solidFill>
              </a:rPr>
              <a:t>official target</a:t>
            </a:r>
          </a:p>
        </p:txBody>
      </p:sp>
      <p:sp>
        <p:nvSpPr>
          <p:cNvPr id="9" name="">
            <a:extLst xmlns:a="http://schemas.openxmlformats.org/drawingml/2006/main">
              <a:ext uri="{FF2B5EF4-FFF2-40B4-BE49-F238E27FC236}">
                <a16:creationId xmlns:a16="http://schemas.microsoft.com/office/drawing/2014/main" id="{85615413-3E4A-419D-8F42-C95A3C4AE2DD}"/>
              </a:ext>
            </a:extLst>
          </p:cNvPr>
          <p:cNvSpPr>
            <a:spLocks xmlns:a="http://schemas.openxmlformats.org/drawingml/2006/main" noGrp="1"/>
          </p:cNvSpPr>
          <p:nvPr/>
        </p:nvSpPr>
        <p:spPr>
          <a:xfrm xmlns:a="http://schemas.openxmlformats.org/drawingml/2006/main">
            <a:off x="8572500" y="37719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26D0C3"/>
                </a:solidFill>
              </a:defRPr>
            </a:pPr>
            <a:r>
              <a:rPr sz="3150" b="1">
                <a:solidFill>
                  <a:srgbClr val="26D0C3"/>
                </a:solidFill>
              </a:rPr>
              <a:t>31–34×</a:t>
            </a:r>
          </a:p>
        </p:txBody>
      </p:sp>
      <p:sp>
        <p:nvSpPr>
          <p:cNvPr id="10" name="">
            <a:extLst xmlns:a="http://schemas.openxmlformats.org/drawingml/2006/main">
              <a:ext uri="{FF2B5EF4-FFF2-40B4-BE49-F238E27FC236}">
                <a16:creationId xmlns:a16="http://schemas.microsoft.com/office/drawing/2014/main" id="{8E9D18A0-FB14-4856-8890-C9E8CCD21338}"/>
              </a:ext>
            </a:extLst>
          </p:cNvPr>
          <p:cNvSpPr>
            <a:spLocks xmlns:a="http://schemas.openxmlformats.org/drawingml/2006/main" noGrp="1"/>
          </p:cNvSpPr>
          <p:nvPr/>
        </p:nvSpPr>
        <p:spPr>
          <a:xfrm xmlns:a="http://schemas.openxmlformats.org/drawingml/2006/main">
            <a:off x="8572500" y="43243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AEC0CB"/>
                </a:solidFill>
              </a:defRPr>
            </a:pPr>
            <a:r>
              <a:rPr sz="1275" b="1">
                <a:solidFill>
                  <a:srgbClr val="AEC0CB"/>
                </a:solidFill>
              </a:rPr>
              <a:t>median headroom</a:t>
            </a:r>
          </a:p>
        </p:txBody>
      </p:sp>
      <p:sp>
        <p:nvSpPr>
          <p:cNvPr id="11" name="">
            <a:extLst xmlns:a="http://schemas.openxmlformats.org/drawingml/2006/main">
              <a:ext uri="{FF2B5EF4-FFF2-40B4-BE49-F238E27FC236}">
                <a16:creationId xmlns:a16="http://schemas.microsoft.com/office/drawing/2014/main" id="{DAD10C84-269B-452A-A1B9-9FE989A9105E}"/>
              </a:ext>
            </a:extLst>
          </p:cNvPr>
          <p:cNvSpPr>
            <a:spLocks xmlns:a="http://schemas.openxmlformats.org/drawingml/2006/main" noGrp="1"/>
          </p:cNvSpPr>
          <p:nvPr/>
        </p:nvSpPr>
        <p:spPr>
          <a:xfrm xmlns:a="http://schemas.openxmlformats.org/drawingml/2006/main">
            <a:off x="8572500" y="4953000"/>
            <a:ext cx="238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F5F8FB"/>
                </a:solidFill>
              </a:defRPr>
            </a:pPr>
            <a:r>
              <a:rPr sz="1350" b="0">
                <a:solidFill>
                  <a:srgbClr val="F5F8FB"/>
                </a:solidFill>
              </a:rPr>
              <a:t>21 measured runs</a:t>
            </a:r>
          </a:p>
          <a:p xmlns:a="http://schemas.openxmlformats.org/drawingml/2006/main">
            <a:pPr algn="ctr">
              <a:defRPr sz="1350" b="0">
                <a:solidFill>
                  <a:srgbClr val="F5F8FB"/>
                </a:solidFill>
              </a:defRPr>
            </a:pPr>
            <a:r>
              <a:rPr sz="1350" b="0">
                <a:solidFill>
                  <a:srgbClr val="F5F8FB"/>
                </a:solidFill>
              </a:rPr>
              <a:t>2,000 rows · 14 columns</a:t>
            </a:r>
          </a:p>
        </p:txBody>
      </p:sp>
      <p:sp>
        <p:nvSpPr>
          <p:cNvPr id="12" name="">
            <a:extLst xmlns:a="http://schemas.openxmlformats.org/drawingml/2006/main">
              <a:ext uri="{FF2B5EF4-FFF2-40B4-BE49-F238E27FC236}">
                <a16:creationId xmlns:a16="http://schemas.microsoft.com/office/drawing/2014/main" id="{D2E7D87F-D80A-4654-9C50-F6207808214C}"/>
              </a:ext>
            </a:extLst>
          </p:cNvPr>
          <p:cNvSpPr>
            <a:spLocks xmlns:a="http://schemas.openxmlformats.org/drawingml/2006/main" noGrp="1"/>
          </p:cNvSpPr>
          <p:nvPr/>
        </p:nvSpPr>
        <p:spPr>
          <a:xfrm xmlns:a="http://schemas.openxmlformats.org/drawingml/2006/main">
            <a:off x="8172450" y="5810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5B642"/>
                </a:solidFill>
              </a:defRPr>
            </a:pPr>
            <a:r>
              <a:rPr sz="1275" b="1">
                <a:solidFill>
                  <a:srgbClr val="F5B642"/>
                </a:solidFill>
              </a:rPr>
              <a:t>Official-dataset pass is not claimed</a:t>
            </a:r>
          </a:p>
        </p:txBody>
      </p:sp>
    </p:spTree>
    <p:extLst>
      <p:ext uri="{BB962C8B-B14F-4D97-AF65-F5344CB8AC3E}">
        <p14:creationId xmlns:p14="http://schemas.microsoft.com/office/powerpoint/2010/main" val="1231951677"/>
      </p:ext>
    </p:extLst>
  </p:cSld>
</p:sld>
</file>

<file path=ppt/slides/slide16.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DEA2616-2E8E-48E6-B9BB-9071AE518135}"/>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57758521-A14A-46B8-836A-339DCEB2CB39}"/>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CRITICAL REFLECTION</a:t>
            </a:r>
          </a:p>
        </p:txBody>
      </p:sp>
      <p:sp>
        <p:nvSpPr>
          <p:cNvPr id="3" name="title-16">
            <a:extLst xmlns:a="http://schemas.openxmlformats.org/drawingml/2006/main">
              <a:ext uri="{FF2B5EF4-FFF2-40B4-BE49-F238E27FC236}">
                <a16:creationId xmlns:a16="http://schemas.microsoft.com/office/drawing/2014/main" id="{EAA151F0-00BF-4785-B98B-A11FE5049257}"/>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The system validates computation — not business truth</a:t>
            </a:r>
          </a:p>
        </p:txBody>
      </p:sp>
      <p:sp>
        <p:nvSpPr>
          <p:cNvPr id="4" name="">
            <a:extLst xmlns:a="http://schemas.openxmlformats.org/drawingml/2006/main">
              <a:ext uri="{FF2B5EF4-FFF2-40B4-BE49-F238E27FC236}">
                <a16:creationId xmlns:a16="http://schemas.microsoft.com/office/drawing/2014/main" id="{75677190-890C-4BF8-A564-438561930601}"/>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50544991-0112-43A5-AC92-F2CF4DA9029F}"/>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16</a:t>
            </a:r>
          </a:p>
        </p:txBody>
      </p:sp>
      <p:sp>
        <p:nvSpPr>
          <p:cNvPr id="6" name="">
            <a:extLst xmlns:a="http://schemas.openxmlformats.org/drawingml/2006/main">
              <a:ext uri="{FF2B5EF4-FFF2-40B4-BE49-F238E27FC236}">
                <a16:creationId xmlns:a16="http://schemas.microsoft.com/office/drawing/2014/main" id="{49D24562-C784-4BCE-9052-8C2A44AEECF0}"/>
              </a:ext>
            </a:extLst>
          </p:cNvPr>
          <p:cNvSpPr>
            <a:spLocks xmlns:a="http://schemas.openxmlformats.org/drawingml/2006/main" noGrp="1"/>
          </p:cNvSpPr>
          <p:nvPr/>
        </p:nvSpPr>
        <p:spPr>
          <a:xfrm xmlns:a="http://schemas.openxmlformats.org/drawingml/2006/main">
            <a:off x="762000" y="20478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6D0C3"/>
                </a:solidFill>
              </a:defRPr>
            </a:pPr>
            <a:r>
              <a:rPr sz="1200" b="1">
                <a:solidFill>
                  <a:srgbClr val="26D0C3"/>
                </a:solidFill>
              </a:rPr>
              <a:t>EVIDENCE</a:t>
            </a:r>
          </a:p>
        </p:txBody>
      </p:sp>
      <p:sp>
        <p:nvSpPr>
          <p:cNvPr id="7" name="">
            <a:extLst xmlns:a="http://schemas.openxmlformats.org/drawingml/2006/main">
              <a:ext uri="{FF2B5EF4-FFF2-40B4-BE49-F238E27FC236}">
                <a16:creationId xmlns:a16="http://schemas.microsoft.com/office/drawing/2014/main" id="{35A5B06C-4CDA-4599-9D0C-7F4CCC80949F}"/>
              </a:ext>
            </a:extLst>
          </p:cNvPr>
          <p:cNvSpPr>
            <a:spLocks xmlns:a="http://schemas.openxmlformats.org/drawingml/2006/main" noGrp="1"/>
          </p:cNvSpPr>
          <p:nvPr/>
        </p:nvSpPr>
        <p:spPr>
          <a:xfrm xmlns:a="http://schemas.openxmlformats.org/drawingml/2006/main">
            <a:off x="762000" y="25717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8" name="">
            <a:extLst xmlns:a="http://schemas.openxmlformats.org/drawingml/2006/main">
              <a:ext uri="{FF2B5EF4-FFF2-40B4-BE49-F238E27FC236}">
                <a16:creationId xmlns:a16="http://schemas.microsoft.com/office/drawing/2014/main" id="{688851BF-5F6D-42C2-946A-29DF2A405216}"/>
              </a:ext>
            </a:extLst>
          </p:cNvPr>
          <p:cNvSpPr>
            <a:spLocks xmlns:a="http://schemas.openxmlformats.org/drawingml/2006/main" noGrp="1"/>
          </p:cNvSpPr>
          <p:nvPr/>
        </p:nvSpPr>
        <p:spPr>
          <a:xfrm xmlns:a="http://schemas.openxmlformats.org/drawingml/2006/main">
            <a:off x="1028700" y="2571750"/>
            <a:ext cx="2590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2,000-row synthetic data</a:t>
            </a:r>
          </a:p>
        </p:txBody>
      </p:sp>
      <p:sp>
        <p:nvSpPr>
          <p:cNvPr id="9" name="">
            <a:extLst xmlns:a="http://schemas.openxmlformats.org/drawingml/2006/main">
              <a:ext uri="{FF2B5EF4-FFF2-40B4-BE49-F238E27FC236}">
                <a16:creationId xmlns:a16="http://schemas.microsoft.com/office/drawing/2014/main" id="{8289088F-70CA-479F-85A8-E43C479BFB78}"/>
              </a:ext>
            </a:extLst>
          </p:cNvPr>
          <p:cNvSpPr>
            <a:spLocks xmlns:a="http://schemas.openxmlformats.org/drawingml/2006/main" noGrp="1"/>
          </p:cNvSpPr>
          <p:nvPr/>
        </p:nvSpPr>
        <p:spPr>
          <a:xfrm xmlns:a="http://schemas.openxmlformats.org/drawingml/2006/main">
            <a:off x="762000" y="317182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10" name="">
            <a:extLst xmlns:a="http://schemas.openxmlformats.org/drawingml/2006/main">
              <a:ext uri="{FF2B5EF4-FFF2-40B4-BE49-F238E27FC236}">
                <a16:creationId xmlns:a16="http://schemas.microsoft.com/office/drawing/2014/main" id="{DC2FA9DD-7099-4265-BE65-765AE370FA64}"/>
              </a:ext>
            </a:extLst>
          </p:cNvPr>
          <p:cNvSpPr>
            <a:spLocks xmlns:a="http://schemas.openxmlformats.org/drawingml/2006/main" noGrp="1"/>
          </p:cNvSpPr>
          <p:nvPr/>
        </p:nvSpPr>
        <p:spPr>
          <a:xfrm xmlns:a="http://schemas.openxmlformats.org/drawingml/2006/main">
            <a:off x="1028700" y="3171825"/>
            <a:ext cx="2590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Live LLM benchmark not run</a:t>
            </a:r>
          </a:p>
        </p:txBody>
      </p:sp>
      <p:sp>
        <p:nvSpPr>
          <p:cNvPr id="11" name="">
            <a:extLst xmlns:a="http://schemas.openxmlformats.org/drawingml/2006/main">
              <a:ext uri="{FF2B5EF4-FFF2-40B4-BE49-F238E27FC236}">
                <a16:creationId xmlns:a16="http://schemas.microsoft.com/office/drawing/2014/main" id="{2E901BC5-F2C8-4477-A1E6-D9B66984E003}"/>
              </a:ext>
            </a:extLst>
          </p:cNvPr>
          <p:cNvSpPr>
            <a:spLocks xmlns:a="http://schemas.openxmlformats.org/drawingml/2006/main" noGrp="1"/>
          </p:cNvSpPr>
          <p:nvPr/>
        </p:nvSpPr>
        <p:spPr>
          <a:xfrm xmlns:a="http://schemas.openxmlformats.org/drawingml/2006/main">
            <a:off x="762000" y="37719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12" name="">
            <a:extLst xmlns:a="http://schemas.openxmlformats.org/drawingml/2006/main">
              <a:ext uri="{FF2B5EF4-FFF2-40B4-BE49-F238E27FC236}">
                <a16:creationId xmlns:a16="http://schemas.microsoft.com/office/drawing/2014/main" id="{E88D8595-C558-42E0-95AE-DFB19EDFDE3A}"/>
              </a:ext>
            </a:extLst>
          </p:cNvPr>
          <p:cNvSpPr>
            <a:spLocks xmlns:a="http://schemas.openxmlformats.org/drawingml/2006/main" noGrp="1"/>
          </p:cNvSpPr>
          <p:nvPr/>
        </p:nvSpPr>
        <p:spPr>
          <a:xfrm xmlns:a="http://schemas.openxmlformats.org/drawingml/2006/main">
            <a:off x="1028700" y="3771900"/>
            <a:ext cx="2590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No labelled anomaly truth</a:t>
            </a:r>
          </a:p>
        </p:txBody>
      </p:sp>
      <p:sp>
        <p:nvSpPr>
          <p:cNvPr id="13" name="">
            <a:extLst xmlns:a="http://schemas.openxmlformats.org/drawingml/2006/main">
              <a:ext uri="{FF2B5EF4-FFF2-40B4-BE49-F238E27FC236}">
                <a16:creationId xmlns:a16="http://schemas.microsoft.com/office/drawing/2014/main" id="{1D1C45C7-56F8-453B-8A64-A46F44445050}"/>
              </a:ext>
            </a:extLst>
          </p:cNvPr>
          <p:cNvSpPr>
            <a:spLocks xmlns:a="http://schemas.openxmlformats.org/drawingml/2006/main" noGrp="1"/>
          </p:cNvSpPr>
          <p:nvPr/>
        </p:nvSpPr>
        <p:spPr>
          <a:xfrm xmlns:a="http://schemas.openxmlformats.org/drawingml/2006/main">
            <a:off x="4429125" y="20478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8D8FF"/>
                </a:solidFill>
              </a:defRPr>
            </a:pPr>
            <a:r>
              <a:rPr sz="1200" b="1">
                <a:solidFill>
                  <a:srgbClr val="68D8FF"/>
                </a:solidFill>
              </a:rPr>
              <a:t>GOVERNANCE</a:t>
            </a:r>
          </a:p>
        </p:txBody>
      </p:sp>
      <p:sp>
        <p:nvSpPr>
          <p:cNvPr id="14" name="">
            <a:extLst xmlns:a="http://schemas.openxmlformats.org/drawingml/2006/main">
              <a:ext uri="{FF2B5EF4-FFF2-40B4-BE49-F238E27FC236}">
                <a16:creationId xmlns:a16="http://schemas.microsoft.com/office/drawing/2014/main" id="{477B82C2-DE5B-4753-AD2C-CA00968E5767}"/>
              </a:ext>
            </a:extLst>
          </p:cNvPr>
          <p:cNvSpPr>
            <a:spLocks xmlns:a="http://schemas.openxmlformats.org/drawingml/2006/main" noGrp="1"/>
          </p:cNvSpPr>
          <p:nvPr/>
        </p:nvSpPr>
        <p:spPr>
          <a:xfrm xmlns:a="http://schemas.openxmlformats.org/drawingml/2006/main">
            <a:off x="4429125" y="25717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15" name="">
            <a:extLst xmlns:a="http://schemas.openxmlformats.org/drawingml/2006/main">
              <a:ext uri="{FF2B5EF4-FFF2-40B4-BE49-F238E27FC236}">
                <a16:creationId xmlns:a16="http://schemas.microsoft.com/office/drawing/2014/main" id="{A5F514A5-1DDE-4766-BE64-66ABDE052520}"/>
              </a:ext>
            </a:extLst>
          </p:cNvPr>
          <p:cNvSpPr>
            <a:spLocks xmlns:a="http://schemas.openxmlformats.org/drawingml/2006/main" noGrp="1"/>
          </p:cNvSpPr>
          <p:nvPr/>
        </p:nvSpPr>
        <p:spPr>
          <a:xfrm xmlns:a="http://schemas.openxmlformats.org/drawingml/2006/main">
            <a:off x="4695825" y="257175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Hosted data terms vary</a:t>
            </a:r>
          </a:p>
        </p:txBody>
      </p:sp>
      <p:sp>
        <p:nvSpPr>
          <p:cNvPr id="16" name="">
            <a:extLst xmlns:a="http://schemas.openxmlformats.org/drawingml/2006/main">
              <a:ext uri="{FF2B5EF4-FFF2-40B4-BE49-F238E27FC236}">
                <a16:creationId xmlns:a16="http://schemas.microsoft.com/office/drawing/2014/main" id="{8FB50ECC-4A84-482C-A2F3-9D990DF1E5CF}"/>
              </a:ext>
            </a:extLst>
          </p:cNvPr>
          <p:cNvSpPr>
            <a:spLocks xmlns:a="http://schemas.openxmlformats.org/drawingml/2006/main" noGrp="1"/>
          </p:cNvSpPr>
          <p:nvPr/>
        </p:nvSpPr>
        <p:spPr>
          <a:xfrm xmlns:a="http://schemas.openxmlformats.org/drawingml/2006/main">
            <a:off x="4429125" y="317182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17" name="">
            <a:extLst xmlns:a="http://schemas.openxmlformats.org/drawingml/2006/main">
              <a:ext uri="{FF2B5EF4-FFF2-40B4-BE49-F238E27FC236}">
                <a16:creationId xmlns:a16="http://schemas.microsoft.com/office/drawing/2014/main" id="{52E681F2-D36B-4AAD-B6D6-527E240CE9B2}"/>
              </a:ext>
            </a:extLst>
          </p:cNvPr>
          <p:cNvSpPr>
            <a:spLocks xmlns:a="http://schemas.openxmlformats.org/drawingml/2006/main" noGrp="1"/>
          </p:cNvSpPr>
          <p:nvPr/>
        </p:nvSpPr>
        <p:spPr>
          <a:xfrm xmlns:a="http://schemas.openxmlformats.org/drawingml/2006/main">
            <a:off x="4695825" y="3171825"/>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Sensitive data needs governed endpoint</a:t>
            </a:r>
          </a:p>
        </p:txBody>
      </p:sp>
      <p:sp>
        <p:nvSpPr>
          <p:cNvPr id="18" name="">
            <a:extLst xmlns:a="http://schemas.openxmlformats.org/drawingml/2006/main">
              <a:ext uri="{FF2B5EF4-FFF2-40B4-BE49-F238E27FC236}">
                <a16:creationId xmlns:a16="http://schemas.microsoft.com/office/drawing/2014/main" id="{430DC44A-02E0-49AF-BAD5-88DE8E86DBA1}"/>
              </a:ext>
            </a:extLst>
          </p:cNvPr>
          <p:cNvSpPr>
            <a:spLocks xmlns:a="http://schemas.openxmlformats.org/drawingml/2006/main" noGrp="1"/>
          </p:cNvSpPr>
          <p:nvPr/>
        </p:nvSpPr>
        <p:spPr>
          <a:xfrm xmlns:a="http://schemas.openxmlformats.org/drawingml/2006/main">
            <a:off x="4429125" y="37719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19" name="">
            <a:extLst xmlns:a="http://schemas.openxmlformats.org/drawingml/2006/main">
              <a:ext uri="{FF2B5EF4-FFF2-40B4-BE49-F238E27FC236}">
                <a16:creationId xmlns:a16="http://schemas.microsoft.com/office/drawing/2014/main" id="{83061156-76D7-4445-9FF0-818E71EEE852}"/>
              </a:ext>
            </a:extLst>
          </p:cNvPr>
          <p:cNvSpPr>
            <a:spLocks xmlns:a="http://schemas.openxmlformats.org/drawingml/2006/main" noGrp="1"/>
          </p:cNvSpPr>
          <p:nvPr/>
        </p:nvSpPr>
        <p:spPr>
          <a:xfrm xmlns:a="http://schemas.openxmlformats.org/drawingml/2006/main">
            <a:off x="4695825" y="377190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Manual accessibility and security audits remain</a:t>
            </a:r>
          </a:p>
        </p:txBody>
      </p:sp>
      <p:sp>
        <p:nvSpPr>
          <p:cNvPr id="20" name="">
            <a:extLst xmlns:a="http://schemas.openxmlformats.org/drawingml/2006/main">
              <a:ext uri="{FF2B5EF4-FFF2-40B4-BE49-F238E27FC236}">
                <a16:creationId xmlns:a16="http://schemas.microsoft.com/office/drawing/2014/main" id="{AD5EA6CD-611A-4F57-9887-5CC56DEF59A4}"/>
              </a:ext>
            </a:extLst>
          </p:cNvPr>
          <p:cNvSpPr>
            <a:spLocks xmlns:a="http://schemas.openxmlformats.org/drawingml/2006/main" noGrp="1"/>
          </p:cNvSpPr>
          <p:nvPr/>
        </p:nvSpPr>
        <p:spPr>
          <a:xfrm xmlns:a="http://schemas.openxmlformats.org/drawingml/2006/main">
            <a:off x="8239125" y="20478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5B642"/>
                </a:solidFill>
              </a:defRPr>
            </a:pPr>
            <a:r>
              <a:rPr sz="1200" b="1">
                <a:solidFill>
                  <a:srgbClr val="F5B642"/>
                </a:solidFill>
              </a:rPr>
              <a:t>INTERPRETATION</a:t>
            </a:r>
          </a:p>
        </p:txBody>
      </p:sp>
      <p:sp>
        <p:nvSpPr>
          <p:cNvPr id="21" name="">
            <a:extLst xmlns:a="http://schemas.openxmlformats.org/drawingml/2006/main">
              <a:ext uri="{FF2B5EF4-FFF2-40B4-BE49-F238E27FC236}">
                <a16:creationId xmlns:a16="http://schemas.microsoft.com/office/drawing/2014/main" id="{AE66B15A-EBC8-4787-9F4C-5294A8B515F2}"/>
              </a:ext>
            </a:extLst>
          </p:cNvPr>
          <p:cNvSpPr>
            <a:spLocks xmlns:a="http://schemas.openxmlformats.org/drawingml/2006/main" noGrp="1"/>
          </p:cNvSpPr>
          <p:nvPr/>
        </p:nvSpPr>
        <p:spPr>
          <a:xfrm xmlns:a="http://schemas.openxmlformats.org/drawingml/2006/main">
            <a:off x="8239125" y="25717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22" name="">
            <a:extLst xmlns:a="http://schemas.openxmlformats.org/drawingml/2006/main">
              <a:ext uri="{FF2B5EF4-FFF2-40B4-BE49-F238E27FC236}">
                <a16:creationId xmlns:a16="http://schemas.microsoft.com/office/drawing/2014/main" id="{5ABC89E0-9655-44C1-A553-2BDB2F6861A9}"/>
              </a:ext>
            </a:extLst>
          </p:cNvPr>
          <p:cNvSpPr>
            <a:spLocks xmlns:a="http://schemas.openxmlformats.org/drawingml/2006/main" noGrp="1"/>
          </p:cNvSpPr>
          <p:nvPr/>
        </p:nvSpPr>
        <p:spPr>
          <a:xfrm xmlns:a="http://schemas.openxmlformats.org/drawingml/2006/main">
            <a:off x="8505825" y="2571750"/>
            <a:ext cx="2686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Anomaly ≠ fraud</a:t>
            </a:r>
          </a:p>
        </p:txBody>
      </p:sp>
      <p:sp>
        <p:nvSpPr>
          <p:cNvPr id="23" name="">
            <a:extLst xmlns:a="http://schemas.openxmlformats.org/drawingml/2006/main">
              <a:ext uri="{FF2B5EF4-FFF2-40B4-BE49-F238E27FC236}">
                <a16:creationId xmlns:a16="http://schemas.microsoft.com/office/drawing/2014/main" id="{719E32D8-68AE-4B0C-8CD3-CDD5F5E40739}"/>
              </a:ext>
            </a:extLst>
          </p:cNvPr>
          <p:cNvSpPr>
            <a:spLocks xmlns:a="http://schemas.openxmlformats.org/drawingml/2006/main" noGrp="1"/>
          </p:cNvSpPr>
          <p:nvPr/>
        </p:nvSpPr>
        <p:spPr>
          <a:xfrm xmlns:a="http://schemas.openxmlformats.org/drawingml/2006/main">
            <a:off x="8239125" y="3171825"/>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24" name="">
            <a:extLst xmlns:a="http://schemas.openxmlformats.org/drawingml/2006/main">
              <a:ext uri="{FF2B5EF4-FFF2-40B4-BE49-F238E27FC236}">
                <a16:creationId xmlns:a16="http://schemas.microsoft.com/office/drawing/2014/main" id="{5C55D9A9-5F3D-4DB3-8D64-F678DBDB3416}"/>
              </a:ext>
            </a:extLst>
          </p:cNvPr>
          <p:cNvSpPr>
            <a:spLocks xmlns:a="http://schemas.openxmlformats.org/drawingml/2006/main" noGrp="1"/>
          </p:cNvSpPr>
          <p:nvPr/>
        </p:nvSpPr>
        <p:spPr>
          <a:xfrm xmlns:a="http://schemas.openxmlformats.org/drawingml/2006/main">
            <a:off x="8505825" y="3171825"/>
            <a:ext cx="2686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Association ≠ causation</a:t>
            </a:r>
          </a:p>
        </p:txBody>
      </p:sp>
      <p:sp>
        <p:nvSpPr>
          <p:cNvPr id="25" name="">
            <a:extLst xmlns:a="http://schemas.openxmlformats.org/drawingml/2006/main">
              <a:ext uri="{FF2B5EF4-FFF2-40B4-BE49-F238E27FC236}">
                <a16:creationId xmlns:a16="http://schemas.microsoft.com/office/drawing/2014/main" id="{6E10050E-01E5-4B80-98BB-0B9CC1014D00}"/>
              </a:ext>
            </a:extLst>
          </p:cNvPr>
          <p:cNvSpPr>
            <a:spLocks xmlns:a="http://schemas.openxmlformats.org/drawingml/2006/main" noGrp="1"/>
          </p:cNvSpPr>
          <p:nvPr/>
        </p:nvSpPr>
        <p:spPr>
          <a:xfrm xmlns:a="http://schemas.openxmlformats.org/drawingml/2006/main">
            <a:off x="8239125" y="377190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26" name="">
            <a:extLst xmlns:a="http://schemas.openxmlformats.org/drawingml/2006/main">
              <a:ext uri="{FF2B5EF4-FFF2-40B4-BE49-F238E27FC236}">
                <a16:creationId xmlns:a16="http://schemas.microsoft.com/office/drawing/2014/main" id="{C82E101F-3BF0-4AF8-A953-1735BB59E098}"/>
              </a:ext>
            </a:extLst>
          </p:cNvPr>
          <p:cNvSpPr>
            <a:spLocks xmlns:a="http://schemas.openxmlformats.org/drawingml/2006/main" noGrp="1"/>
          </p:cNvSpPr>
          <p:nvPr/>
        </p:nvSpPr>
        <p:spPr>
          <a:xfrm xmlns:a="http://schemas.openxmlformats.org/drawingml/2006/main">
            <a:off x="8505825" y="3771900"/>
            <a:ext cx="2686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Users verify material decisions</a:t>
            </a:r>
          </a:p>
        </p:txBody>
      </p:sp>
      <p:sp>
        <p:nvSpPr>
          <p:cNvPr id="27" name="">
            <a:extLst xmlns:a="http://schemas.openxmlformats.org/drawingml/2006/main">
              <a:ext uri="{FF2B5EF4-FFF2-40B4-BE49-F238E27FC236}">
                <a16:creationId xmlns:a16="http://schemas.microsoft.com/office/drawing/2014/main" id="{E9F03B60-9A42-43DC-A7E4-B90C211B13D2}"/>
              </a:ext>
            </a:extLst>
          </p:cNvPr>
          <p:cNvSpPr>
            <a:spLocks xmlns:a="http://schemas.openxmlformats.org/drawingml/2006/main" noGrp="1"/>
          </p:cNvSpPr>
          <p:nvPr/>
        </p:nvSpPr>
        <p:spPr>
          <a:xfrm xmlns:a="http://schemas.openxmlformats.org/drawingml/2006/main">
            <a:off x="762000" y="4762500"/>
            <a:ext cx="10429875" cy="19050"/>
          </a:xfrm>
          <a:prstGeom xmlns:a="http://schemas.openxmlformats.org/drawingml/2006/main" prst="rect">
            <a:avLst/>
          </a:prstGeom>
          <a:solidFill xmlns:a="http://schemas.openxmlformats.org/drawingml/2006/main">
            <a:srgbClr val="29495B"/>
          </a:solidFill>
          <a:ln xmlns:a="http://schemas.openxmlformats.org/drawingml/2006/main" w="9525">
            <a:solidFill>
              <a:srgbClr val="29495B"/>
            </a:solidFill>
            <a:prstDash val="solid"/>
          </a:ln>
        </p:spPr>
      </p:sp>
      <p:sp>
        <p:nvSpPr>
          <p:cNvPr id="28" name="">
            <a:extLst xmlns:a="http://schemas.openxmlformats.org/drawingml/2006/main">
              <a:ext uri="{FF2B5EF4-FFF2-40B4-BE49-F238E27FC236}">
                <a16:creationId xmlns:a16="http://schemas.microsoft.com/office/drawing/2014/main" id="{4F9D8FD8-A3C5-482D-9B17-15A0351C342D}"/>
              </a:ext>
            </a:extLst>
          </p:cNvPr>
          <p:cNvSpPr>
            <a:spLocks xmlns:a="http://schemas.openxmlformats.org/drawingml/2006/main" noGrp="1"/>
          </p:cNvSpPr>
          <p:nvPr/>
        </p:nvSpPr>
        <p:spPr>
          <a:xfrm xmlns:a="http://schemas.openxmlformats.org/drawingml/2006/main">
            <a:off x="762000" y="509587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5F8FB"/>
                </a:solidFill>
              </a:defRPr>
            </a:pPr>
            <a:r>
              <a:rPr sz="1800" b="1">
                <a:solidFill>
                  <a:srgbClr val="F5F8FB"/>
                </a:solidFill>
              </a:rPr>
              <a:t>Responsible AI disclosure</a:t>
            </a:r>
          </a:p>
        </p:txBody>
      </p:sp>
      <p:sp>
        <p:nvSpPr>
          <p:cNvPr id="29" name="">
            <a:extLst xmlns:a="http://schemas.openxmlformats.org/drawingml/2006/main">
              <a:ext uri="{FF2B5EF4-FFF2-40B4-BE49-F238E27FC236}">
                <a16:creationId xmlns:a16="http://schemas.microsoft.com/office/drawing/2014/main" id="{D55BF735-F17E-47DD-A16A-4B48C5EC3B60}"/>
              </a:ext>
            </a:extLst>
          </p:cNvPr>
          <p:cNvSpPr>
            <a:spLocks xmlns:a="http://schemas.openxmlformats.org/drawingml/2006/main" noGrp="1"/>
          </p:cNvSpPr>
          <p:nvPr/>
        </p:nvSpPr>
        <p:spPr>
          <a:xfrm xmlns:a="http://schemas.openxmlformats.org/drawingml/2006/main">
            <a:off x="762000" y="555307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AEC0CB"/>
                </a:solidFill>
              </a:defRPr>
            </a:pPr>
            <a:r>
              <a:rPr sz="1425" b="0">
                <a:solidFill>
                  <a:srgbClr val="AEC0CB"/>
                </a:solidFill>
              </a:rPr>
              <a:t>AI assistance supported scaffolding, implementation, testing, review, and documentation. The author remains responsible for every submitted claim and artefact.</a:t>
            </a:r>
          </a:p>
        </p:txBody>
      </p:sp>
    </p:spTree>
    <p:extLst>
      <p:ext uri="{BB962C8B-B14F-4D97-AF65-F5344CB8AC3E}">
        <p14:creationId xmlns:p14="http://schemas.microsoft.com/office/powerpoint/2010/main" val="1351059257"/>
      </p:ext>
    </p:extLst>
  </p:cSld>
</p:sld>
</file>

<file path=ppt/slides/slide17.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65BE5E8-9DE7-4F5C-8084-BB8A30F7F1A1}"/>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4CD964C5-DCFD-495B-AE11-5927E30641A6}"/>
              </a:ext>
            </a:extLst>
          </p:cNvPr>
          <p:cNvSpPr>
            <a:spLocks xmlns:a="http://schemas.openxmlformats.org/drawingml/2006/main" noGrp="1"/>
          </p:cNvSpPr>
          <p:nvPr/>
        </p:nvSpPr>
        <p:spPr>
          <a:xfrm xmlns:a="http://schemas.openxmlformats.org/drawingml/2006/main">
            <a:off x="60960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6D0C3"/>
                </a:solidFill>
              </a:defRPr>
            </a:pPr>
            <a:r>
              <a:rPr sz="975" b="1">
                <a:solidFill>
                  <a:srgbClr val="26D0C3"/>
                </a:solidFill>
              </a:rPr>
              <a:t>OUTCOME AND ROADMAP</a:t>
            </a:r>
          </a:p>
        </p:txBody>
      </p:sp>
      <p:sp>
        <p:nvSpPr>
          <p:cNvPr id="3" name="title-17">
            <a:extLst xmlns:a="http://schemas.openxmlformats.org/drawingml/2006/main">
              <a:ext uri="{FF2B5EF4-FFF2-40B4-BE49-F238E27FC236}">
                <a16:creationId xmlns:a16="http://schemas.microsoft.com/office/drawing/2014/main" id="{1B00E056-5A28-4870-BF1B-2F37A570B93C}"/>
              </a:ext>
            </a:extLst>
          </p:cNvPr>
          <p:cNvSpPr>
            <a:spLocks xmlns:a="http://schemas.openxmlformats.org/drawingml/2006/main" noGrp="1"/>
          </p:cNvSpPr>
          <p:nvPr/>
        </p:nvSpPr>
        <p:spPr>
          <a:xfrm xmlns:a="http://schemas.openxmlformats.org/drawingml/2006/main">
            <a:off x="609600" y="866775"/>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F5F8FB"/>
                </a:solidFill>
              </a:defRPr>
            </a:pPr>
            <a:r>
              <a:rPr sz="2775" b="1">
                <a:solidFill>
                  <a:srgbClr val="F5F8FB"/>
                </a:solidFill>
              </a:rPr>
              <a:t>A complete local platform — with transparent final gates</a:t>
            </a:r>
          </a:p>
        </p:txBody>
      </p:sp>
      <p:sp>
        <p:nvSpPr>
          <p:cNvPr id="4" name="">
            <a:extLst xmlns:a="http://schemas.openxmlformats.org/drawingml/2006/main">
              <a:ext uri="{FF2B5EF4-FFF2-40B4-BE49-F238E27FC236}">
                <a16:creationId xmlns:a16="http://schemas.microsoft.com/office/drawing/2014/main" id="{CBC5A0EE-C678-4E72-8BEB-389127D2619D}"/>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MSC DATA VISUALIZATION CAPSTONE</a:t>
            </a:r>
          </a:p>
        </p:txBody>
      </p:sp>
      <p:sp>
        <p:nvSpPr>
          <p:cNvPr id="5" name="">
            <a:extLst xmlns:a="http://schemas.openxmlformats.org/drawingml/2006/main">
              <a:ext uri="{FF2B5EF4-FFF2-40B4-BE49-F238E27FC236}">
                <a16:creationId xmlns:a16="http://schemas.microsoft.com/office/drawing/2014/main" id="{8B7A8275-0F8B-41C0-947F-18C1C7A18BFB}"/>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17</a:t>
            </a:r>
          </a:p>
        </p:txBody>
      </p:sp>
      <p:sp>
        <p:nvSpPr>
          <p:cNvPr id="6" name="">
            <a:extLst xmlns:a="http://schemas.openxmlformats.org/drawingml/2006/main">
              <a:ext uri="{FF2B5EF4-FFF2-40B4-BE49-F238E27FC236}">
                <a16:creationId xmlns:a16="http://schemas.microsoft.com/office/drawing/2014/main" id="{D3DC8158-9F39-423E-A5CE-DBD3978113F5}"/>
              </a:ext>
            </a:extLst>
          </p:cNvPr>
          <p:cNvSpPr>
            <a:spLocks xmlns:a="http://schemas.openxmlformats.org/drawingml/2006/main" noGrp="1"/>
          </p:cNvSpPr>
          <p:nvPr/>
        </p:nvSpPr>
        <p:spPr>
          <a:xfrm xmlns:a="http://schemas.openxmlformats.org/drawingml/2006/main">
            <a:off x="742950" y="20193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6D0C3"/>
                </a:solidFill>
              </a:defRPr>
            </a:pPr>
            <a:r>
              <a:rPr sz="1200" b="1">
                <a:solidFill>
                  <a:srgbClr val="26D0C3"/>
                </a:solidFill>
              </a:rPr>
              <a:t>DELIVERED</a:t>
            </a:r>
          </a:p>
        </p:txBody>
      </p:sp>
      <p:sp>
        <p:nvSpPr>
          <p:cNvPr id="7" name="">
            <a:extLst xmlns:a="http://schemas.openxmlformats.org/drawingml/2006/main">
              <a:ext uri="{FF2B5EF4-FFF2-40B4-BE49-F238E27FC236}">
                <a16:creationId xmlns:a16="http://schemas.microsoft.com/office/drawing/2014/main" id="{6467421C-698F-4367-8F4C-99939819508E}"/>
              </a:ext>
            </a:extLst>
          </p:cNvPr>
          <p:cNvSpPr>
            <a:spLocks xmlns:a="http://schemas.openxmlformats.org/drawingml/2006/main" noGrp="1"/>
          </p:cNvSpPr>
          <p:nvPr/>
        </p:nvSpPr>
        <p:spPr>
          <a:xfrm xmlns:a="http://schemas.openxmlformats.org/drawingml/2006/main">
            <a:off x="742950" y="25336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8" name="">
            <a:extLst xmlns:a="http://schemas.openxmlformats.org/drawingml/2006/main">
              <a:ext uri="{FF2B5EF4-FFF2-40B4-BE49-F238E27FC236}">
                <a16:creationId xmlns:a16="http://schemas.microsoft.com/office/drawing/2014/main" id="{2EAC8A70-F506-4A07-990D-C4F78515A947}"/>
              </a:ext>
            </a:extLst>
          </p:cNvPr>
          <p:cNvSpPr>
            <a:spLocks xmlns:a="http://schemas.openxmlformats.org/drawingml/2006/main" noGrp="1"/>
          </p:cNvSpPr>
          <p:nvPr/>
        </p:nvSpPr>
        <p:spPr>
          <a:xfrm xmlns:a="http://schemas.openxmlformats.org/drawingml/2006/main">
            <a:off x="1009650" y="2533650"/>
            <a:ext cx="4495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Multi-format ingestion and reversible cleaning</a:t>
            </a:r>
          </a:p>
        </p:txBody>
      </p:sp>
      <p:sp>
        <p:nvSpPr>
          <p:cNvPr id="9" name="">
            <a:extLst xmlns:a="http://schemas.openxmlformats.org/drawingml/2006/main">
              <a:ext uri="{FF2B5EF4-FFF2-40B4-BE49-F238E27FC236}">
                <a16:creationId xmlns:a16="http://schemas.microsoft.com/office/drawing/2014/main" id="{2F9B30C6-EED1-4D4E-8234-221DFD476C41}"/>
              </a:ext>
            </a:extLst>
          </p:cNvPr>
          <p:cNvSpPr>
            <a:spLocks xmlns:a="http://schemas.openxmlformats.org/drawingml/2006/main" noGrp="1"/>
          </p:cNvSpPr>
          <p:nvPr/>
        </p:nvSpPr>
        <p:spPr>
          <a:xfrm xmlns:a="http://schemas.openxmlformats.org/drawingml/2006/main">
            <a:off x="742950" y="29908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10" name="">
            <a:extLst xmlns:a="http://schemas.openxmlformats.org/drawingml/2006/main">
              <a:ext uri="{FF2B5EF4-FFF2-40B4-BE49-F238E27FC236}">
                <a16:creationId xmlns:a16="http://schemas.microsoft.com/office/drawing/2014/main" id="{CD772AE1-AC74-4830-B1A5-BD85A96A336C}"/>
              </a:ext>
            </a:extLst>
          </p:cNvPr>
          <p:cNvSpPr>
            <a:spLocks xmlns:a="http://schemas.openxmlformats.org/drawingml/2006/main" noGrp="1"/>
          </p:cNvSpPr>
          <p:nvPr/>
        </p:nvSpPr>
        <p:spPr>
          <a:xfrm xmlns:a="http://schemas.openxmlformats.org/drawingml/2006/main">
            <a:off x="1009650" y="2990850"/>
            <a:ext cx="4495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Six responsive application sections</a:t>
            </a:r>
          </a:p>
        </p:txBody>
      </p:sp>
      <p:sp>
        <p:nvSpPr>
          <p:cNvPr id="11" name="">
            <a:extLst xmlns:a="http://schemas.openxmlformats.org/drawingml/2006/main">
              <a:ext uri="{FF2B5EF4-FFF2-40B4-BE49-F238E27FC236}">
                <a16:creationId xmlns:a16="http://schemas.microsoft.com/office/drawing/2014/main" id="{E7E9F97B-E06B-4928-910D-E323ED64CE6A}"/>
              </a:ext>
            </a:extLst>
          </p:cNvPr>
          <p:cNvSpPr>
            <a:spLocks xmlns:a="http://schemas.openxmlformats.org/drawingml/2006/main" noGrp="1"/>
          </p:cNvSpPr>
          <p:nvPr/>
        </p:nvSpPr>
        <p:spPr>
          <a:xfrm xmlns:a="http://schemas.openxmlformats.org/drawingml/2006/main">
            <a:off x="742950" y="34480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12" name="">
            <a:extLst xmlns:a="http://schemas.openxmlformats.org/drawingml/2006/main">
              <a:ext uri="{FF2B5EF4-FFF2-40B4-BE49-F238E27FC236}">
                <a16:creationId xmlns:a16="http://schemas.microsoft.com/office/drawing/2014/main" id="{FD746254-F2A3-4207-A09B-B229E1FCFEAB}"/>
              </a:ext>
            </a:extLst>
          </p:cNvPr>
          <p:cNvSpPr>
            <a:spLocks xmlns:a="http://schemas.openxmlformats.org/drawingml/2006/main" noGrp="1"/>
          </p:cNvSpPr>
          <p:nvPr/>
        </p:nvSpPr>
        <p:spPr>
          <a:xfrm xmlns:a="http://schemas.openxmlformats.org/drawingml/2006/main">
            <a:off x="1009650" y="3448050"/>
            <a:ext cx="4495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Secure offline/hosted AI planning</a:t>
            </a:r>
          </a:p>
        </p:txBody>
      </p:sp>
      <p:sp>
        <p:nvSpPr>
          <p:cNvPr id="13" name="">
            <a:extLst xmlns:a="http://schemas.openxmlformats.org/drawingml/2006/main">
              <a:ext uri="{FF2B5EF4-FFF2-40B4-BE49-F238E27FC236}">
                <a16:creationId xmlns:a16="http://schemas.microsoft.com/office/drawing/2014/main" id="{832CDD35-1063-4CA8-B0F0-5736366F5828}"/>
              </a:ext>
            </a:extLst>
          </p:cNvPr>
          <p:cNvSpPr>
            <a:spLocks xmlns:a="http://schemas.openxmlformats.org/drawingml/2006/main" noGrp="1"/>
          </p:cNvSpPr>
          <p:nvPr/>
        </p:nvSpPr>
        <p:spPr>
          <a:xfrm xmlns:a="http://schemas.openxmlformats.org/drawingml/2006/main">
            <a:off x="742950" y="39052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14" name="">
            <a:extLst xmlns:a="http://schemas.openxmlformats.org/drawingml/2006/main">
              <a:ext uri="{FF2B5EF4-FFF2-40B4-BE49-F238E27FC236}">
                <a16:creationId xmlns:a16="http://schemas.microsoft.com/office/drawing/2014/main" id="{14546A16-DFEE-46C5-9864-9E18914323C4}"/>
              </a:ext>
            </a:extLst>
          </p:cNvPr>
          <p:cNvSpPr>
            <a:spLocks xmlns:a="http://schemas.openxmlformats.org/drawingml/2006/main" noGrp="1"/>
          </p:cNvSpPr>
          <p:nvPr/>
        </p:nvSpPr>
        <p:spPr>
          <a:xfrm xmlns:a="http://schemas.openxmlformats.org/drawingml/2006/main">
            <a:off x="1009650" y="3905250"/>
            <a:ext cx="4495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Eight visualizations + two advanced analyses</a:t>
            </a:r>
          </a:p>
        </p:txBody>
      </p:sp>
      <p:sp>
        <p:nvSpPr>
          <p:cNvPr id="15" name="">
            <a:extLst xmlns:a="http://schemas.openxmlformats.org/drawingml/2006/main">
              <a:ext uri="{FF2B5EF4-FFF2-40B4-BE49-F238E27FC236}">
                <a16:creationId xmlns:a16="http://schemas.microsoft.com/office/drawing/2014/main" id="{C7D32088-FF2D-411D-B7D0-0E5BA4A105D9}"/>
              </a:ext>
            </a:extLst>
          </p:cNvPr>
          <p:cNvSpPr>
            <a:spLocks xmlns:a="http://schemas.openxmlformats.org/drawingml/2006/main" noGrp="1"/>
          </p:cNvSpPr>
          <p:nvPr/>
        </p:nvSpPr>
        <p:spPr>
          <a:xfrm xmlns:a="http://schemas.openxmlformats.org/drawingml/2006/main">
            <a:off x="742950" y="43624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16" name="">
            <a:extLst xmlns:a="http://schemas.openxmlformats.org/drawingml/2006/main">
              <a:ext uri="{FF2B5EF4-FFF2-40B4-BE49-F238E27FC236}">
                <a16:creationId xmlns:a16="http://schemas.microsoft.com/office/drawing/2014/main" id="{A8FACCB2-B1D6-46B9-946D-AC61596CE9A6}"/>
              </a:ext>
            </a:extLst>
          </p:cNvPr>
          <p:cNvSpPr>
            <a:spLocks xmlns:a="http://schemas.openxmlformats.org/drawingml/2006/main" noGrp="1"/>
          </p:cNvSpPr>
          <p:nvPr/>
        </p:nvSpPr>
        <p:spPr>
          <a:xfrm xmlns:a="http://schemas.openxmlformats.org/drawingml/2006/main">
            <a:off x="1009650" y="4362450"/>
            <a:ext cx="4495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Word/PDF/PNG/SVG export</a:t>
            </a:r>
          </a:p>
        </p:txBody>
      </p:sp>
      <p:sp>
        <p:nvSpPr>
          <p:cNvPr id="17" name="">
            <a:extLst xmlns:a="http://schemas.openxmlformats.org/drawingml/2006/main">
              <a:ext uri="{FF2B5EF4-FFF2-40B4-BE49-F238E27FC236}">
                <a16:creationId xmlns:a16="http://schemas.microsoft.com/office/drawing/2014/main" id="{A4BE3601-39A2-4E11-BDBB-B6EF90852874}"/>
              </a:ext>
            </a:extLst>
          </p:cNvPr>
          <p:cNvSpPr>
            <a:spLocks xmlns:a="http://schemas.openxmlformats.org/drawingml/2006/main" noGrp="1"/>
          </p:cNvSpPr>
          <p:nvPr/>
        </p:nvSpPr>
        <p:spPr>
          <a:xfrm xmlns:a="http://schemas.openxmlformats.org/drawingml/2006/main">
            <a:off x="742950" y="48196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18" name="">
            <a:extLst xmlns:a="http://schemas.openxmlformats.org/drawingml/2006/main">
              <a:ext uri="{FF2B5EF4-FFF2-40B4-BE49-F238E27FC236}">
                <a16:creationId xmlns:a16="http://schemas.microsoft.com/office/drawing/2014/main" id="{5601BA05-845F-48F9-B6F9-752CE1971BE5}"/>
              </a:ext>
            </a:extLst>
          </p:cNvPr>
          <p:cNvSpPr>
            <a:spLocks xmlns:a="http://schemas.openxmlformats.org/drawingml/2006/main" noGrp="1"/>
          </p:cNvSpPr>
          <p:nvPr/>
        </p:nvSpPr>
        <p:spPr>
          <a:xfrm xmlns:a="http://schemas.openxmlformats.org/drawingml/2006/main">
            <a:off x="1009650" y="4819650"/>
            <a:ext cx="4495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Tests, CI, Docker, docs, GitHub release</a:t>
            </a:r>
          </a:p>
        </p:txBody>
      </p:sp>
      <p:sp>
        <p:nvSpPr>
          <p:cNvPr id="19" name="">
            <a:extLst xmlns:a="http://schemas.openxmlformats.org/drawingml/2006/main">
              <a:ext uri="{FF2B5EF4-FFF2-40B4-BE49-F238E27FC236}">
                <a16:creationId xmlns:a16="http://schemas.microsoft.com/office/drawing/2014/main" id="{E7FDBF10-30DD-4A8B-BFBB-ACB813A26297}"/>
              </a:ext>
            </a:extLst>
          </p:cNvPr>
          <p:cNvSpPr>
            <a:spLocks xmlns:a="http://schemas.openxmlformats.org/drawingml/2006/main" noGrp="1"/>
          </p:cNvSpPr>
          <p:nvPr/>
        </p:nvSpPr>
        <p:spPr>
          <a:xfrm xmlns:a="http://schemas.openxmlformats.org/drawingml/2006/main">
            <a:off x="5953125" y="2000250"/>
            <a:ext cx="19050" cy="3905250"/>
          </a:xfrm>
          <a:prstGeom xmlns:a="http://schemas.openxmlformats.org/drawingml/2006/main" prst="rect">
            <a:avLst/>
          </a:prstGeom>
          <a:solidFill xmlns:a="http://schemas.openxmlformats.org/drawingml/2006/main">
            <a:srgbClr val="29495B"/>
          </a:solidFill>
          <a:ln xmlns:a="http://schemas.openxmlformats.org/drawingml/2006/main" w="9525">
            <a:solidFill>
              <a:srgbClr val="29495B"/>
            </a:solidFill>
            <a:prstDash val="solid"/>
          </a:ln>
        </p:spPr>
      </p:sp>
      <p:sp>
        <p:nvSpPr>
          <p:cNvPr id="20" name="">
            <a:extLst xmlns:a="http://schemas.openxmlformats.org/drawingml/2006/main">
              <a:ext uri="{FF2B5EF4-FFF2-40B4-BE49-F238E27FC236}">
                <a16:creationId xmlns:a16="http://schemas.microsoft.com/office/drawing/2014/main" id="{26E44769-116A-428C-8C5A-DCA9E7D8CDE4}"/>
              </a:ext>
            </a:extLst>
          </p:cNvPr>
          <p:cNvSpPr>
            <a:spLocks xmlns:a="http://schemas.openxmlformats.org/drawingml/2006/main" noGrp="1"/>
          </p:cNvSpPr>
          <p:nvPr/>
        </p:nvSpPr>
        <p:spPr>
          <a:xfrm xmlns:a="http://schemas.openxmlformats.org/drawingml/2006/main">
            <a:off x="6524625" y="20193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8D8FF"/>
                </a:solidFill>
              </a:defRPr>
            </a:pPr>
            <a:r>
              <a:rPr sz="1200" b="1">
                <a:solidFill>
                  <a:srgbClr val="68D8FF"/>
                </a:solidFill>
              </a:rPr>
              <a:t>NEXT</a:t>
            </a:r>
          </a:p>
        </p:txBody>
      </p:sp>
      <p:sp>
        <p:nvSpPr>
          <p:cNvPr id="21" name="">
            <a:extLst xmlns:a="http://schemas.openxmlformats.org/drawingml/2006/main">
              <a:ext uri="{FF2B5EF4-FFF2-40B4-BE49-F238E27FC236}">
                <a16:creationId xmlns:a16="http://schemas.microsoft.com/office/drawing/2014/main" id="{92526553-B234-4FE5-917B-EA14C0EE8963}"/>
              </a:ext>
            </a:extLst>
          </p:cNvPr>
          <p:cNvSpPr>
            <a:spLocks xmlns:a="http://schemas.openxmlformats.org/drawingml/2006/main" noGrp="1"/>
          </p:cNvSpPr>
          <p:nvPr/>
        </p:nvSpPr>
        <p:spPr>
          <a:xfrm xmlns:a="http://schemas.openxmlformats.org/drawingml/2006/main">
            <a:off x="6524625" y="25336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22" name="">
            <a:extLst xmlns:a="http://schemas.openxmlformats.org/drawingml/2006/main">
              <a:ext uri="{FF2B5EF4-FFF2-40B4-BE49-F238E27FC236}">
                <a16:creationId xmlns:a16="http://schemas.microsoft.com/office/drawing/2014/main" id="{B20C4C09-7038-4C44-80A3-0998CD120ED4}"/>
              </a:ext>
            </a:extLst>
          </p:cNvPr>
          <p:cNvSpPr>
            <a:spLocks xmlns:a="http://schemas.openxmlformats.org/drawingml/2006/main" noGrp="1"/>
          </p:cNvSpPr>
          <p:nvPr/>
        </p:nvSpPr>
        <p:spPr>
          <a:xfrm xmlns:a="http://schemas.openxmlformats.org/drawingml/2006/main">
            <a:off x="6791325" y="2533650"/>
            <a:ext cx="4352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Load approved 5,000+ row dataset</a:t>
            </a:r>
          </a:p>
        </p:txBody>
      </p:sp>
      <p:sp>
        <p:nvSpPr>
          <p:cNvPr id="23" name="">
            <a:extLst xmlns:a="http://schemas.openxmlformats.org/drawingml/2006/main">
              <a:ext uri="{FF2B5EF4-FFF2-40B4-BE49-F238E27FC236}">
                <a16:creationId xmlns:a16="http://schemas.microsoft.com/office/drawing/2014/main" id="{2AC91BD0-824B-45A7-BE06-A7103BEBB4C9}"/>
              </a:ext>
            </a:extLst>
          </p:cNvPr>
          <p:cNvSpPr>
            <a:spLocks xmlns:a="http://schemas.openxmlformats.org/drawingml/2006/main" noGrp="1"/>
          </p:cNvSpPr>
          <p:nvPr/>
        </p:nvSpPr>
        <p:spPr>
          <a:xfrm xmlns:a="http://schemas.openxmlformats.org/drawingml/2006/main">
            <a:off x="6524625" y="29908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24" name="">
            <a:extLst xmlns:a="http://schemas.openxmlformats.org/drawingml/2006/main">
              <a:ext uri="{FF2B5EF4-FFF2-40B4-BE49-F238E27FC236}">
                <a16:creationId xmlns:a16="http://schemas.microsoft.com/office/drawing/2014/main" id="{7B122582-C4E2-4588-A964-BF4A68BBD942}"/>
              </a:ext>
            </a:extLst>
          </p:cNvPr>
          <p:cNvSpPr>
            <a:spLocks xmlns:a="http://schemas.openxmlformats.org/drawingml/2006/main" noGrp="1"/>
          </p:cNvSpPr>
          <p:nvPr/>
        </p:nvSpPr>
        <p:spPr>
          <a:xfrm xmlns:a="http://schemas.openxmlformats.org/drawingml/2006/main">
            <a:off x="6791325" y="2990850"/>
            <a:ext cx="4352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Run live-provider benchmark and telemetry</a:t>
            </a:r>
          </a:p>
        </p:txBody>
      </p:sp>
      <p:sp>
        <p:nvSpPr>
          <p:cNvPr id="25" name="">
            <a:extLst xmlns:a="http://schemas.openxmlformats.org/drawingml/2006/main">
              <a:ext uri="{FF2B5EF4-FFF2-40B4-BE49-F238E27FC236}">
                <a16:creationId xmlns:a16="http://schemas.microsoft.com/office/drawing/2014/main" id="{A668FB29-DA07-4504-BD29-B005F78DABDD}"/>
              </a:ext>
            </a:extLst>
          </p:cNvPr>
          <p:cNvSpPr>
            <a:spLocks xmlns:a="http://schemas.openxmlformats.org/drawingml/2006/main" noGrp="1"/>
          </p:cNvSpPr>
          <p:nvPr/>
        </p:nvSpPr>
        <p:spPr>
          <a:xfrm xmlns:a="http://schemas.openxmlformats.org/drawingml/2006/main">
            <a:off x="6524625" y="34480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26" name="">
            <a:extLst xmlns:a="http://schemas.openxmlformats.org/drawingml/2006/main">
              <a:ext uri="{FF2B5EF4-FFF2-40B4-BE49-F238E27FC236}">
                <a16:creationId xmlns:a16="http://schemas.microsoft.com/office/drawing/2014/main" id="{9F361DAB-1FB1-4642-B992-72AFFAA002D3}"/>
              </a:ext>
            </a:extLst>
          </p:cNvPr>
          <p:cNvSpPr>
            <a:spLocks xmlns:a="http://schemas.openxmlformats.org/drawingml/2006/main" noGrp="1"/>
          </p:cNvSpPr>
          <p:nvPr/>
        </p:nvSpPr>
        <p:spPr>
          <a:xfrm xmlns:a="http://schemas.openxmlformats.org/drawingml/2006/main">
            <a:off x="6791325" y="3448050"/>
            <a:ext cx="4352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Add governed auth, storage, and audit events</a:t>
            </a:r>
          </a:p>
        </p:txBody>
      </p:sp>
      <p:sp>
        <p:nvSpPr>
          <p:cNvPr id="27" name="">
            <a:extLst xmlns:a="http://schemas.openxmlformats.org/drawingml/2006/main">
              <a:ext uri="{FF2B5EF4-FFF2-40B4-BE49-F238E27FC236}">
                <a16:creationId xmlns:a16="http://schemas.microsoft.com/office/drawing/2014/main" id="{8ADD106A-8625-4455-BAB3-A5A14B39C2D6}"/>
              </a:ext>
            </a:extLst>
          </p:cNvPr>
          <p:cNvSpPr>
            <a:spLocks xmlns:a="http://schemas.openxmlformats.org/drawingml/2006/main" noGrp="1"/>
          </p:cNvSpPr>
          <p:nvPr/>
        </p:nvSpPr>
        <p:spPr>
          <a:xfrm xmlns:a="http://schemas.openxmlformats.org/drawingml/2006/main">
            <a:off x="6524625" y="39052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28" name="">
            <a:extLst xmlns:a="http://schemas.openxmlformats.org/drawingml/2006/main">
              <a:ext uri="{FF2B5EF4-FFF2-40B4-BE49-F238E27FC236}">
                <a16:creationId xmlns:a16="http://schemas.microsoft.com/office/drawing/2014/main" id="{3C4CC8BA-201D-4D46-8F2D-F3511BCA08B9}"/>
              </a:ext>
            </a:extLst>
          </p:cNvPr>
          <p:cNvSpPr>
            <a:spLocks xmlns:a="http://schemas.openxmlformats.org/drawingml/2006/main" noGrp="1"/>
          </p:cNvSpPr>
          <p:nvPr/>
        </p:nvSpPr>
        <p:spPr>
          <a:xfrm xmlns:a="http://schemas.openxmlformats.org/drawingml/2006/main">
            <a:off x="6791325" y="3905250"/>
            <a:ext cx="4352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Extend to multivariate/seasonal anomalies</a:t>
            </a:r>
          </a:p>
        </p:txBody>
      </p:sp>
      <p:sp>
        <p:nvSpPr>
          <p:cNvPr id="29" name="">
            <a:extLst xmlns:a="http://schemas.openxmlformats.org/drawingml/2006/main">
              <a:ext uri="{FF2B5EF4-FFF2-40B4-BE49-F238E27FC236}">
                <a16:creationId xmlns:a16="http://schemas.microsoft.com/office/drawing/2014/main" id="{BEA34B1F-06B2-4016-BF2C-C8A936D5E10F}"/>
              </a:ext>
            </a:extLst>
          </p:cNvPr>
          <p:cNvSpPr>
            <a:spLocks xmlns:a="http://schemas.openxmlformats.org/drawingml/2006/main" noGrp="1"/>
          </p:cNvSpPr>
          <p:nvPr/>
        </p:nvSpPr>
        <p:spPr>
          <a:xfrm xmlns:a="http://schemas.openxmlformats.org/drawingml/2006/main">
            <a:off x="6524625" y="43624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30" name="">
            <a:extLst xmlns:a="http://schemas.openxmlformats.org/drawingml/2006/main">
              <a:ext uri="{FF2B5EF4-FFF2-40B4-BE49-F238E27FC236}">
                <a16:creationId xmlns:a16="http://schemas.microsoft.com/office/drawing/2014/main" id="{94C32840-7CBD-4C3B-B32E-F15135337E94}"/>
              </a:ext>
            </a:extLst>
          </p:cNvPr>
          <p:cNvSpPr>
            <a:spLocks xmlns:a="http://schemas.openxmlformats.org/drawingml/2006/main" noGrp="1"/>
          </p:cNvSpPr>
          <p:nvPr/>
        </p:nvSpPr>
        <p:spPr>
          <a:xfrm xmlns:a="http://schemas.openxmlformats.org/drawingml/2006/main">
            <a:off x="6791325" y="4362450"/>
            <a:ext cx="4352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Conduct WCAG 2.2 and user study</a:t>
            </a:r>
          </a:p>
        </p:txBody>
      </p:sp>
      <p:sp>
        <p:nvSpPr>
          <p:cNvPr id="31" name="">
            <a:extLst xmlns:a="http://schemas.openxmlformats.org/drawingml/2006/main">
              <a:ext uri="{FF2B5EF4-FFF2-40B4-BE49-F238E27FC236}">
                <a16:creationId xmlns:a16="http://schemas.microsoft.com/office/drawing/2014/main" id="{1643DE09-C3AF-4DFE-8A61-35BAE3DB94F9}"/>
              </a:ext>
            </a:extLst>
          </p:cNvPr>
          <p:cNvSpPr>
            <a:spLocks xmlns:a="http://schemas.openxmlformats.org/drawingml/2006/main" noGrp="1"/>
          </p:cNvSpPr>
          <p:nvPr/>
        </p:nvSpPr>
        <p:spPr>
          <a:xfrm xmlns:a="http://schemas.openxmlformats.org/drawingml/2006/main">
            <a:off x="6524625" y="48196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6D0C3"/>
                </a:solidFill>
              </a:defRPr>
            </a:pPr>
            <a:r>
              <a:rPr sz="1500" b="1">
                <a:solidFill>
                  <a:srgbClr val="26D0C3"/>
                </a:solidFill>
              </a:rPr>
              <a:t>•</a:t>
            </a:r>
          </a:p>
        </p:txBody>
      </p:sp>
      <p:sp>
        <p:nvSpPr>
          <p:cNvPr id="32" name="">
            <a:extLst xmlns:a="http://schemas.openxmlformats.org/drawingml/2006/main">
              <a:ext uri="{FF2B5EF4-FFF2-40B4-BE49-F238E27FC236}">
                <a16:creationId xmlns:a16="http://schemas.microsoft.com/office/drawing/2014/main" id="{C6FEC024-D271-40A7-92CC-7E6C94D1AFE2}"/>
              </a:ext>
            </a:extLst>
          </p:cNvPr>
          <p:cNvSpPr>
            <a:spLocks xmlns:a="http://schemas.openxmlformats.org/drawingml/2006/main" noGrp="1"/>
          </p:cNvSpPr>
          <p:nvPr/>
        </p:nvSpPr>
        <p:spPr>
          <a:xfrm xmlns:a="http://schemas.openxmlformats.org/drawingml/2006/main">
            <a:off x="6791325" y="4819650"/>
            <a:ext cx="4352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5F8FB"/>
                </a:solidFill>
              </a:defRPr>
            </a:pPr>
            <a:r>
              <a:rPr sz="1350" b="0">
                <a:solidFill>
                  <a:srgbClr val="F5F8FB"/>
                </a:solidFill>
              </a:rPr>
              <a:t>Deploy with observability and recovery</a:t>
            </a:r>
          </a:p>
        </p:txBody>
      </p:sp>
      <p:sp>
        <p:nvSpPr>
          <p:cNvPr id="33" name="">
            <a:extLst xmlns:a="http://schemas.openxmlformats.org/drawingml/2006/main">
              <a:ext uri="{FF2B5EF4-FFF2-40B4-BE49-F238E27FC236}">
                <a16:creationId xmlns:a16="http://schemas.microsoft.com/office/drawing/2014/main" id="{6BBF8D49-6020-4620-B15D-B74D3868278D}"/>
              </a:ext>
            </a:extLst>
          </p:cNvPr>
          <p:cNvSpPr>
            <a:spLocks xmlns:a="http://schemas.openxmlformats.org/drawingml/2006/main" noGrp="1"/>
          </p:cNvSpPr>
          <p:nvPr/>
        </p:nvSpPr>
        <p:spPr>
          <a:xfrm xmlns:a="http://schemas.openxmlformats.org/drawingml/2006/main">
            <a:off x="8763000" y="5943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26D0C3"/>
                </a:solidFill>
              </a:defRPr>
            </a:pPr>
            <a:r>
              <a:rPr sz="1350" b="1">
                <a:solidFill>
                  <a:srgbClr val="26D0C3"/>
                </a:solidFill>
              </a:rPr>
              <a:t>Release v1.4.0</a:t>
            </a:r>
          </a:p>
        </p:txBody>
      </p:sp>
    </p:spTree>
    <p:extLst>
      <p:ext uri="{BB962C8B-B14F-4D97-AF65-F5344CB8AC3E}">
        <p14:creationId xmlns:p14="http://schemas.microsoft.com/office/powerpoint/2010/main" val="1235498013"/>
      </p:ext>
    </p:extLst>
  </p:cSld>
</p:sld>
</file>

<file path=ppt/slides/slide18.xml><?xml version="1.0" encoding="utf-8"?>
<p:sld xmlns:p="http://schemas.openxmlformats.org/presentationml/2006/main">
  <p:cSld>
    <p:bg>
      <p:bgPr>
        <a:solidFill xmlns:a="http://schemas.openxmlformats.org/drawingml/2006/main">
          <a:srgbClr val="0613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B900CFD-FE75-4356-847C-AAF48FDB6A16}"/>
              </a:ext>
            </a:extLst>
          </p:cNvPr>
          <p:cNvSpPr>
            <a:spLocks xmlns:a="http://schemas.openxmlformats.org/drawingml/2006/main" noGrp="1"/>
          </p:cNvSpPr>
          <p:nvPr/>
        </p:nvSpPr>
        <p:spPr>
          <a:xfrm xmlns:a="http://schemas.openxmlformats.org/drawingml/2006/main">
            <a:off x="609600" y="400050"/>
            <a:ext cx="10972800" cy="28575"/>
          </a:xfrm>
          <a:prstGeom xmlns:a="http://schemas.openxmlformats.org/drawingml/2006/main" prst="rect">
            <a:avLst/>
          </a:prstGeom>
          <a:solidFill xmlns:a="http://schemas.openxmlformats.org/drawingml/2006/main">
            <a:srgbClr val="26D0C3"/>
          </a:solidFill>
          <a:ln xmlns:a="http://schemas.openxmlformats.org/drawingml/2006/main" w="9525">
            <a:solidFill>
              <a:srgbClr val="26D0C3"/>
            </a:solidFill>
            <a:prstDash val="solid"/>
          </a:ln>
        </p:spPr>
      </p:sp>
      <p:sp>
        <p:nvSpPr>
          <p:cNvPr id="2" name="">
            <a:extLst xmlns:a="http://schemas.openxmlformats.org/drawingml/2006/main">
              <a:ext uri="{FF2B5EF4-FFF2-40B4-BE49-F238E27FC236}">
                <a16:creationId xmlns:a16="http://schemas.microsoft.com/office/drawing/2014/main" id="{8027CB7A-8F97-424A-8E26-82B63EA71FA7}"/>
              </a:ext>
            </a:extLst>
          </p:cNvPr>
          <p:cNvSpPr>
            <a:spLocks xmlns:a="http://schemas.openxmlformats.org/drawingml/2006/main" noGrp="1"/>
          </p:cNvSpPr>
          <p:nvPr/>
        </p:nvSpPr>
        <p:spPr>
          <a:xfrm xmlns:a="http://schemas.openxmlformats.org/drawingml/2006/main">
            <a:off x="685800" y="8763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6D0C3"/>
                </a:solidFill>
              </a:defRPr>
            </a:pPr>
            <a:r>
              <a:rPr sz="1125" b="1">
                <a:solidFill>
                  <a:srgbClr val="26D0C3"/>
                </a:solidFill>
              </a:rPr>
              <a:t>CONCLUSION</a:t>
            </a:r>
          </a:p>
        </p:txBody>
      </p:sp>
      <p:sp>
        <p:nvSpPr>
          <p:cNvPr id="3" name="">
            <a:extLst xmlns:a="http://schemas.openxmlformats.org/drawingml/2006/main">
              <a:ext uri="{FF2B5EF4-FFF2-40B4-BE49-F238E27FC236}">
                <a16:creationId xmlns:a16="http://schemas.microsoft.com/office/drawing/2014/main" id="{718B2F95-8321-4023-9C22-58E0C11FD8E1}"/>
              </a:ext>
            </a:extLst>
          </p:cNvPr>
          <p:cNvSpPr>
            <a:spLocks xmlns:a="http://schemas.openxmlformats.org/drawingml/2006/main" noGrp="1"/>
          </p:cNvSpPr>
          <p:nvPr/>
        </p:nvSpPr>
        <p:spPr>
          <a:xfrm xmlns:a="http://schemas.openxmlformats.org/drawingml/2006/main">
            <a:off x="685800" y="1457325"/>
            <a:ext cx="6667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F5F8FB"/>
                </a:solidFill>
              </a:defRPr>
            </a:pPr>
            <a:r>
              <a:rPr sz="3900" b="1">
                <a:solidFill>
                  <a:srgbClr val="F5F8FB"/>
                </a:solidFill>
              </a:rPr>
              <a:t>Flexible questions.</a:t>
            </a:r>
          </a:p>
          <a:p xmlns:a="http://schemas.openxmlformats.org/drawingml/2006/main">
            <a:pPr algn="l">
              <a:defRPr sz="3900" b="1">
                <a:solidFill>
                  <a:srgbClr val="F5F8FB"/>
                </a:solidFill>
              </a:defRPr>
            </a:pPr>
            <a:r>
              <a:rPr sz="3900" b="1">
                <a:solidFill>
                  <a:srgbClr val="F5F8FB"/>
                </a:solidFill>
              </a:rPr>
              <a:t>Controlled computation.</a:t>
            </a:r>
          </a:p>
          <a:p xmlns:a="http://schemas.openxmlformats.org/drawingml/2006/main">
            <a:pPr algn="l">
              <a:defRPr sz="3900" b="1">
                <a:solidFill>
                  <a:srgbClr val="F5F8FB"/>
                </a:solidFill>
              </a:defRPr>
            </a:pPr>
            <a:r>
              <a:rPr sz="3900" b="1">
                <a:solidFill>
                  <a:srgbClr val="F5F8FB"/>
                </a:solidFill>
              </a:rPr>
              <a:t>Visible evidence.</a:t>
            </a:r>
          </a:p>
        </p:txBody>
      </p:sp>
      <p:sp>
        <p:nvSpPr>
          <p:cNvPr id="4" name="">
            <a:extLst xmlns:a="http://schemas.openxmlformats.org/drawingml/2006/main">
              <a:ext uri="{FF2B5EF4-FFF2-40B4-BE49-F238E27FC236}">
                <a16:creationId xmlns:a16="http://schemas.microsoft.com/office/drawing/2014/main" id="{7663E32C-0295-4A2B-A1D1-72EA7C73464E}"/>
              </a:ext>
            </a:extLst>
          </p:cNvPr>
          <p:cNvSpPr>
            <a:spLocks xmlns:a="http://schemas.openxmlformats.org/drawingml/2006/main" noGrp="1"/>
          </p:cNvSpPr>
          <p:nvPr/>
        </p:nvSpPr>
        <p:spPr>
          <a:xfrm xmlns:a="http://schemas.openxmlformats.org/drawingml/2006/main">
            <a:off x="723900" y="3905250"/>
            <a:ext cx="685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EC0CB"/>
                </a:solidFill>
              </a:defRPr>
            </a:pPr>
            <a:r>
              <a:rPr sz="1800" b="0">
                <a:solidFill>
                  <a:srgbClr val="AEC0CB"/>
                </a:solidFill>
              </a:rPr>
              <a:t>The AI proposes a plan. The platform decides what is safe, computes the result, and shows the evidence.</a:t>
            </a:r>
          </a:p>
        </p:txBody>
      </p:sp>
      <p:sp>
        <p:nvSpPr>
          <p:cNvPr id="5" name="">
            <a:extLst xmlns:a="http://schemas.openxmlformats.org/drawingml/2006/main">
              <a:ext uri="{FF2B5EF4-FFF2-40B4-BE49-F238E27FC236}">
                <a16:creationId xmlns:a16="http://schemas.microsoft.com/office/drawing/2014/main" id="{D36F4357-02BD-4F89-AE44-692006478D4B}"/>
              </a:ext>
            </a:extLst>
          </p:cNvPr>
          <p:cNvSpPr>
            <a:spLocks xmlns:a="http://schemas.openxmlformats.org/drawingml/2006/main" noGrp="1"/>
          </p:cNvSpPr>
          <p:nvPr/>
        </p:nvSpPr>
        <p:spPr>
          <a:xfrm xmlns:a="http://schemas.openxmlformats.org/drawingml/2006/main">
            <a:off x="8143875" y="1190625"/>
            <a:ext cx="3095625" cy="3476625"/>
          </a:xfrm>
          <a:prstGeom xmlns:a="http://schemas.openxmlformats.org/drawingml/2006/main" prst="roundRect">
            <a:avLst>
              <a:gd name="adj" fmla="val 4923"/>
            </a:avLst>
          </a:prstGeom>
          <a:solidFill xmlns:a="http://schemas.openxmlformats.org/drawingml/2006/main">
            <a:srgbClr val="0C2434"/>
          </a:solidFill>
          <a:ln xmlns:a="http://schemas.openxmlformats.org/drawingml/2006/main" w="9525">
            <a:solidFill>
              <a:srgbClr val="29495B"/>
            </a:solidFill>
            <a:prstDash val="solid"/>
          </a:ln>
        </p:spPr>
      </p:sp>
      <p:sp>
        <p:nvSpPr>
          <p:cNvPr id="6" name="">
            <a:extLst xmlns:a="http://schemas.openxmlformats.org/drawingml/2006/main">
              <a:ext uri="{FF2B5EF4-FFF2-40B4-BE49-F238E27FC236}">
                <a16:creationId xmlns:a16="http://schemas.microsoft.com/office/drawing/2014/main" id="{ACE07370-3FB1-4801-B6D1-0EF5D4FD2E8D}"/>
              </a:ext>
            </a:extLst>
          </p:cNvPr>
          <p:cNvSpPr>
            <a:spLocks xmlns:a="http://schemas.openxmlformats.org/drawingml/2006/main" noGrp="1"/>
          </p:cNvSpPr>
          <p:nvPr/>
        </p:nvSpPr>
        <p:spPr>
          <a:xfrm xmlns:a="http://schemas.openxmlformats.org/drawingml/2006/main">
            <a:off x="8572500" y="1619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68D8FF"/>
                </a:solidFill>
              </a:defRPr>
            </a:pPr>
            <a:r>
              <a:rPr sz="1125" b="1">
                <a:solidFill>
                  <a:srgbClr val="68D8FF"/>
                </a:solidFill>
              </a:rPr>
              <a:t>LIVE DEMO</a:t>
            </a:r>
          </a:p>
        </p:txBody>
      </p:sp>
      <p:sp>
        <p:nvSpPr>
          <p:cNvPr id="7" name="">
            <a:extLst xmlns:a="http://schemas.openxmlformats.org/drawingml/2006/main">
              <a:ext uri="{FF2B5EF4-FFF2-40B4-BE49-F238E27FC236}">
                <a16:creationId xmlns:a16="http://schemas.microsoft.com/office/drawing/2014/main" id="{05785417-B5C7-43E9-B621-D8D2F1641B38}"/>
              </a:ext>
            </a:extLst>
          </p:cNvPr>
          <p:cNvSpPr>
            <a:spLocks xmlns:a="http://schemas.openxmlformats.org/drawingml/2006/main" noGrp="1"/>
          </p:cNvSpPr>
          <p:nvPr/>
        </p:nvSpPr>
        <p:spPr>
          <a:xfrm xmlns:a="http://schemas.openxmlformats.org/drawingml/2006/main">
            <a:off x="8591550" y="2133600"/>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26D0C3"/>
                </a:solidFill>
              </a:defRPr>
            </a:pPr>
            <a:r>
              <a:rPr sz="2100" b="1">
                <a:solidFill>
                  <a:srgbClr val="26D0C3"/>
                </a:solidFill>
              </a:rPr>
              <a:t>1</a:t>
            </a:r>
          </a:p>
        </p:txBody>
      </p:sp>
      <p:sp>
        <p:nvSpPr>
          <p:cNvPr id="8" name="">
            <a:extLst xmlns:a="http://schemas.openxmlformats.org/drawingml/2006/main">
              <a:ext uri="{FF2B5EF4-FFF2-40B4-BE49-F238E27FC236}">
                <a16:creationId xmlns:a16="http://schemas.microsoft.com/office/drawing/2014/main" id="{A92E5AA8-710E-4B13-9848-33CEB1EE05B1}"/>
              </a:ext>
            </a:extLst>
          </p:cNvPr>
          <p:cNvSpPr>
            <a:spLocks xmlns:a="http://schemas.openxmlformats.org/drawingml/2006/main" noGrp="1"/>
          </p:cNvSpPr>
          <p:nvPr/>
        </p:nvSpPr>
        <p:spPr>
          <a:xfrm xmlns:a="http://schemas.openxmlformats.org/drawingml/2006/main">
            <a:off x="9124950" y="21717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5F8FB"/>
                </a:solidFill>
              </a:defRPr>
            </a:pPr>
            <a:r>
              <a:rPr sz="1350" b="1">
                <a:solidFill>
                  <a:srgbClr val="F5F8FB"/>
                </a:solidFill>
              </a:rPr>
              <a:t>Upload + filters</a:t>
            </a:r>
          </a:p>
        </p:txBody>
      </p:sp>
      <p:sp>
        <p:nvSpPr>
          <p:cNvPr id="9" name="">
            <a:extLst xmlns:a="http://schemas.openxmlformats.org/drawingml/2006/main">
              <a:ext uri="{FF2B5EF4-FFF2-40B4-BE49-F238E27FC236}">
                <a16:creationId xmlns:a16="http://schemas.microsoft.com/office/drawing/2014/main" id="{25AD108D-06AB-412F-8B2E-85D21EB2546C}"/>
              </a:ext>
            </a:extLst>
          </p:cNvPr>
          <p:cNvSpPr>
            <a:spLocks xmlns:a="http://schemas.openxmlformats.org/drawingml/2006/main" noGrp="1"/>
          </p:cNvSpPr>
          <p:nvPr/>
        </p:nvSpPr>
        <p:spPr>
          <a:xfrm xmlns:a="http://schemas.openxmlformats.org/drawingml/2006/main">
            <a:off x="8591550" y="2781300"/>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26D0C3"/>
                </a:solidFill>
              </a:defRPr>
            </a:pPr>
            <a:r>
              <a:rPr sz="2100" b="1">
                <a:solidFill>
                  <a:srgbClr val="26D0C3"/>
                </a:solidFill>
              </a:rPr>
              <a:t>2</a:t>
            </a:r>
          </a:p>
        </p:txBody>
      </p:sp>
      <p:sp>
        <p:nvSpPr>
          <p:cNvPr id="10" name="">
            <a:extLst xmlns:a="http://schemas.openxmlformats.org/drawingml/2006/main">
              <a:ext uri="{FF2B5EF4-FFF2-40B4-BE49-F238E27FC236}">
                <a16:creationId xmlns:a16="http://schemas.microsoft.com/office/drawing/2014/main" id="{D92C5BCB-B540-4DC4-9F0A-5D1D3D754FC9}"/>
              </a:ext>
            </a:extLst>
          </p:cNvPr>
          <p:cNvSpPr>
            <a:spLocks xmlns:a="http://schemas.openxmlformats.org/drawingml/2006/main" noGrp="1"/>
          </p:cNvSpPr>
          <p:nvPr/>
        </p:nvSpPr>
        <p:spPr>
          <a:xfrm xmlns:a="http://schemas.openxmlformats.org/drawingml/2006/main">
            <a:off x="9124950" y="2819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5F8FB"/>
                </a:solidFill>
              </a:defRPr>
            </a:pPr>
            <a:r>
              <a:rPr sz="1350" b="1">
                <a:solidFill>
                  <a:srgbClr val="F5F8FB"/>
                </a:solidFill>
              </a:rPr>
              <a:t>Ask + validate</a:t>
            </a:r>
          </a:p>
        </p:txBody>
      </p:sp>
      <p:sp>
        <p:nvSpPr>
          <p:cNvPr id="11" name="">
            <a:extLst xmlns:a="http://schemas.openxmlformats.org/drawingml/2006/main">
              <a:ext uri="{FF2B5EF4-FFF2-40B4-BE49-F238E27FC236}">
                <a16:creationId xmlns:a16="http://schemas.microsoft.com/office/drawing/2014/main" id="{7D1B0787-369A-4676-92E4-E060A066F7EF}"/>
              </a:ext>
            </a:extLst>
          </p:cNvPr>
          <p:cNvSpPr>
            <a:spLocks xmlns:a="http://schemas.openxmlformats.org/drawingml/2006/main" noGrp="1"/>
          </p:cNvSpPr>
          <p:nvPr/>
        </p:nvSpPr>
        <p:spPr>
          <a:xfrm xmlns:a="http://schemas.openxmlformats.org/drawingml/2006/main">
            <a:off x="8591550" y="3429000"/>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26D0C3"/>
                </a:solidFill>
              </a:defRPr>
            </a:pPr>
            <a:r>
              <a:rPr sz="2100" b="1">
                <a:solidFill>
                  <a:srgbClr val="26D0C3"/>
                </a:solidFill>
              </a:rPr>
              <a:t>3</a:t>
            </a:r>
          </a:p>
        </p:txBody>
      </p:sp>
      <p:sp>
        <p:nvSpPr>
          <p:cNvPr id="12" name="">
            <a:extLst xmlns:a="http://schemas.openxmlformats.org/drawingml/2006/main">
              <a:ext uri="{FF2B5EF4-FFF2-40B4-BE49-F238E27FC236}">
                <a16:creationId xmlns:a16="http://schemas.microsoft.com/office/drawing/2014/main" id="{1925D7AD-98E2-4972-86C6-41D2BADBCC83}"/>
              </a:ext>
            </a:extLst>
          </p:cNvPr>
          <p:cNvSpPr>
            <a:spLocks xmlns:a="http://schemas.openxmlformats.org/drawingml/2006/main" noGrp="1"/>
          </p:cNvSpPr>
          <p:nvPr/>
        </p:nvSpPr>
        <p:spPr>
          <a:xfrm xmlns:a="http://schemas.openxmlformats.org/drawingml/2006/main">
            <a:off x="9124950" y="34671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5F8FB"/>
                </a:solidFill>
              </a:defRPr>
            </a:pPr>
            <a:r>
              <a:rPr sz="1350" b="1">
                <a:solidFill>
                  <a:srgbClr val="F5F8FB"/>
                </a:solidFill>
              </a:rPr>
              <a:t>Analyze + export</a:t>
            </a:r>
          </a:p>
        </p:txBody>
      </p:sp>
      <p:sp>
        <p:nvSpPr>
          <p:cNvPr id="13" name="">
            <a:extLst xmlns:a="http://schemas.openxmlformats.org/drawingml/2006/main">
              <a:ext uri="{FF2B5EF4-FFF2-40B4-BE49-F238E27FC236}">
                <a16:creationId xmlns:a16="http://schemas.microsoft.com/office/drawing/2014/main" id="{1AB4220A-D525-4FAB-ABC7-821B687BFC61}"/>
              </a:ext>
            </a:extLst>
          </p:cNvPr>
          <p:cNvSpPr>
            <a:spLocks xmlns:a="http://schemas.openxmlformats.org/drawingml/2006/main" noGrp="1"/>
          </p:cNvSpPr>
          <p:nvPr/>
        </p:nvSpPr>
        <p:spPr>
          <a:xfrm xmlns:a="http://schemas.openxmlformats.org/drawingml/2006/main">
            <a:off x="8143875" y="5095875"/>
            <a:ext cx="3095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26D0C3"/>
                </a:solidFill>
              </a:defRPr>
            </a:pPr>
            <a:r>
              <a:rPr sz="3150" b="1">
                <a:solidFill>
                  <a:srgbClr val="26D0C3"/>
                </a:solidFill>
              </a:rPr>
              <a:t>Questions?</a:t>
            </a:r>
          </a:p>
        </p:txBody>
      </p:sp>
      <p:sp>
        <p:nvSpPr>
          <p:cNvPr id="14" name="">
            <a:extLst xmlns:a="http://schemas.openxmlformats.org/drawingml/2006/main">
              <a:ext uri="{FF2B5EF4-FFF2-40B4-BE49-F238E27FC236}">
                <a16:creationId xmlns:a16="http://schemas.microsoft.com/office/drawing/2014/main" id="{A6F0B3E9-A5EE-4C5F-8FC3-834D9F1E3276}"/>
              </a:ext>
            </a:extLst>
          </p:cNvPr>
          <p:cNvSpPr>
            <a:spLocks xmlns:a="http://schemas.openxmlformats.org/drawingml/2006/main" noGrp="1"/>
          </p:cNvSpPr>
          <p:nvPr/>
        </p:nvSpPr>
        <p:spPr>
          <a:xfrm xmlns:a="http://schemas.openxmlformats.org/drawingml/2006/main">
            <a:off x="685800" y="60769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8D8FF"/>
                </a:solidFill>
              </a:defRPr>
            </a:pPr>
            <a:r>
              <a:rPr sz="1200" b="1">
                <a:solidFill>
                  <a:srgbClr val="68D8FF"/>
                </a:solidFill>
              </a:rPr>
              <a:t>github.com/Monokayser/ai-ecommerce-analytics</a:t>
            </a:r>
          </a:p>
        </p:txBody>
      </p:sp>
      <p:sp>
        <p:nvSpPr>
          <p:cNvPr id="15" name="">
            <a:extLst xmlns:a="http://schemas.openxmlformats.org/drawingml/2006/main">
              <a:ext uri="{FF2B5EF4-FFF2-40B4-BE49-F238E27FC236}">
                <a16:creationId xmlns:a16="http://schemas.microsoft.com/office/drawing/2014/main" id="{AC20B091-A4C6-4A2F-B428-CA87179B4AC1}"/>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795A7"/>
                </a:solidFill>
              </a:defRPr>
            </a:pPr>
            <a:r>
              <a:rPr sz="825" b="1">
                <a:solidFill>
                  <a:srgbClr val="7795A7"/>
                </a:solidFill>
              </a:rPr>
              <a:t>THANK YOU</a:t>
            </a:r>
          </a:p>
        </p:txBody>
      </p:sp>
      <p:sp>
        <p:nvSpPr>
          <p:cNvPr id="16" name="">
            <a:extLst xmlns:a="http://schemas.openxmlformats.org/drawingml/2006/main">
              <a:ext uri="{FF2B5EF4-FFF2-40B4-BE49-F238E27FC236}">
                <a16:creationId xmlns:a16="http://schemas.microsoft.com/office/drawing/2014/main" id="{692F30F0-3A8B-4B50-8AD3-4D1C105655EF}"/>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26D0C3"/>
                </a:solidFill>
              </a:defRPr>
            </a:pPr>
            <a:r>
              <a:rPr sz="975" b="1">
                <a:solidFill>
                  <a:srgbClr val="26D0C3"/>
                </a:solidFill>
              </a:rPr>
              <a:t>18</a:t>
            </a:r>
          </a:p>
        </p:txBody>
      </p:sp>
    </p:spTree>
    <p:extLst>
      <p:ext uri="{BB962C8B-B14F-4D97-AF65-F5344CB8AC3E}">
        <p14:creationId xmlns:p14="http://schemas.microsoft.com/office/powerpoint/2010/main" val="18014458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2026-08-12T16:10:55.4030000Z</dcterms:created>
  <dcterms:modified xsi:type="dcterms:W3CDTF">2026-08-12T16:10:55.4030000Z</dcterms:modified>
</coreProperties>
</file>